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60" r:id="rId4"/>
    <p:sldId id="273" r:id="rId5"/>
    <p:sldId id="271" r:id="rId6"/>
    <p:sldId id="272" r:id="rId7"/>
    <p:sldId id="270" r:id="rId8"/>
    <p:sldId id="269" r:id="rId9"/>
    <p:sldId id="26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56" y="600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2021-12-26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A017445-22F7-4381-8B24-32A40181394E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1930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 dirty="0"/>
              <a:t>timer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 dirty="0" err="1"/>
              <a:t>time_point</a:t>
            </a:r>
            <a:r>
              <a:rPr lang="en-US" altLang="ko-KR" sz="1200" dirty="0"/>
              <a:t> &amp; duration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 dirty="0"/>
              <a:t>tick &amp; time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TICK &amp; TIME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6" y="-1287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timer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240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시간에 대한 처리는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표준인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std::chrono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따른다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std::chrono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다음의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가지 요소로 구성되어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9693A2-4722-4F76-8855-D68C4022CB27}"/>
              </a:ext>
            </a:extLst>
          </p:cNvPr>
          <p:cNvSpPr/>
          <p:nvPr/>
        </p:nvSpPr>
        <p:spPr>
          <a:xfrm>
            <a:off x="2241090" y="1667550"/>
            <a:ext cx="1521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time_point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946DBF-25AC-466A-A966-17BA8B4662FB}"/>
              </a:ext>
            </a:extLst>
          </p:cNvPr>
          <p:cNvSpPr/>
          <p:nvPr/>
        </p:nvSpPr>
        <p:spPr>
          <a:xfrm>
            <a:off x="2239971" y="2665730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duration</a:t>
            </a:r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659CBC-BD1E-4266-A91C-2F041B010757}"/>
              </a:ext>
            </a:extLst>
          </p:cNvPr>
          <p:cNvSpPr/>
          <p:nvPr/>
        </p:nvSpPr>
        <p:spPr>
          <a:xfrm>
            <a:off x="2239971" y="3663910"/>
            <a:ext cx="85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clock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9DBBC-2A93-4FD2-A868-0E733B242A33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615E44-1C92-4189-A0F4-796A72378619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67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5" y="-1287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timer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240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시간에 대한 처리는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표준인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std::chrono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따른다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std::chrono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std::chrono::time_point&lt;T&gt;, std::chrono::duration&lt;T&gt;, clock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가지 요소가 핵심이다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endParaRPr lang="en-US" altLang="ko-KR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A1FE19-7051-4241-B9CB-E82FE7298726}"/>
              </a:ext>
            </a:extLst>
          </p:cNvPr>
          <p:cNvSpPr/>
          <p:nvPr/>
        </p:nvSpPr>
        <p:spPr>
          <a:xfrm>
            <a:off x="1897300" y="2079686"/>
            <a:ext cx="6358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360000">
              <a:buFont typeface="Arial" panose="020B0604020202020204" pitchFamily="34" charset="0"/>
              <a:buChar char="•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time_point	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기원시점에서 부터 흐른 시간을 의미하는 것으로 시각을 의미하는 값</a:t>
            </a:r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504B09F-F3E7-4599-A2D5-876BD1C015A4}"/>
              </a:ext>
            </a:extLst>
          </p:cNvPr>
          <p:cNvSpPr/>
          <p:nvPr/>
        </p:nvSpPr>
        <p:spPr>
          <a:xfrm>
            <a:off x="1897300" y="2328446"/>
            <a:ext cx="3184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360000">
              <a:buFont typeface="Arial" panose="020B0604020202020204" pitchFamily="34" charset="0"/>
              <a:buChar char="•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duration		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time_point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간에 차</a:t>
            </a:r>
            <a:endParaRPr lang="ko-KR" altLang="en-US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A5C794-0605-4EE3-82DF-75A10460DAB7}"/>
              </a:ext>
            </a:extLst>
          </p:cNvPr>
          <p:cNvSpPr/>
          <p:nvPr/>
        </p:nvSpPr>
        <p:spPr>
          <a:xfrm>
            <a:off x="1416050" y="4462681"/>
            <a:ext cx="32816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time_point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와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duration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 간의 연산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590C9E-57FA-4388-A404-24B9D2D9542B}"/>
              </a:ext>
            </a:extLst>
          </p:cNvPr>
          <p:cNvSpPr/>
          <p:nvPr/>
        </p:nvSpPr>
        <p:spPr>
          <a:xfrm>
            <a:off x="2118514" y="5176759"/>
            <a:ext cx="27975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time_point - time_point	= duration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FCAC6A-862E-45A8-9B43-F76FDE79F944}"/>
              </a:ext>
            </a:extLst>
          </p:cNvPr>
          <p:cNvSpPr/>
          <p:nvPr/>
        </p:nvSpPr>
        <p:spPr>
          <a:xfrm>
            <a:off x="2118514" y="5458758"/>
            <a:ext cx="2957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time_point + duration 	= time_point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E7F0E1-0A4E-498C-8783-BBB91D2E7E5B}"/>
              </a:ext>
            </a:extLst>
          </p:cNvPr>
          <p:cNvSpPr/>
          <p:nvPr/>
        </p:nvSpPr>
        <p:spPr>
          <a:xfrm>
            <a:off x="2118514" y="5740757"/>
            <a:ext cx="2957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time_point - duration  	= time_point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6CA86C-9245-4D9B-BD89-A1E1D98BCB28}"/>
              </a:ext>
            </a:extLst>
          </p:cNvPr>
          <p:cNvSpPr/>
          <p:nvPr/>
        </p:nvSpPr>
        <p:spPr>
          <a:xfrm>
            <a:off x="2118514" y="6022756"/>
            <a:ext cx="27975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 - duration 	= duration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13C3A6-87C1-4885-864D-DA248CC5E922}"/>
              </a:ext>
            </a:extLst>
          </p:cNvPr>
          <p:cNvSpPr/>
          <p:nvPr/>
        </p:nvSpPr>
        <p:spPr>
          <a:xfrm>
            <a:off x="2118514" y="6304754"/>
            <a:ext cx="27975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 + duration 	= duration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50FE540-65A3-4EA6-9275-D80958276855}"/>
              </a:ext>
            </a:extLst>
          </p:cNvPr>
          <p:cNvCxnSpPr/>
          <p:nvPr/>
        </p:nvCxnSpPr>
        <p:spPr>
          <a:xfrm>
            <a:off x="3087531" y="3456030"/>
            <a:ext cx="6702641" cy="0"/>
          </a:xfrm>
          <a:prstGeom prst="line">
            <a:avLst/>
          </a:prstGeom>
          <a:ln w="19050"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1F26D2-4D70-45EB-9CB5-227A3C041CAB}"/>
              </a:ext>
            </a:extLst>
          </p:cNvPr>
          <p:cNvSpPr txBox="1"/>
          <p:nvPr/>
        </p:nvSpPr>
        <p:spPr>
          <a:xfrm>
            <a:off x="2539999" y="3580430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기원시점</a:t>
            </a:r>
            <a:endParaRPr lang="en-US" altLang="ko-KR" sz="120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ctr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(epoch time)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4578404-5D84-47D1-9C21-686A1F57D8BE}"/>
              </a:ext>
            </a:extLst>
          </p:cNvPr>
          <p:cNvSpPr/>
          <p:nvPr/>
        </p:nvSpPr>
        <p:spPr>
          <a:xfrm>
            <a:off x="5645109" y="3416845"/>
            <a:ext cx="108000" cy="108000"/>
          </a:xfrm>
          <a:prstGeom prst="ellipse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84D0DCC-6BD2-4303-AAD7-764DF21D45E0}"/>
              </a:ext>
            </a:extLst>
          </p:cNvPr>
          <p:cNvSpPr/>
          <p:nvPr/>
        </p:nvSpPr>
        <p:spPr>
          <a:xfrm>
            <a:off x="7437120" y="3416845"/>
            <a:ext cx="108000" cy="108000"/>
          </a:xfrm>
          <a:prstGeom prst="ellipse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10FCB70-552E-4157-88B6-8611C31E89C2}"/>
              </a:ext>
            </a:extLst>
          </p:cNvPr>
          <p:cNvCxnSpPr>
            <a:cxnSpLocks/>
          </p:cNvCxnSpPr>
          <p:nvPr/>
        </p:nvCxnSpPr>
        <p:spPr>
          <a:xfrm flipV="1">
            <a:off x="3087531" y="2926416"/>
            <a:ext cx="0" cy="46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AA1EC2E-83ED-48EB-A881-58724FEF4EEE}"/>
              </a:ext>
            </a:extLst>
          </p:cNvPr>
          <p:cNvCxnSpPr>
            <a:cxnSpLocks/>
          </p:cNvCxnSpPr>
          <p:nvPr/>
        </p:nvCxnSpPr>
        <p:spPr>
          <a:xfrm flipV="1">
            <a:off x="5688833" y="3228975"/>
            <a:ext cx="0" cy="182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0F9F44B-C115-4EEF-AA57-FBD171DCD910}"/>
              </a:ext>
            </a:extLst>
          </p:cNvPr>
          <p:cNvCxnSpPr>
            <a:cxnSpLocks/>
          </p:cNvCxnSpPr>
          <p:nvPr/>
        </p:nvCxnSpPr>
        <p:spPr>
          <a:xfrm flipV="1">
            <a:off x="7487570" y="2926416"/>
            <a:ext cx="0" cy="46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CB2B73F-9517-4A6B-8E0B-55933E6D4E00}"/>
              </a:ext>
            </a:extLst>
          </p:cNvPr>
          <p:cNvCxnSpPr>
            <a:cxnSpLocks/>
          </p:cNvCxnSpPr>
          <p:nvPr/>
        </p:nvCxnSpPr>
        <p:spPr>
          <a:xfrm flipV="1">
            <a:off x="3087531" y="3290723"/>
            <a:ext cx="2597909" cy="5255"/>
          </a:xfrm>
          <a:prstGeom prst="line">
            <a:avLst/>
          </a:prstGeom>
          <a:ln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D7D8F7B-29CE-406F-BB18-C29DA4C8CBCF}"/>
              </a:ext>
            </a:extLst>
          </p:cNvPr>
          <p:cNvCxnSpPr>
            <a:cxnSpLocks/>
          </p:cNvCxnSpPr>
          <p:nvPr/>
        </p:nvCxnSpPr>
        <p:spPr>
          <a:xfrm>
            <a:off x="3092011" y="2988937"/>
            <a:ext cx="4392397" cy="2473"/>
          </a:xfrm>
          <a:prstGeom prst="line">
            <a:avLst/>
          </a:prstGeom>
          <a:ln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147D328-78AC-4018-8BD1-CB20686AF000}"/>
              </a:ext>
            </a:extLst>
          </p:cNvPr>
          <p:cNvSpPr txBox="1"/>
          <p:nvPr/>
        </p:nvSpPr>
        <p:spPr>
          <a:xfrm>
            <a:off x="5534846" y="3477509"/>
            <a:ext cx="32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A</a:t>
            </a:r>
            <a:endParaRPr lang="ko-KR" altLang="en-US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AC6D90-BC5F-430C-8CEB-5C1C27CDBA21}"/>
              </a:ext>
            </a:extLst>
          </p:cNvPr>
          <p:cNvSpPr txBox="1"/>
          <p:nvPr/>
        </p:nvSpPr>
        <p:spPr>
          <a:xfrm>
            <a:off x="7327066" y="3483488"/>
            <a:ext cx="32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HY견명조" panose="02030600000101010101" pitchFamily="18" charset="-127"/>
                <a:ea typeface="HY견명조" panose="02030600000101010101" pitchFamily="18" charset="-127"/>
              </a:rPr>
              <a:t>B</a:t>
            </a:r>
            <a:endParaRPr lang="ko-KR" altLang="en-US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EABD82-7F80-4EB9-9AD8-893FC0FDA251}"/>
              </a:ext>
            </a:extLst>
          </p:cNvPr>
          <p:cNvSpPr txBox="1"/>
          <p:nvPr/>
        </p:nvSpPr>
        <p:spPr>
          <a:xfrm>
            <a:off x="3741277" y="3007987"/>
            <a:ext cx="1377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time_point.A</a:t>
            </a:r>
            <a:endParaRPr lang="ko-KR" altLang="en-US" sz="12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35B2C8-1A92-4941-AF35-506B2FF061E8}"/>
              </a:ext>
            </a:extLst>
          </p:cNvPr>
          <p:cNvSpPr txBox="1"/>
          <p:nvPr/>
        </p:nvSpPr>
        <p:spPr>
          <a:xfrm>
            <a:off x="4740849" y="2713268"/>
            <a:ext cx="1377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time_point.B</a:t>
            </a:r>
            <a:endParaRPr lang="ko-KR" altLang="en-US" sz="12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3D80D2E4-9EDE-4CD2-A675-170B25262618}"/>
              </a:ext>
            </a:extLst>
          </p:cNvPr>
          <p:cNvCxnSpPr>
            <a:cxnSpLocks/>
          </p:cNvCxnSpPr>
          <p:nvPr/>
        </p:nvCxnSpPr>
        <p:spPr>
          <a:xfrm flipV="1">
            <a:off x="5702989" y="3810262"/>
            <a:ext cx="0" cy="182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3F44908-92BE-417F-A77C-28174E8FE23D}"/>
              </a:ext>
            </a:extLst>
          </p:cNvPr>
          <p:cNvCxnSpPr>
            <a:cxnSpLocks/>
          </p:cNvCxnSpPr>
          <p:nvPr/>
        </p:nvCxnSpPr>
        <p:spPr>
          <a:xfrm flipV="1">
            <a:off x="7482471" y="3810262"/>
            <a:ext cx="0" cy="182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41DF08E-E38F-4DFC-97A3-5336870AF6D4}"/>
              </a:ext>
            </a:extLst>
          </p:cNvPr>
          <p:cNvCxnSpPr>
            <a:cxnSpLocks/>
          </p:cNvCxnSpPr>
          <p:nvPr/>
        </p:nvCxnSpPr>
        <p:spPr>
          <a:xfrm flipV="1">
            <a:off x="5698900" y="3898480"/>
            <a:ext cx="1783571" cy="1"/>
          </a:xfrm>
          <a:prstGeom prst="line">
            <a:avLst/>
          </a:prstGeom>
          <a:ln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6A5C6CE-F3A4-4BFA-A128-7AF193CA64BB}"/>
              </a:ext>
            </a:extLst>
          </p:cNvPr>
          <p:cNvSpPr txBox="1"/>
          <p:nvPr/>
        </p:nvSpPr>
        <p:spPr>
          <a:xfrm>
            <a:off x="6178522" y="3654243"/>
            <a:ext cx="888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duration</a:t>
            </a:r>
            <a:endParaRPr lang="ko-KR" altLang="en-US" sz="1200">
              <a:solidFill>
                <a:srgbClr val="0000F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F407533-869C-4895-A5B0-006144F9CD4E}"/>
              </a:ext>
            </a:extLst>
          </p:cNvPr>
          <p:cNvSpPr/>
          <p:nvPr/>
        </p:nvSpPr>
        <p:spPr>
          <a:xfrm>
            <a:off x="1416049" y="1694010"/>
            <a:ext cx="2803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time_point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와  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duration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란</a:t>
            </a: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?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D5A4A2B-9F14-4A16-98B8-992A66D360CB}"/>
              </a:ext>
            </a:extLst>
          </p:cNvPr>
          <p:cNvSpPr/>
          <p:nvPr/>
        </p:nvSpPr>
        <p:spPr>
          <a:xfrm>
            <a:off x="1845732" y="478764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time_point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간에는 아래처럼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+/-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연산이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F87FC8-F94B-4C82-A9AB-C03671F48030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5B2125-DC92-467D-BD80-46ECC55645EC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5" y="-1287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timer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240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clock</a:t>
            </a: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C++11 standard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에서는 여러 종류의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(C++20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부터는 좀더 다양한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8A797F-88BA-478D-8E7F-9B3AA179EE6F}"/>
              </a:ext>
            </a:extLst>
          </p:cNvPr>
          <p:cNvSpPr/>
          <p:nvPr/>
        </p:nvSpPr>
        <p:spPr>
          <a:xfrm>
            <a:off x="1523876" y="1604676"/>
            <a:ext cx="15241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 system_clock</a:t>
            </a:r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FF0989-67D3-445D-86C6-77C7C4AE0B24}"/>
              </a:ext>
            </a:extLst>
          </p:cNvPr>
          <p:cNvSpPr/>
          <p:nvPr/>
        </p:nvSpPr>
        <p:spPr>
          <a:xfrm>
            <a:off x="1523876" y="2277726"/>
            <a:ext cx="18289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 steady_clock</a:t>
            </a:r>
            <a:endParaRPr lang="ko-KR" altLang="en-US" sz="12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A705D3-7BFD-41C3-BC0F-5A07CD00EE23}"/>
              </a:ext>
            </a:extLst>
          </p:cNvPr>
          <p:cNvSpPr/>
          <p:nvPr/>
        </p:nvSpPr>
        <p:spPr>
          <a:xfrm>
            <a:off x="1523876" y="3499297"/>
            <a:ext cx="21499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 high_resolution_clock</a:t>
            </a:r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9ACB2A-40C7-463B-AA6C-5F958929E76F}"/>
              </a:ext>
            </a:extLst>
          </p:cNvPr>
          <p:cNvSpPr/>
          <p:nvPr/>
        </p:nvSpPr>
        <p:spPr>
          <a:xfrm>
            <a:off x="3765551" y="1604676"/>
            <a:ext cx="78908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년월일시분초로 구분된 실제 시간으로 실제 시간을 얻을 수 있는 시계이다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실제 시간을 기준으로 처리해야 할 경우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DA28ED-AF6C-49CA-AC47-61C3A65F172F}"/>
              </a:ext>
            </a:extLst>
          </p:cNvPr>
          <p:cNvSpPr/>
          <p:nvPr/>
        </p:nvSpPr>
        <p:spPr>
          <a:xfrm>
            <a:off x="3765551" y="2277726"/>
            <a:ext cx="78908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단순 증가만 하는 시계로 모노토닉 시계로 시간의 재설정이 불가능하다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실제 시간과 연관이 없으며 단일 값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(tick)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가진 시계로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system_clock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비해 가볍고 빠르다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timeGetTime()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GetTickCount()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얻는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시간이라 할수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시간 차를 계산해 처리해야하는 경우 많이 사용된다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thread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처리 등 내부적으로 가장 많이 사용하는 시계라고 할수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F496FF-9E48-43B2-BF99-8962E9753237}"/>
              </a:ext>
            </a:extLst>
          </p:cNvPr>
          <p:cNvSpPr/>
          <p:nvPr/>
        </p:nvSpPr>
        <p:spPr>
          <a:xfrm>
            <a:off x="3765551" y="3499297"/>
            <a:ext cx="78908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CPU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클럭 수준의 매우 높은 정밀도를 제공해 주는  시계다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함수의 실행 시간이나 정밀 성능 벤치마크 등에 많이 사용된다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1DE808-A25D-4922-A464-4B6C1A801480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D84CB5-0A77-4CE2-9AAF-623C3D49D738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6" y="-12879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time.duration.1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240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12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200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밀리초와 같은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값은 어떻게 설정할까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2B2857-5FC2-462A-8FDF-DF64033A2D66}"/>
              </a:ext>
            </a:extLst>
          </p:cNvPr>
          <p:cNvSpPr/>
          <p:nvPr/>
        </p:nvSpPr>
        <p:spPr>
          <a:xfrm>
            <a:off x="1720058" y="1038424"/>
            <a:ext cx="10038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C++11</a:t>
            </a:r>
            <a:endParaRPr lang="ko-KR" altLang="en-US" sz="14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5D94699-254E-4B0E-875D-6F48534207CF}"/>
              </a:ext>
            </a:extLst>
          </p:cNvPr>
          <p:cNvSpPr/>
          <p:nvPr/>
        </p:nvSpPr>
        <p:spPr>
          <a:xfrm>
            <a:off x="1720057" y="3405088"/>
            <a:ext cx="10038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C++17</a:t>
            </a:r>
            <a:endParaRPr lang="ko-KR" altLang="en-US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4F4F38-BB20-4874-A12C-5BFA38C60551}"/>
              </a:ext>
            </a:extLst>
          </p:cNvPr>
          <p:cNvSpPr txBox="1"/>
          <p:nvPr/>
        </p:nvSpPr>
        <p:spPr>
          <a:xfrm>
            <a:off x="2001287" y="3686502"/>
            <a:ext cx="5675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C++17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시간 관련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literal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지원해 주기 때문에 더 간단히 표현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0337C8-BDFE-4606-9F07-F1EDFDF6CFBC}"/>
              </a:ext>
            </a:extLst>
          </p:cNvPr>
          <p:cNvSpPr txBox="1"/>
          <p:nvPr/>
        </p:nvSpPr>
        <p:spPr>
          <a:xfrm>
            <a:off x="2001287" y="1342837"/>
            <a:ext cx="8895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day, hours, seconds, milliseconds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등과 같은 단위의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클래스를 사용해 이들의 합으로 표현이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3EA5B64-1515-4EFD-B8F4-6652E567B1E0}"/>
              </a:ext>
            </a:extLst>
          </p:cNvPr>
          <p:cNvSpPr/>
          <p:nvPr/>
        </p:nvSpPr>
        <p:spPr>
          <a:xfrm>
            <a:off x="2001287" y="1669338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</a:t>
            </a:r>
            <a:r>
              <a:rPr lang="ko-KR" altLang="en-US" sz="1000">
                <a:solidFill>
                  <a:srgbClr val="00B050"/>
                </a:solidFill>
              </a:rPr>
              <a:t>초 </a:t>
            </a:r>
            <a:r>
              <a:rPr lang="en-US" altLang="ko-KR" sz="1000">
                <a:solidFill>
                  <a:srgbClr val="00B050"/>
                </a:solidFill>
              </a:rPr>
              <a:t>345</a:t>
            </a:r>
            <a:r>
              <a:rPr lang="ko-KR" altLang="en-US" sz="1000">
                <a:solidFill>
                  <a:srgbClr val="00B050"/>
                </a:solidFill>
              </a:rPr>
              <a:t>밀리초</a:t>
            </a:r>
          </a:p>
          <a:p>
            <a:r>
              <a:rPr lang="en-US" altLang="ko-KR" sz="1000"/>
              <a:t>tick::duration t1 = std::chrono::seconds(2) + std::chrono::milliseconds(345);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3</a:t>
            </a:r>
            <a:r>
              <a:rPr lang="ko-KR" altLang="en-US" sz="1000">
                <a:solidFill>
                  <a:srgbClr val="00B050"/>
                </a:solidFill>
              </a:rPr>
              <a:t>분 </a:t>
            </a:r>
            <a:r>
              <a:rPr lang="en-US" altLang="ko-KR" sz="1000">
                <a:solidFill>
                  <a:srgbClr val="00B050"/>
                </a:solidFill>
              </a:rPr>
              <a:t>12</a:t>
            </a:r>
            <a:r>
              <a:rPr lang="ko-KR" altLang="en-US" sz="1000">
                <a:solidFill>
                  <a:srgbClr val="00B050"/>
                </a:solidFill>
              </a:rPr>
              <a:t>초</a:t>
            </a:r>
          </a:p>
          <a:p>
            <a:r>
              <a:rPr lang="en-US" altLang="ko-KR" sz="1000"/>
              <a:t>tick ::duration t1 = std::chrono::minutes(3) + std::chrono::</a:t>
            </a:r>
            <a:r>
              <a:rPr lang="en-US" altLang="ko-KR" sz="1000">
                <a:latin typeface="HY견명조" panose="02030600000101010101" pitchFamily="18" charset="-127"/>
                <a:ea typeface="HY견명조" panose="02030600000101010101" pitchFamily="18" charset="-127"/>
              </a:rPr>
              <a:t>seconds</a:t>
            </a:r>
            <a:r>
              <a:rPr lang="en-US" altLang="ko-KR" sz="1000"/>
              <a:t>(12)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1</a:t>
            </a:r>
            <a:r>
              <a:rPr lang="ko-KR" altLang="en-US" sz="1000">
                <a:solidFill>
                  <a:srgbClr val="00B050"/>
                </a:solidFill>
              </a:rPr>
              <a:t>시간 </a:t>
            </a:r>
            <a:r>
              <a:rPr lang="en-US" altLang="ko-KR" sz="1000">
                <a:solidFill>
                  <a:srgbClr val="00B050"/>
                </a:solidFill>
              </a:rPr>
              <a:t>0</a:t>
            </a:r>
            <a:r>
              <a:rPr lang="ko-KR" altLang="en-US" sz="1000">
                <a:solidFill>
                  <a:srgbClr val="00B050"/>
                </a:solidFill>
              </a:rPr>
              <a:t>분 </a:t>
            </a:r>
            <a:r>
              <a:rPr lang="en-US" altLang="ko-KR" sz="1000">
                <a:solidFill>
                  <a:srgbClr val="00B050"/>
                </a:solidFill>
              </a:rPr>
              <a:t>12</a:t>
            </a:r>
            <a:r>
              <a:rPr lang="ko-KR" altLang="en-US" sz="1000">
                <a:solidFill>
                  <a:srgbClr val="00B050"/>
                </a:solidFill>
              </a:rPr>
              <a:t>초 </a:t>
            </a:r>
            <a:r>
              <a:rPr lang="en-US" altLang="ko-KR" sz="1000">
                <a:solidFill>
                  <a:srgbClr val="00B050"/>
                </a:solidFill>
              </a:rPr>
              <a:t>200</a:t>
            </a:r>
            <a:r>
              <a:rPr lang="ko-KR" altLang="en-US" sz="1000">
                <a:solidFill>
                  <a:srgbClr val="00B050"/>
                </a:solidFill>
              </a:rPr>
              <a:t>미리초</a:t>
            </a:r>
          </a:p>
          <a:p>
            <a:r>
              <a:rPr lang="en-US" altLang="ko-KR" sz="1000"/>
              <a:t>tick ::duration t1 = std::chrono::</a:t>
            </a:r>
            <a:r>
              <a:rPr lang="en-US" altLang="ko-KR" sz="1000">
                <a:latin typeface="HY견명조" panose="02030600000101010101" pitchFamily="18" charset="-127"/>
                <a:ea typeface="HY견명조" panose="02030600000101010101" pitchFamily="18" charset="-127"/>
              </a:rPr>
              <a:t>hours</a:t>
            </a:r>
            <a:r>
              <a:rPr lang="en-US" altLang="ko-KR" sz="1000"/>
              <a:t>(1) + std::chrono::</a:t>
            </a:r>
            <a:r>
              <a:rPr lang="en-US" altLang="ko-KR" sz="1000">
                <a:latin typeface="HY견명조" panose="02030600000101010101" pitchFamily="18" charset="-127"/>
                <a:ea typeface="HY견명조" panose="02030600000101010101" pitchFamily="18" charset="-127"/>
              </a:rPr>
              <a:t>seconds</a:t>
            </a:r>
            <a:r>
              <a:rPr lang="en-US" altLang="ko-KR" sz="1000"/>
              <a:t>(12) + std::chrono::</a:t>
            </a:r>
            <a:r>
              <a:rPr lang="en-US" altLang="ko-KR" sz="1000">
                <a:latin typeface="HY견명조" panose="02030600000101010101" pitchFamily="18" charset="-127"/>
                <a:ea typeface="HY견명조" panose="02030600000101010101" pitchFamily="18" charset="-127"/>
              </a:rPr>
              <a:t>milliseconds</a:t>
            </a:r>
            <a:r>
              <a:rPr lang="en-US" altLang="ko-KR" sz="1000"/>
              <a:t>(200);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C528E25-0EA7-4787-A016-C9B6FD273A14}"/>
              </a:ext>
            </a:extLst>
          </p:cNvPr>
          <p:cNvSpPr/>
          <p:nvPr/>
        </p:nvSpPr>
        <p:spPr>
          <a:xfrm>
            <a:off x="2001287" y="3996352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2</a:t>
            </a:r>
            <a:r>
              <a:rPr lang="ko-KR" altLang="en-US" sz="1000">
                <a:solidFill>
                  <a:srgbClr val="00B050"/>
                </a:solidFill>
              </a:rPr>
              <a:t>초 </a:t>
            </a:r>
            <a:r>
              <a:rPr lang="en-US" altLang="ko-KR" sz="1000">
                <a:solidFill>
                  <a:srgbClr val="00B050"/>
                </a:solidFill>
              </a:rPr>
              <a:t>345</a:t>
            </a:r>
            <a:r>
              <a:rPr lang="ko-KR" altLang="en-US" sz="1000">
                <a:solidFill>
                  <a:srgbClr val="00B050"/>
                </a:solidFill>
              </a:rPr>
              <a:t>밀리초</a:t>
            </a:r>
          </a:p>
          <a:p>
            <a:r>
              <a:rPr lang="en-US" altLang="ko-KR" sz="1000"/>
              <a:t>tick::duration t2 = 2s + 345ms;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3</a:t>
            </a:r>
            <a:r>
              <a:rPr lang="ko-KR" altLang="en-US" sz="1000">
                <a:solidFill>
                  <a:srgbClr val="00B050"/>
                </a:solidFill>
              </a:rPr>
              <a:t>분 </a:t>
            </a:r>
            <a:r>
              <a:rPr lang="en-US" altLang="ko-KR" sz="1000">
                <a:solidFill>
                  <a:srgbClr val="00B050"/>
                </a:solidFill>
              </a:rPr>
              <a:t>12</a:t>
            </a:r>
            <a:r>
              <a:rPr lang="ko-KR" altLang="en-US" sz="1000">
                <a:solidFill>
                  <a:srgbClr val="00B050"/>
                </a:solidFill>
              </a:rPr>
              <a:t>초</a:t>
            </a:r>
          </a:p>
          <a:p>
            <a:r>
              <a:rPr lang="en-US" altLang="ko-KR" sz="1000"/>
              <a:t>tick::duration t2 = 2min + 345s;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1</a:t>
            </a:r>
            <a:r>
              <a:rPr lang="ko-KR" altLang="en-US" sz="1000">
                <a:solidFill>
                  <a:srgbClr val="00B050"/>
                </a:solidFill>
              </a:rPr>
              <a:t>시간 </a:t>
            </a:r>
            <a:r>
              <a:rPr lang="en-US" altLang="ko-KR" sz="1000">
                <a:solidFill>
                  <a:srgbClr val="00B050"/>
                </a:solidFill>
              </a:rPr>
              <a:t>0</a:t>
            </a:r>
            <a:r>
              <a:rPr lang="ko-KR" altLang="en-US" sz="1000">
                <a:solidFill>
                  <a:srgbClr val="00B050"/>
                </a:solidFill>
              </a:rPr>
              <a:t>분 </a:t>
            </a:r>
            <a:r>
              <a:rPr lang="en-US" altLang="ko-KR" sz="1000">
                <a:solidFill>
                  <a:srgbClr val="00B050"/>
                </a:solidFill>
              </a:rPr>
              <a:t>12</a:t>
            </a:r>
            <a:r>
              <a:rPr lang="ko-KR" altLang="en-US" sz="1000">
                <a:solidFill>
                  <a:srgbClr val="00B050"/>
                </a:solidFill>
              </a:rPr>
              <a:t>초 </a:t>
            </a:r>
            <a:r>
              <a:rPr lang="en-US" altLang="ko-KR" sz="1000">
                <a:solidFill>
                  <a:srgbClr val="00B050"/>
                </a:solidFill>
              </a:rPr>
              <a:t>200</a:t>
            </a:r>
            <a:r>
              <a:rPr lang="ko-KR" altLang="en-US" sz="1000">
                <a:solidFill>
                  <a:srgbClr val="00B050"/>
                </a:solidFill>
              </a:rPr>
              <a:t>미리초</a:t>
            </a:r>
          </a:p>
          <a:p>
            <a:r>
              <a:rPr lang="en-US" altLang="ko-KR" sz="1000"/>
              <a:t>tick::duration t2 = 1h + 12s + 200ms;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BCF75A-C049-403A-A9B1-AAC59F060F2E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6ED24A-78FD-4CB4-A760-1E42B4CD1A7F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16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7" y="-12879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time.duration.2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240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단위 값으로 얻기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duration_cast&lt;t&gt;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사용해서 값을 얻을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F853C1-FB10-4844-B66B-272A9EF831C1}"/>
              </a:ext>
            </a:extLst>
          </p:cNvPr>
          <p:cNvSpPr txBox="1"/>
          <p:nvPr/>
        </p:nvSpPr>
        <p:spPr>
          <a:xfrm>
            <a:off x="1435100" y="6019601"/>
            <a:ext cx="10240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duration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time_point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와의 합이나 차로 원하는 시간의 표현이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35CCCC-BA77-43EF-A06A-1C0866B97BDE}"/>
              </a:ext>
            </a:extLst>
          </p:cNvPr>
          <p:cNvSpPr/>
          <p:nvPr/>
        </p:nvSpPr>
        <p:spPr>
          <a:xfrm>
            <a:off x="2001287" y="1662727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1</a:t>
            </a:r>
            <a:r>
              <a:rPr lang="ko-KR" altLang="en-US" sz="1000">
                <a:solidFill>
                  <a:srgbClr val="00B050"/>
                </a:solidFill>
              </a:rPr>
              <a:t>시간 </a:t>
            </a:r>
            <a:r>
              <a:rPr lang="en-US" altLang="ko-KR" sz="1000">
                <a:solidFill>
                  <a:srgbClr val="00B050"/>
                </a:solidFill>
              </a:rPr>
              <a:t>12</a:t>
            </a:r>
            <a:r>
              <a:rPr lang="ko-KR" altLang="en-US" sz="1000">
                <a:solidFill>
                  <a:srgbClr val="00B050"/>
                </a:solidFill>
              </a:rPr>
              <a:t>초 </a:t>
            </a:r>
            <a:r>
              <a:rPr lang="en-US" altLang="ko-KR" sz="1000">
                <a:solidFill>
                  <a:srgbClr val="00B050"/>
                </a:solidFill>
              </a:rPr>
              <a:t>200</a:t>
            </a:r>
            <a:r>
              <a:rPr lang="ko-KR" altLang="en-US" sz="1000">
                <a:solidFill>
                  <a:srgbClr val="00B050"/>
                </a:solidFill>
              </a:rPr>
              <a:t>밀리초</a:t>
            </a:r>
          </a:p>
          <a:p>
            <a:r>
              <a:rPr lang="en-US" altLang="ko-KR" sz="1000"/>
              <a:t>TICK::duration t = 1h + 12s + 200ms;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초 단위로 변경한다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auto t_seconds = </a:t>
            </a:r>
            <a:r>
              <a:rPr lang="en-US" altLang="ko-KR" sz="1000" b="1"/>
              <a:t>std::duration_cast</a:t>
            </a:r>
            <a:r>
              <a:rPr lang="en-US" altLang="ko-KR" sz="1000"/>
              <a:t>&lt;TICK::seconds&gt;(t);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초 단위 값을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</a:t>
            </a:r>
            <a:r>
              <a:rPr lang="ko-KR" altLang="en-US" sz="1000"/>
              <a:t> </a:t>
            </a:r>
            <a:r>
              <a:rPr lang="en-US" altLang="ko-KR" sz="1000"/>
              <a:t>&lt;&lt;</a:t>
            </a:r>
            <a:r>
              <a:rPr lang="ko-KR" altLang="en-US" sz="1000"/>
              <a:t> </a:t>
            </a:r>
            <a:r>
              <a:rPr lang="en-US" altLang="ko-KR" sz="1000"/>
              <a:t>“in seconds” &lt;&lt; t_seconds.count() &lt;&lt; ‘\n’;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E87AB-9BA3-4C97-8CB1-E784C1B9930A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206153-2D72-49EC-AD0E-FAF18EB1691C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46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5" y="-12879"/>
            <a:ext cx="1399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timer.types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49" y="620713"/>
            <a:ext cx="10240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사용 용도에 따라 다양한 시계를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system_clock, steady_clock, high_resolution_clock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등 다양한 시계를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사용하는 시계는 다음과 같이 분리해서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590C9E-57FA-4388-A404-24B9D2D9542B}"/>
              </a:ext>
            </a:extLst>
          </p:cNvPr>
          <p:cNvSpPr/>
          <p:nvPr/>
        </p:nvSpPr>
        <p:spPr>
          <a:xfrm>
            <a:off x="3056884" y="2262429"/>
            <a:ext cx="29354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TICK::time_point t1 = TICK::now();</a:t>
            </a: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TICK::time_point t2 = t1 + 10s;</a:t>
            </a:r>
          </a:p>
          <a:p>
            <a:pPr defTabSz="360000"/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TICK::duration d_t = t2 – t1;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4D01F27-1F5F-476F-8B5F-CE5C516A502B}"/>
              </a:ext>
            </a:extLst>
          </p:cNvPr>
          <p:cNvSpPr/>
          <p:nvPr/>
        </p:nvSpPr>
        <p:spPr>
          <a:xfrm>
            <a:off x="1735396" y="1574483"/>
            <a:ext cx="1149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TICK 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시계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C39A704-3F95-4A46-8805-A012A45694EC}"/>
              </a:ext>
            </a:extLst>
          </p:cNvPr>
          <p:cNvSpPr/>
          <p:nvPr/>
        </p:nvSpPr>
        <p:spPr>
          <a:xfrm>
            <a:off x="1783809" y="3427974"/>
            <a:ext cx="11480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TIME 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시계</a:t>
            </a:r>
            <a:endParaRPr lang="en-US" altLang="ko-KR" sz="14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A6C4049-DDB6-4633-8D9B-87D1EBAD5848}"/>
              </a:ext>
            </a:extLst>
          </p:cNvPr>
          <p:cNvSpPr/>
          <p:nvPr/>
        </p:nvSpPr>
        <p:spPr>
          <a:xfrm>
            <a:off x="3056884" y="1547566"/>
            <a:ext cx="60067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ms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ns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수준의 아주 짧은 정밀도를 가지는 시계로 쓰레드 등의 처리에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실제 시간이 아닌 단일 시간계를 가지고 있으며 부하가 적은 타이머다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std::chrono::steady_clock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사용하고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28799E1-F7AB-4F7F-84D8-537682D53EA7}"/>
              </a:ext>
            </a:extLst>
          </p:cNvPr>
          <p:cNvSpPr/>
          <p:nvPr/>
        </p:nvSpPr>
        <p:spPr>
          <a:xfrm>
            <a:off x="3056884" y="3375819"/>
            <a:ext cx="702628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/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년월일시분초 등 실제 시간을 가진 타이머로 초단위  이상의 정밀도만이 필요한 경우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defTabSz="360000"/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UTC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지역시로 나누어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defTabSz="360000"/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아직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calender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제공해 주지 않아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CGCK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자체적으로 구현한 시계를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사용법은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 타이머와 거의 동일하다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(C++ 20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calender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지원시 표준으로 교체 예정이다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27D6E2D-8FE2-43DE-B91D-495F00622F49}"/>
              </a:ext>
            </a:extLst>
          </p:cNvPr>
          <p:cNvSpPr/>
          <p:nvPr/>
        </p:nvSpPr>
        <p:spPr>
          <a:xfrm>
            <a:off x="3056884" y="4412853"/>
            <a:ext cx="3974165" cy="111722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360000"/>
            <a:r>
              <a:rPr lang="en-US" altLang="ko-KR" sz="1200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// UTC</a:t>
            </a: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TIME::UTC::time_point tu1 = TIME::UTC::now();</a:t>
            </a: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TIME:: UTC::time_point tu2 = tu1 + 100s;</a:t>
            </a:r>
          </a:p>
          <a:p>
            <a:pPr defTabSz="360000"/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TIME::UTC::duration d_t = tu2 – tu1;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2A14CC-D728-44C7-B0E8-291C93B15882}"/>
              </a:ext>
            </a:extLst>
          </p:cNvPr>
          <p:cNvSpPr/>
          <p:nvPr/>
        </p:nvSpPr>
        <p:spPr>
          <a:xfrm>
            <a:off x="3056884" y="5612076"/>
            <a:ext cx="4326826" cy="111722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360000"/>
            <a:r>
              <a:rPr lang="en-US" altLang="ko-KR" sz="1200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// local</a:t>
            </a:r>
            <a:r>
              <a:rPr lang="ko-KR" altLang="en-US" sz="1200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time</a:t>
            </a: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TIME::LOCAL::time_point tl1 = TIME::LOCAL::now();</a:t>
            </a: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TIME:: LOCAL::time_point tl2 = ts1 + 100s;</a:t>
            </a:r>
          </a:p>
          <a:p>
            <a:pPr defTabSz="360000"/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defTabSz="360000"/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TIME:: LOCAL::duration d_tl = tl2 – tl1;</a:t>
            </a:r>
            <a:endParaRPr lang="ko-KR" altLang="en-US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FC0614-D793-4ABA-AB43-8EDC4334DC26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32F7BE-28E0-4988-A62F-24088B4BAAD7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94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2042325" y="-12879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time_point</a:t>
            </a:r>
            <a:r>
              <a:rPr lang="en-US" altLang="ko-KR" b="1" dirty="0"/>
              <a:t> &amp; duration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표준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스마트포인터와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다르게 객체 자체가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참조계수르르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가짐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상속받은 객체를 대상으로만 처리를 함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361C8-7E41-437C-B1BD-3E704CADD967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006A6B-45E5-4697-963E-569CEFBC70AC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22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2046147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7BF7C-5FED-4F5D-BD75-A868C6A4A684}"/>
              </a:ext>
            </a:extLst>
          </p:cNvPr>
          <p:cNvSpPr txBox="1"/>
          <p:nvPr/>
        </p:nvSpPr>
        <p:spPr>
          <a:xfrm>
            <a:off x="538480" y="15240"/>
            <a:ext cx="1539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EXECUTOR SYSTEM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1C4B53-2EF8-4317-9DC2-46D22036FC29}"/>
              </a:ext>
            </a:extLst>
          </p:cNvPr>
          <p:cNvSpPr/>
          <p:nvPr/>
        </p:nvSpPr>
        <p:spPr>
          <a:xfrm>
            <a:off x="203242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9999</TotalTime>
  <Words>1060</Words>
  <Application>Microsoft Office PowerPoint</Application>
  <PresentationFormat>와이드스크린</PresentationFormat>
  <Paragraphs>134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311</cp:revision>
  <dcterms:created xsi:type="dcterms:W3CDTF">2019-08-08T18:29:33Z</dcterms:created>
  <dcterms:modified xsi:type="dcterms:W3CDTF">2021-12-27T11:33:11Z</dcterms:modified>
</cp:coreProperties>
</file>