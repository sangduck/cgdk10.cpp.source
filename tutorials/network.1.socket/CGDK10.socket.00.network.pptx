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66" r:id="rId4"/>
    <p:sldId id="261" r:id="rId5"/>
    <p:sldId id="262" r:id="rId6"/>
    <p:sldId id="267" r:id="rId7"/>
    <p:sldId id="268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1" userDrawn="1">
          <p15:clr>
            <a:srgbClr val="A4A3A4"/>
          </p15:clr>
        </p15:guide>
        <p15:guide id="2" pos="8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2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86" y="114"/>
      </p:cViewPr>
      <p:guideLst>
        <p:guide orient="horz" pos="391"/>
        <p:guide pos="8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22A7E5-9D6C-4D49-9F84-6FD5581D59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1DF23D0-ACA9-4109-859D-3ECB447A1C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C36A17-8D0E-4BD4-9D11-B7A7E9E9A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D2E944-0ED1-4607-A36C-5BB69830A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B9B9D4-8BBC-476D-8064-35CFCD6B7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9882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419A54-E745-4CC6-BB95-027B31215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527CD9-8FD6-41DB-92D5-543810226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C1E69F-6A0C-4988-A80C-D9E079982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A0A22F-E157-407D-9059-6BA690D7D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25A3EE-62DB-427A-BC57-1105595DD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3982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F69695-5C44-4966-9A13-1C984D986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BB4F0D-22E9-4085-831F-FD98A827D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A917BF-93D8-4FAE-9057-B5DC34BF0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4F97A2-C5F5-4A31-8A8E-9DB0E5BF0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8D523A-5E78-4084-9250-EA62E800A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63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4C6390-10D0-4FD4-A9C5-512525EC4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6AF698-79AC-473D-91BE-2AC4B6A9AE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47004C-44EF-4C97-90AD-CEC005B133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92DA3BB-F86B-423B-ADF0-0C45FFA7F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ABA172-663F-4746-A340-81A5A245E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8ECEE4-F0CB-4000-8737-D35FA8E9B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085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133FDE-6868-41BC-989B-C7995DAAB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2CE7D6-2226-4B65-8C8E-7CC6A6A5A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092D66-1FD3-41EB-97C7-DE6FA7F9FC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8733F04-26EC-425A-A594-4302ABE0AB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AAB9B29-E3A0-4BA3-A785-C6DCCEF71C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C93CB7F-B41A-4C1B-ABF3-7333EA9C9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4B76826-AE98-4493-AE44-3F7ACB5BD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249C020-97C1-43ED-95BF-408B8BF82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2908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1FE3F6-CD7E-4531-9825-DA1294BB7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A364A65-7602-4E2F-AB3A-1DB84F3C2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B370FC8-7EFF-42A1-A3DD-2E35F1F49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EA32FA-FEE4-4DBD-930C-A337BE210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2637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D4FEF22-CFFB-471E-8960-DC35A80D0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98E9B52-4735-4887-B334-2DAF94848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849622-257C-4566-88C3-8C0E40D10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9711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914B03-A7BA-4811-B9E6-F4B68F507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AABAA1-C57E-4FE1-B2AD-CB2F1C6B5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71A1A2C-F9BA-416A-BBF9-D65DDE042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0EEA2E-4425-4FB2-B940-D630ECB66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5F14BC-4609-49B0-B88F-71ED21D8B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B2F4A1-01AF-4213-B737-2A01F210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582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543167-4408-4C58-ADD5-FC60A11ED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678274A-E2D6-47D8-8667-1D77CFAB27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29D13A-7EED-4A00-A107-5A9D6EE834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2886C8-A6B0-4365-8DF4-783E16274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C8015C-9296-41FD-8594-A6F545A4C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82F2D0-7A4D-4569-A726-EFB2F9A6D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4620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8FE90C-3B64-42E6-831B-DF1AF8BE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F9955E-804B-4847-A548-B8FAB8A8F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016D88-EA8C-4E33-9AA0-265D828D1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26A646-1DCD-47EA-9189-479181E55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40B22C-804C-4B5E-BC7E-9728A7D22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8035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0C339A3-C568-40CC-80EA-0D67438C8E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70BA901-4156-43E5-997D-B97D552566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5A3A72-6D07-48D1-A145-8C8FC73BF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5FE233-6062-4295-98E2-CDA8399D8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A950D5-233D-4487-955B-863FE15ED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5246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959FC0F-2DDD-468F-8DBD-6A2807FE1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676674-756A-42FE-BD0C-C3CECBFD80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6A869F-4294-4684-B447-EA0E579528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2B7EA6-29B8-4261-8591-86CDF1CF1D8C}" type="datetimeFigureOut">
              <a:rPr lang="ko-KR" altLang="en-US" smtClean="0"/>
              <a:t>2020-01-21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C5D8D2-D0ED-4DCE-B1CA-EB46F385A5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2C4440-5EEA-42C9-BA7E-B3A419EF5D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2375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32C2850C-3195-4D5E-A688-80706BB8E5F3}"/>
              </a:ext>
            </a:extLst>
          </p:cNvPr>
          <p:cNvSpPr/>
          <p:nvPr/>
        </p:nvSpPr>
        <p:spPr>
          <a:xfrm>
            <a:off x="0" y="0"/>
            <a:ext cx="141605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416050" y="1016000"/>
            <a:ext cx="3744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6213" indent="-176213">
              <a:buFont typeface="Wingdings" panose="05000000000000000000" pitchFamily="2" charset="2"/>
              <a:buChar char="§"/>
            </a:pPr>
            <a:r>
              <a:rPr lang="en-US" altLang="ko-KR" sz="1200" dirty="0"/>
              <a:t>CGD::</a:t>
            </a:r>
            <a:r>
              <a:rPr lang="en-US" altLang="ko-KR" sz="1200" dirty="0" err="1"/>
              <a:t>object_ptr</a:t>
            </a:r>
            <a:r>
              <a:rPr lang="en-US" altLang="ko-KR" sz="1200" dirty="0"/>
              <a:t>&lt;T&gt;</a:t>
            </a:r>
            <a:r>
              <a:rPr lang="ko-KR" altLang="en-US" sz="1200" dirty="0"/>
              <a:t>와 </a:t>
            </a:r>
            <a:r>
              <a:rPr lang="en-US" altLang="ko-KR" sz="1200" dirty="0" err="1"/>
              <a:t>Ireferenceable</a:t>
            </a:r>
            <a:r>
              <a:rPr lang="en-US" altLang="ko-KR" sz="1200" dirty="0"/>
              <a:t> </a:t>
            </a:r>
            <a:r>
              <a:rPr lang="ko-KR" altLang="en-US" sz="1200" dirty="0"/>
              <a:t>인터페이스</a:t>
            </a:r>
            <a:endParaRPr lang="en-US" altLang="ko-KR" sz="1200" dirty="0"/>
          </a:p>
          <a:p>
            <a:pPr marL="176213" indent="-176213">
              <a:buFont typeface="Wingdings" panose="05000000000000000000" pitchFamily="2" charset="2"/>
              <a:buChar char="§"/>
            </a:pPr>
            <a:r>
              <a:rPr lang="en-US" altLang="ko-KR" sz="1200" dirty="0"/>
              <a:t>CGD::</a:t>
            </a:r>
            <a:r>
              <a:rPr lang="en-US" altLang="ko-KR" sz="1200" dirty="0" err="1"/>
              <a:t>own_ptr</a:t>
            </a:r>
            <a:r>
              <a:rPr lang="en-US" altLang="ko-KR" sz="1200" dirty="0"/>
              <a:t>&lt;T&gt;</a:t>
            </a:r>
            <a:r>
              <a:rPr lang="ko-KR" altLang="en-US" sz="1200" dirty="0"/>
              <a:t>와 </a:t>
            </a:r>
            <a:r>
              <a:rPr lang="en-US" altLang="ko-KR" sz="1200" dirty="0" err="1"/>
              <a:t>Idestroyable</a:t>
            </a:r>
            <a:r>
              <a:rPr lang="en-US" altLang="ko-KR" sz="1200" dirty="0"/>
              <a:t> </a:t>
            </a:r>
            <a:r>
              <a:rPr lang="ko-KR" altLang="en-US" sz="1200" dirty="0"/>
              <a:t>인터페이스</a:t>
            </a:r>
            <a:endParaRPr lang="en-US" altLang="ko-KR" sz="1200" dirty="0"/>
          </a:p>
          <a:p>
            <a:pPr marL="176213" indent="-176213">
              <a:buFont typeface="Wingdings" panose="05000000000000000000" pitchFamily="2" charset="2"/>
              <a:buChar char="§"/>
            </a:pPr>
            <a:r>
              <a:rPr lang="ko-KR" altLang="en-US" sz="1200" dirty="0"/>
              <a:t>객체 풀</a:t>
            </a:r>
            <a:r>
              <a:rPr lang="en-US" altLang="ko-KR" sz="1200" dirty="0"/>
              <a:t>(object</a:t>
            </a:r>
            <a:r>
              <a:rPr lang="ko-KR" altLang="en-US" sz="1200" dirty="0"/>
              <a:t> </a:t>
            </a:r>
            <a:r>
              <a:rPr lang="en-US" altLang="ko-KR" sz="1200" dirty="0"/>
              <a:t>pool)</a:t>
            </a:r>
            <a:endParaRPr lang="ko-KR" altLang="en-US" sz="1200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63D706D0-7F00-44B7-8338-DA6DCD0C282B}"/>
              </a:ext>
            </a:extLst>
          </p:cNvPr>
          <p:cNvSpPr txBox="1">
            <a:spLocks/>
          </p:cNvSpPr>
          <p:nvPr/>
        </p:nvSpPr>
        <p:spPr>
          <a:xfrm>
            <a:off x="378691" y="347663"/>
            <a:ext cx="5207000" cy="66833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>
                    <a:lumMod val="50000"/>
                  </a:schemeClr>
                </a:solidFill>
              </a:rPr>
              <a:t>CGC.</a:t>
            </a:r>
            <a:r>
              <a:rPr lang="en-US" altLang="ko-KR" sz="2400" b="1">
                <a:solidFill>
                  <a:schemeClr val="bg1">
                    <a:lumMod val="50000"/>
                  </a:schemeClr>
                </a:solidFill>
              </a:rPr>
              <a:t>II..</a:t>
            </a:r>
            <a:r>
              <a:rPr lang="en-US" altLang="ko-KR" sz="3200" b="1"/>
              <a:t>NETWORK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97255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997206" y="-12879"/>
            <a:ext cx="3804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CGD::</a:t>
            </a:r>
            <a:r>
              <a:rPr lang="en-US" altLang="ko-KR" b="1" dirty="0" err="1"/>
              <a:t>object_ptr</a:t>
            </a:r>
            <a:r>
              <a:rPr lang="en-US" altLang="ko-KR" b="1" dirty="0"/>
              <a:t> &amp;</a:t>
            </a:r>
            <a:r>
              <a:rPr lang="ko-KR" altLang="en-US" b="1" dirty="0"/>
              <a:t> </a:t>
            </a:r>
            <a:r>
              <a:rPr lang="en-US" altLang="ko-KR" b="1" dirty="0" err="1"/>
              <a:t>Ireferenceable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2152896" y="4236343"/>
            <a:ext cx="7708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Object_ptr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은 표준 </a:t>
            </a:r>
            <a:r>
              <a:rPr lang="ko-KR" altLang="en-US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스마트포인터와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다르게 객체 자체가 </a:t>
            </a:r>
            <a:r>
              <a:rPr lang="ko-KR" altLang="en-US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참조계수르르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가짐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따라서 </a:t>
            </a:r>
            <a:r>
              <a:rPr lang="en-US" altLang="ko-KR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Ireferenceable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을 상속받은 객체를 대상으로만 처리를 함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endParaRPr lang="ko-KR" alt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15061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NETWORK.SOCKET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1997439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C774F17-12FB-4F7A-BAA6-25A6AC07382C}"/>
              </a:ext>
            </a:extLst>
          </p:cNvPr>
          <p:cNvSpPr/>
          <p:nvPr/>
        </p:nvSpPr>
        <p:spPr>
          <a:xfrm>
            <a:off x="2152896" y="1991119"/>
            <a:ext cx="12570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  <a:t>ip::address</a:t>
            </a:r>
            <a:endParaRPr lang="ko-KR" altLang="en-US" sz="14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0248A28-3DD9-4A46-86F9-615E0F044CE1}"/>
              </a:ext>
            </a:extLst>
          </p:cNvPr>
          <p:cNvSpPr/>
          <p:nvPr/>
        </p:nvSpPr>
        <p:spPr>
          <a:xfrm>
            <a:off x="6466861" y="2678464"/>
            <a:ext cx="274305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  <a:t>net::acceptor&lt;TSOCKET&gt;</a:t>
            </a:r>
            <a:endParaRPr lang="ko-KR" altLang="en-US" sz="14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9D5C54-CEC4-45D0-8D88-B73A2F1731D3}"/>
              </a:ext>
            </a:extLst>
          </p:cNvPr>
          <p:cNvSpPr txBox="1"/>
          <p:nvPr/>
        </p:nvSpPr>
        <p:spPr>
          <a:xfrm>
            <a:off x="1416049" y="578901"/>
            <a:ext cx="9783173" cy="880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C++ ip classes</a:t>
            </a:r>
            <a:b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network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TS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(C++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 네트워크 모듈 표준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안의 확정이 계속 연기되며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C++23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이후로  미뤄지고 있지만 전반적인 형태는 이미 나와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그 중 네트워크 주소를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ip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클래스</a:t>
            </a:r>
            <a:endParaRPr lang="ko-KR" alt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FB6DF96-B3DF-4060-8BC1-C87D69DF9DC3}"/>
              </a:ext>
            </a:extLst>
          </p:cNvPr>
          <p:cNvSpPr/>
          <p:nvPr/>
        </p:nvSpPr>
        <p:spPr>
          <a:xfrm>
            <a:off x="2152896" y="2848593"/>
            <a:ext cx="14750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  <a:t>ip::end_point</a:t>
            </a:r>
            <a:endParaRPr lang="ko-KR" altLang="en-US" sz="140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83C7E9B-3610-412F-9F0A-A16427F3F042}"/>
              </a:ext>
            </a:extLst>
          </p:cNvPr>
          <p:cNvSpPr/>
          <p:nvPr/>
        </p:nvSpPr>
        <p:spPr>
          <a:xfrm>
            <a:off x="2115225" y="3557669"/>
            <a:ext cx="133241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  <a:t>ip::resolver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3738245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997209" y="-12879"/>
            <a:ext cx="3804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CGD::</a:t>
            </a:r>
            <a:r>
              <a:rPr lang="en-US" altLang="ko-KR" b="1" dirty="0" err="1"/>
              <a:t>object_ptr</a:t>
            </a:r>
            <a:r>
              <a:rPr lang="en-US" altLang="ko-KR" b="1" dirty="0"/>
              <a:t> &amp;</a:t>
            </a:r>
            <a:r>
              <a:rPr lang="ko-KR" altLang="en-US" b="1" dirty="0"/>
              <a:t> </a:t>
            </a:r>
            <a:r>
              <a:rPr lang="en-US" altLang="ko-KR" b="1" dirty="0" err="1"/>
              <a:t>Ireferenceable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416050" y="648085"/>
            <a:ext cx="89309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/>
              <a:t>Object_ptr</a:t>
            </a:r>
            <a:r>
              <a:rPr lang="en-US" altLang="ko-KR" sz="1400" dirty="0"/>
              <a:t>&lt;T&gt;</a:t>
            </a:r>
            <a:r>
              <a:rPr lang="ko-KR" altLang="en-US" sz="1400" dirty="0"/>
              <a:t>의 동적 할당은 </a:t>
            </a:r>
            <a:r>
              <a:rPr lang="en-US" altLang="ko-KR" sz="1400" dirty="0" err="1"/>
              <a:t>make_object</a:t>
            </a:r>
            <a:r>
              <a:rPr lang="en-US" altLang="ko-KR" sz="1400" dirty="0"/>
              <a:t>&lt;T&gt;()</a:t>
            </a:r>
            <a:r>
              <a:rPr lang="ko-KR" altLang="en-US" sz="1400" dirty="0"/>
              <a:t>함수 혹은 </a:t>
            </a:r>
            <a:r>
              <a:rPr lang="en-US" altLang="ko-KR" sz="1400" dirty="0"/>
              <a:t>NEW&lt;T&gt;() </a:t>
            </a:r>
            <a:r>
              <a:rPr lang="ko-KR" altLang="en-US" sz="1400" dirty="0"/>
              <a:t>함수로 원하는 객체 동적 할당 가능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DBE5E-E08F-4485-A0A1-8C1E0028A631}"/>
              </a:ext>
            </a:extLst>
          </p:cNvPr>
          <p:cNvSpPr txBox="1"/>
          <p:nvPr/>
        </p:nvSpPr>
        <p:spPr>
          <a:xfrm>
            <a:off x="1416050" y="3121223"/>
            <a:ext cx="72618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/>
              <a:t>own_ptr</a:t>
            </a:r>
            <a:r>
              <a:rPr lang="en-US" altLang="ko-KR" sz="1400" dirty="0"/>
              <a:t>&lt;T&gt;</a:t>
            </a:r>
            <a:r>
              <a:rPr lang="ko-KR" altLang="en-US" sz="1400" dirty="0"/>
              <a:t>의 동적 할당은 </a:t>
            </a:r>
            <a:r>
              <a:rPr lang="en-US" altLang="ko-KR" sz="1400" dirty="0" err="1"/>
              <a:t>make_own</a:t>
            </a:r>
            <a:r>
              <a:rPr lang="en-US" altLang="ko-KR" sz="1400" dirty="0"/>
              <a:t>&lt;T&gt;()</a:t>
            </a:r>
            <a:r>
              <a:rPr lang="ko-KR" altLang="en-US" sz="1400" dirty="0"/>
              <a:t>로 가능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E18FB9-9089-4DEC-B4E4-2F41FA93DD7B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DA28C8-C36D-447D-8C83-626BFB954CF3}"/>
              </a:ext>
            </a:extLst>
          </p:cNvPr>
          <p:cNvSpPr txBox="1"/>
          <p:nvPr/>
        </p:nvSpPr>
        <p:spPr>
          <a:xfrm>
            <a:off x="538480" y="15240"/>
            <a:ext cx="15061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NETWORK.SOCKET</a:t>
            </a:r>
            <a:endParaRPr lang="ko-KR" altLang="en-US" sz="12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0F585E9-FF83-49DB-9151-8D83B2B0EA96}"/>
              </a:ext>
            </a:extLst>
          </p:cNvPr>
          <p:cNvSpPr/>
          <p:nvPr/>
        </p:nvSpPr>
        <p:spPr>
          <a:xfrm>
            <a:off x="1997439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9135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5D1A0A4-3BBF-473D-B6F6-765C2E02345A}"/>
              </a:ext>
            </a:extLst>
          </p:cNvPr>
          <p:cNvSpPr txBox="1"/>
          <p:nvPr/>
        </p:nvSpPr>
        <p:spPr>
          <a:xfrm>
            <a:off x="1997207" y="-11382"/>
            <a:ext cx="3390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CGD::</a:t>
            </a:r>
            <a:r>
              <a:rPr lang="en-US" altLang="ko-KR" b="1" dirty="0" err="1"/>
              <a:t>own_ptr</a:t>
            </a:r>
            <a:r>
              <a:rPr lang="en-US" altLang="ko-KR" b="1" dirty="0"/>
              <a:t> &amp;</a:t>
            </a:r>
            <a:r>
              <a:rPr lang="ko-KR" altLang="en-US" b="1" dirty="0"/>
              <a:t> </a:t>
            </a:r>
            <a:r>
              <a:rPr lang="en-US" altLang="ko-KR" b="1" dirty="0" err="1"/>
              <a:t>Idestroyable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A2105E-14D1-4432-8536-C8D29B2DD845}"/>
              </a:ext>
            </a:extLst>
          </p:cNvPr>
          <p:cNvSpPr txBox="1"/>
          <p:nvPr/>
        </p:nvSpPr>
        <p:spPr>
          <a:xfrm>
            <a:off x="1416050" y="620713"/>
            <a:ext cx="7162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유일하게 하나만 존재하는 동적 객체를 위한 것</a:t>
            </a:r>
            <a:endParaRPr lang="en-US" altLang="ko-KR" sz="1400" dirty="0"/>
          </a:p>
          <a:p>
            <a:r>
              <a:rPr lang="ko-KR" altLang="en-US" sz="1400" dirty="0"/>
              <a:t>소멸될 때 </a:t>
            </a:r>
            <a:r>
              <a:rPr lang="en-US" altLang="ko-KR" sz="1400" dirty="0"/>
              <a:t>destroy()</a:t>
            </a:r>
            <a:r>
              <a:rPr lang="ko-KR" altLang="en-US" sz="1400" dirty="0"/>
              <a:t>함수를 호출해준다</a:t>
            </a:r>
            <a:r>
              <a:rPr lang="en-US" altLang="ko-KR" sz="1400" dirty="0"/>
              <a:t>.</a:t>
            </a:r>
          </a:p>
          <a:p>
            <a:r>
              <a:rPr lang="ko-KR" altLang="en-US" sz="1400" dirty="0" err="1"/>
              <a:t>순환참조</a:t>
            </a:r>
            <a:r>
              <a:rPr lang="ko-KR" altLang="en-US" sz="1400" dirty="0"/>
              <a:t> 문제를 해결하기 위해서도 사용</a:t>
            </a:r>
            <a:r>
              <a:rPr lang="en-US" altLang="ko-KR" sz="1400" dirty="0"/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B93640-ABDC-4F42-9C1A-02ED41CAF266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382234-0537-4163-9082-A6E83E754D65}"/>
              </a:ext>
            </a:extLst>
          </p:cNvPr>
          <p:cNvSpPr txBox="1"/>
          <p:nvPr/>
        </p:nvSpPr>
        <p:spPr>
          <a:xfrm>
            <a:off x="538480" y="15240"/>
            <a:ext cx="15061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NETWORK.SOCKET</a:t>
            </a:r>
            <a:endParaRPr lang="ko-KR" altLang="en-US" sz="1200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63D5EAA-C0D3-40EF-B44B-3FFAB6452D67}"/>
              </a:ext>
            </a:extLst>
          </p:cNvPr>
          <p:cNvSpPr/>
          <p:nvPr/>
        </p:nvSpPr>
        <p:spPr>
          <a:xfrm>
            <a:off x="1997439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408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8096BE-5EB3-479C-A55F-F6BF55CD54B4}"/>
              </a:ext>
            </a:extLst>
          </p:cNvPr>
          <p:cNvSpPr txBox="1"/>
          <p:nvPr/>
        </p:nvSpPr>
        <p:spPr>
          <a:xfrm>
            <a:off x="1993283" y="14197"/>
            <a:ext cx="2273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객체 풀</a:t>
            </a:r>
            <a:r>
              <a:rPr lang="en-US" altLang="ko-KR" b="1" dirty="0"/>
              <a:t>.object</a:t>
            </a:r>
            <a:r>
              <a:rPr lang="ko-KR" altLang="en-US" b="1" dirty="0"/>
              <a:t> </a:t>
            </a:r>
            <a:r>
              <a:rPr lang="en-US" altLang="ko-KR" b="1" dirty="0"/>
              <a:t>pool</a:t>
            </a:r>
            <a:endParaRPr lang="ko-KR" alt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854FC3-83B1-4810-845D-2E245C8938C1}"/>
              </a:ext>
            </a:extLst>
          </p:cNvPr>
          <p:cNvSpPr txBox="1"/>
          <p:nvPr/>
        </p:nvSpPr>
        <p:spPr>
          <a:xfrm>
            <a:off x="1416050" y="620713"/>
            <a:ext cx="90483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/>
              <a:t>Ireferenceable</a:t>
            </a:r>
            <a:r>
              <a:rPr lang="en-US" altLang="ko-KR" sz="1400" dirty="0"/>
              <a:t> </a:t>
            </a:r>
            <a:r>
              <a:rPr lang="ko-KR" altLang="en-US" sz="1400" dirty="0"/>
              <a:t>대신 </a:t>
            </a:r>
            <a:r>
              <a:rPr lang="en-US" altLang="ko-KR" sz="1400" dirty="0" err="1"/>
              <a:t>Ipoolable</a:t>
            </a:r>
            <a:r>
              <a:rPr lang="ko-KR" altLang="en-US" sz="1400" dirty="0"/>
              <a:t>을 상속받으면 </a:t>
            </a:r>
            <a:r>
              <a:rPr lang="en-US" altLang="ko-KR" sz="1400" dirty="0" err="1"/>
              <a:t>make_object</a:t>
            </a:r>
            <a:r>
              <a:rPr lang="en-US" altLang="ko-KR" sz="1400" dirty="0"/>
              <a:t>&lt;T&gt;()</a:t>
            </a:r>
            <a:r>
              <a:rPr lang="ko-KR" altLang="en-US" sz="1400" dirty="0"/>
              <a:t>함수 호출 시 자동으로 풀에서 할당을 받음</a:t>
            </a:r>
            <a:r>
              <a:rPr lang="en-US" altLang="ko-KR" sz="1400" dirty="0"/>
              <a:t>.</a:t>
            </a:r>
            <a:br>
              <a:rPr lang="en-US" altLang="ko-KR" sz="1400" dirty="0"/>
            </a:br>
            <a:r>
              <a:rPr lang="ko-KR" altLang="en-US" sz="1400" dirty="0"/>
              <a:t>할당해제시 자동으로 풀로 다시 </a:t>
            </a:r>
            <a:r>
              <a:rPr lang="ko-KR" altLang="en-US" sz="1400" dirty="0" err="1"/>
              <a:t>돌아감</a:t>
            </a:r>
            <a:r>
              <a:rPr lang="en-US" altLang="ko-KR" sz="1400" dirty="0"/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4D35E4-88F9-42B2-83DD-0AA65C4AFBC9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A7FB2D-A08F-4D91-B6BD-C68828D8300B}"/>
              </a:ext>
            </a:extLst>
          </p:cNvPr>
          <p:cNvSpPr txBox="1"/>
          <p:nvPr/>
        </p:nvSpPr>
        <p:spPr>
          <a:xfrm>
            <a:off x="538480" y="15240"/>
            <a:ext cx="15061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NETWORK.SOCKET</a:t>
            </a:r>
            <a:endParaRPr lang="ko-KR" altLang="en-US" sz="1200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A800F61-4C69-4FFF-B683-80E420D5FD93}"/>
              </a:ext>
            </a:extLst>
          </p:cNvPr>
          <p:cNvSpPr/>
          <p:nvPr/>
        </p:nvSpPr>
        <p:spPr>
          <a:xfrm>
            <a:off x="1997439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003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8096BE-5EB3-479C-A55F-F6BF55CD54B4}"/>
              </a:ext>
            </a:extLst>
          </p:cNvPr>
          <p:cNvSpPr txBox="1"/>
          <p:nvPr/>
        </p:nvSpPr>
        <p:spPr>
          <a:xfrm>
            <a:off x="1993285" y="12700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객체 관리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854FC3-83B1-4810-845D-2E245C8938C1}"/>
              </a:ext>
            </a:extLst>
          </p:cNvPr>
          <p:cNvSpPr txBox="1"/>
          <p:nvPr/>
        </p:nvSpPr>
        <p:spPr>
          <a:xfrm>
            <a:off x="1416050" y="620713"/>
            <a:ext cx="97519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/>
              <a:t>Ireferenceable</a:t>
            </a:r>
            <a:r>
              <a:rPr lang="ko-KR" altLang="en-US" sz="1400" dirty="0"/>
              <a:t>을 상속받아 </a:t>
            </a:r>
            <a:r>
              <a:rPr lang="en-US" altLang="ko-KR" sz="1400" dirty="0" err="1"/>
              <a:t>make_object</a:t>
            </a:r>
            <a:r>
              <a:rPr lang="en-US" altLang="ko-KR" sz="1400" dirty="0"/>
              <a:t>&lt;T&gt;()</a:t>
            </a:r>
            <a:r>
              <a:rPr lang="ko-KR" altLang="en-US" sz="1400" dirty="0"/>
              <a:t>로 할당 받은 모든 객체는 내부적으로 통계를 냄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ko-KR" altLang="en-US" sz="1400" dirty="0" err="1"/>
              <a:t>메모리릭</a:t>
            </a:r>
            <a:r>
              <a:rPr lang="ko-KR" altLang="en-US" sz="1400" dirty="0"/>
              <a:t> 등과 같은 문제가 발생시 확인 가능</a:t>
            </a:r>
            <a:r>
              <a:rPr lang="en-US" altLang="ko-KR" sz="1400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C1650E-1B67-421A-BF6A-1BF89648C6CE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B8C396-0372-4AEB-BE15-FA98F71CD535}"/>
              </a:ext>
            </a:extLst>
          </p:cNvPr>
          <p:cNvSpPr txBox="1"/>
          <p:nvPr/>
        </p:nvSpPr>
        <p:spPr>
          <a:xfrm>
            <a:off x="538480" y="15240"/>
            <a:ext cx="15061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NETWORK.SOCKET</a:t>
            </a:r>
            <a:endParaRPr lang="ko-KR" altLang="en-US" sz="1200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51164D2-0B26-4623-BCC8-A432672FE874}"/>
              </a:ext>
            </a:extLst>
          </p:cNvPr>
          <p:cNvSpPr/>
          <p:nvPr/>
        </p:nvSpPr>
        <p:spPr>
          <a:xfrm>
            <a:off x="1997439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2380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8096BE-5EB3-479C-A55F-F6BF55CD54B4}"/>
              </a:ext>
            </a:extLst>
          </p:cNvPr>
          <p:cNvSpPr txBox="1"/>
          <p:nvPr/>
        </p:nvSpPr>
        <p:spPr>
          <a:xfrm>
            <a:off x="1993281" y="0"/>
            <a:ext cx="634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FAQ</a:t>
            </a:r>
            <a:endParaRPr lang="ko-KR" alt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C1650E-1B67-421A-BF6A-1BF89648C6CE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5DAE95-D71D-43B4-9709-B2085C72181D}"/>
              </a:ext>
            </a:extLst>
          </p:cNvPr>
          <p:cNvSpPr txBox="1"/>
          <p:nvPr/>
        </p:nvSpPr>
        <p:spPr>
          <a:xfrm>
            <a:off x="538480" y="15240"/>
            <a:ext cx="15061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NETWORK.SOCKET</a:t>
            </a:r>
            <a:endParaRPr lang="ko-KR" altLang="en-US" sz="12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84AF62C-F345-4C41-BE99-294498BC04D7}"/>
              </a:ext>
            </a:extLst>
          </p:cNvPr>
          <p:cNvSpPr/>
          <p:nvPr/>
        </p:nvSpPr>
        <p:spPr>
          <a:xfrm>
            <a:off x="1997439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3263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</TotalTime>
  <Words>354</Words>
  <Application>Microsoft Office PowerPoint</Application>
  <PresentationFormat>와이드스크린</PresentationFormat>
  <Paragraphs>45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3" baseType="lpstr">
      <vt:lpstr>HY견명조</vt:lpstr>
      <vt:lpstr>HY신명조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상현 조</dc:creator>
  <cp:lastModifiedBy>조 상현</cp:lastModifiedBy>
  <cp:revision>159</cp:revision>
  <dcterms:created xsi:type="dcterms:W3CDTF">2019-08-08T18:29:33Z</dcterms:created>
  <dcterms:modified xsi:type="dcterms:W3CDTF">2020-01-20T17:10:47Z</dcterms:modified>
</cp:coreProperties>
</file>