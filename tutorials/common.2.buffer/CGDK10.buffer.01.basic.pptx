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60" r:id="rId3"/>
    <p:sldId id="284" r:id="rId4"/>
    <p:sldId id="269" r:id="rId5"/>
    <p:sldId id="296" r:id="rId6"/>
    <p:sldId id="293" r:id="rId7"/>
    <p:sldId id="297" r:id="rId8"/>
    <p:sldId id="273" r:id="rId9"/>
    <p:sldId id="271" r:id="rId10"/>
    <p:sldId id="274" r:id="rId11"/>
    <p:sldId id="285" r:id="rId12"/>
    <p:sldId id="287" r:id="rId13"/>
    <p:sldId id="290" r:id="rId14"/>
    <p:sldId id="288" r:id="rId15"/>
    <p:sldId id="289" r:id="rId16"/>
    <p:sldId id="291" r:id="rId17"/>
    <p:sldId id="275" r:id="rId18"/>
    <p:sldId id="294" r:id="rId19"/>
    <p:sldId id="276" r:id="rId20"/>
    <p:sldId id="292" r:id="rId21"/>
    <p:sldId id="277" r:id="rId22"/>
    <p:sldId id="278" r:id="rId23"/>
    <p:sldId id="279" r:id="rId24"/>
    <p:sldId id="270" r:id="rId25"/>
    <p:sldId id="283" r:id="rId26"/>
    <p:sldId id="281" r:id="rId27"/>
    <p:sldId id="266" r:id="rId28"/>
    <p:sldId id="282" r:id="rId29"/>
    <p:sldId id="295" r:id="rId30"/>
    <p:sldId id="298" r:id="rId31"/>
    <p:sldId id="268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520B6"/>
    <a:srgbClr val="4472C4"/>
    <a:srgbClr val="FFFFFF"/>
    <a:srgbClr val="000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9" autoAdjust="0"/>
    <p:restoredTop sz="94660"/>
  </p:normalViewPr>
  <p:slideViewPr>
    <p:cSldViewPr snapToGrid="0">
      <p:cViewPr>
        <p:scale>
          <a:sx n="66" d="100"/>
          <a:sy n="66" d="100"/>
        </p:scale>
        <p:origin x="1932" y="2016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CF900-80A6-4855-BC13-39AA022D3A49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8113B-F323-46EA-8F78-C06DADA72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98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B87DE33-CDB2-4028-8B35-64B351BA78D0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2202087"/>
            <a:ext cx="2968914" cy="4488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buffer.what?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buffer.system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buffer.classes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buffer.alloc_shared_buffer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buffer.append&lt;T&gt;.1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buffer.append&lt;T&gt;.2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buffer.append&lt;T&gt;.3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buffer.front&lt;T&gt;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buffer.extract&lt;T&gt;.1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buffer.extract&lt;T&gt;.2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buffer.extract&lt;T&gt;.3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buffer.example</a:t>
            </a:r>
            <a:endParaRPr lang="en-US" altLang="ko-KR" sz="1200" dirty="0"/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buffer.operator +</a:t>
            </a:r>
            <a:endParaRPr lang="en-US" altLang="ko-KR" sz="1200" dirty="0"/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buffer.operator ^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 operations. copy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/>
              <a:t>buffer.operations.clone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BUFFER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533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buffer.what?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제공하는 버퍼 시스템은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‘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동적 메모리 할당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과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‘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직렬화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기능을 가진 버퍼 시스템이다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네트워크 송수신 혹은 저장 용도에 위해 많이 사용된다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은 크게 다음과 같은 기능과 함수를 가졌다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A56D50-FFBB-439C-8B2A-E9AC649ED9B5}"/>
              </a:ext>
            </a:extLst>
          </p:cNvPr>
          <p:cNvSpPr txBox="1"/>
          <p:nvPr/>
        </p:nvSpPr>
        <p:spPr>
          <a:xfrm>
            <a:off x="1416050" y="6260357"/>
            <a:ext cx="770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이걸로 뭐 어떻게 하라고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961343-DF0E-43C7-A285-FDCA5398394F}"/>
              </a:ext>
            </a:extLst>
          </p:cNvPr>
          <p:cNvSpPr txBox="1"/>
          <p:nvPr/>
        </p:nvSpPr>
        <p:spPr>
          <a:xfrm>
            <a:off x="1416050" y="1526073"/>
            <a:ext cx="7708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직렬화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(serialization)’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이란 시리얼 데이터 처리 란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은 크게 다음과 같은 기능과 함수를 가졌다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667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buffer.system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제공하는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CGD.buffer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‘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버퍼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기능과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‘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직렬화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기능을 가진 버퍼 시스템이다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이는 네트워크 송수신 혹은 저장 용도에 위해 많이 사용된다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EDA75D6-4DCB-42A0-81C4-7BD506A414CB}"/>
              </a:ext>
            </a:extLst>
          </p:cNvPr>
          <p:cNvSpPr/>
          <p:nvPr/>
        </p:nvSpPr>
        <p:spPr>
          <a:xfrm>
            <a:off x="1953221" y="1802197"/>
            <a:ext cx="3863878" cy="1440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975" indent="-180975" defTabSz="3600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메모리 할당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		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alloc_shared_buffer (SIZE)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			make_shared_buffer&lt;T&gt;(T&amp;)</a:t>
            </a:r>
          </a:p>
          <a:p>
            <a:pPr marL="180975" indent="-180975" defTabSz="3600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기본 속성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		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data()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			size()</a:t>
            </a:r>
          </a:p>
          <a:p>
            <a:pPr marL="180975" indent="-180975" defTabSz="3600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읽기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/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쓰기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		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front&lt;T&gt;()</a:t>
            </a:r>
            <a:endParaRPr lang="ko-KR" altLang="en-US" sz="12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6DDED3-76F1-4BB3-990D-B6F19E85BE41}"/>
              </a:ext>
            </a:extLst>
          </p:cNvPr>
          <p:cNvSpPr/>
          <p:nvPr/>
        </p:nvSpPr>
        <p:spPr>
          <a:xfrm>
            <a:off x="1953221" y="4327422"/>
            <a:ext cx="4528514" cy="886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데이터 읽기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		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extract&lt;T&gt;()</a:t>
            </a:r>
          </a:p>
          <a:p>
            <a:pPr marL="180975" indent="-180975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데이터 쓰기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		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append&lt;T&gt;(…)</a:t>
            </a:r>
            <a:endParaRPr lang="en-US" altLang="ko-KR" sz="120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80975" indent="-180975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데이터 크기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		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get_size_of&lt;T&gt;(…)</a:t>
            </a:r>
            <a:endParaRPr lang="ko-KR" altLang="en-US" sz="120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50B5994-B37E-4E28-923E-CC967C2A6909}"/>
              </a:ext>
            </a:extLst>
          </p:cNvPr>
          <p:cNvSpPr/>
          <p:nvPr/>
        </p:nvSpPr>
        <p:spPr>
          <a:xfrm>
            <a:off x="1562813" y="1318533"/>
            <a:ext cx="147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>
                <a:latin typeface="HY견명조" panose="02030600000101010101" pitchFamily="18" charset="-127"/>
                <a:ea typeface="HY견명조" panose="02030600000101010101" pitchFamily="18" charset="-127"/>
              </a:rPr>
              <a:t>버퍼 기능</a:t>
            </a:r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3E4EBD5-77F1-4F7A-B570-EC0ABFC6BA1E}"/>
              </a:ext>
            </a:extLst>
          </p:cNvPr>
          <p:cNvSpPr/>
          <p:nvPr/>
        </p:nvSpPr>
        <p:spPr>
          <a:xfrm>
            <a:off x="1562813" y="3914710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>
                <a:latin typeface="HY견명조" panose="02030600000101010101" pitchFamily="18" charset="-127"/>
                <a:ea typeface="HY견명조" panose="02030600000101010101" pitchFamily="18" charset="-127"/>
              </a:rPr>
              <a:t>직렬화 기능</a:t>
            </a:r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021A0D-A0B5-47D0-AFB5-C54392DA8AE4}"/>
              </a:ext>
            </a:extLst>
          </p:cNvPr>
          <p:cNvSpPr txBox="1"/>
          <p:nvPr/>
        </p:nvSpPr>
        <p:spPr>
          <a:xfrm>
            <a:off x="3371997" y="1318533"/>
            <a:ext cx="7708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메모리를 동적으로 할당하고 스마트 포인터로 관리하는 기능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메모리 포인터와 크기 정보와 원본 데이터의 메모리 경계 정보 등을 가지며 버퍼를 관리하는 기능을 제공한다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424BB8-3461-47E1-9B4A-AD2DAFC12EE9}"/>
              </a:ext>
            </a:extLst>
          </p:cNvPr>
          <p:cNvSpPr txBox="1"/>
          <p:nvPr/>
        </p:nvSpPr>
        <p:spPr>
          <a:xfrm>
            <a:off x="3371997" y="3914710"/>
            <a:ext cx="770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메모리 버퍼에 데이터를 직렬화로 써넣고 읽어 내는 기능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634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6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buffer.classes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1.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종류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F0F0A1-1DED-4D8E-8929-9CBBEA72516A}"/>
              </a:ext>
            </a:extLst>
          </p:cNvPr>
          <p:cNvSpPr/>
          <p:nvPr/>
        </p:nvSpPr>
        <p:spPr>
          <a:xfrm>
            <a:off x="1948632" y="1691656"/>
            <a:ext cx="2303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>
                <a:latin typeface="HY견명조" panose="02030600000101010101" pitchFamily="18" charset="-127"/>
                <a:ea typeface="HY견명조" panose="02030600000101010101" pitchFamily="18" charset="-127"/>
              </a:rPr>
              <a:t>buffer_view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49DB93E-B4AF-4A1C-AD76-BE3F44A20144}"/>
              </a:ext>
            </a:extLst>
          </p:cNvPr>
          <p:cNvSpPr/>
          <p:nvPr/>
        </p:nvSpPr>
        <p:spPr>
          <a:xfrm>
            <a:off x="2297661" y="3091728"/>
            <a:ext cx="1601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>
                <a:latin typeface="HY견명조" panose="02030600000101010101" pitchFamily="18" charset="-127"/>
                <a:ea typeface="HY견명조" panose="02030600000101010101" pitchFamily="18" charset="-127"/>
              </a:rPr>
              <a:t>buffer</a:t>
            </a: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27C7A6-43E3-49DB-A0DA-F325D73475A3}"/>
              </a:ext>
            </a:extLst>
          </p:cNvPr>
          <p:cNvSpPr/>
          <p:nvPr/>
        </p:nvSpPr>
        <p:spPr>
          <a:xfrm>
            <a:off x="1828407" y="4838638"/>
            <a:ext cx="2544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>
                <a:latin typeface="HY견명조" panose="02030600000101010101" pitchFamily="18" charset="-127"/>
                <a:ea typeface="HY견명조" panose="02030600000101010101" pitchFamily="18" charset="-127"/>
              </a:rPr>
              <a:t>shared_buffer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DEACD2-3448-4336-87BF-5E586A073773}"/>
              </a:ext>
            </a:extLst>
          </p:cNvPr>
          <p:cNvSpPr/>
          <p:nvPr/>
        </p:nvSpPr>
        <p:spPr>
          <a:xfrm>
            <a:off x="4591803" y="1691656"/>
            <a:ext cx="44069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버퍼 포인터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(data_)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버퍼 크기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(size_)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가지고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역직렬화만 즉 </a:t>
            </a:r>
            <a:r>
              <a:rPr lang="en-US" altLang="ko-KR" sz="1200" b="1">
                <a:latin typeface="HY신명조" panose="02030600000101010101" pitchFamily="18" charset="-127"/>
                <a:ea typeface="HY신명조" panose="02030600000101010101" pitchFamily="18" charset="-127"/>
              </a:rPr>
              <a:t>extract&lt;T&gt;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 b="1">
                <a:latin typeface="HY신명조" panose="02030600000101010101" pitchFamily="18" charset="-127"/>
                <a:ea typeface="HY신명조" panose="02030600000101010101" pitchFamily="18" charset="-127"/>
              </a:rPr>
              <a:t>front&lt;T&gt;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함수만 쓸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2F8402-6E5F-45F9-BAAC-6A358454018A}"/>
              </a:ext>
            </a:extLst>
          </p:cNvPr>
          <p:cNvSpPr/>
          <p:nvPr/>
        </p:nvSpPr>
        <p:spPr>
          <a:xfrm>
            <a:off x="4591803" y="3091728"/>
            <a:ext cx="40959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buffer_view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경계정보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(bounding info)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추가되어 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직렬화 즉 </a:t>
            </a:r>
            <a:r>
              <a:rPr lang="en-US" altLang="ko-KR" sz="1200" b="1">
                <a:latin typeface="HY신명조" panose="02030600000101010101" pitchFamily="18" charset="-127"/>
                <a:ea typeface="HY신명조" panose="02030600000101010101" pitchFamily="18" charset="-127"/>
              </a:rPr>
              <a:t>append&lt;T&gt;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함수만 쓸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2AF877-246E-4E65-87ED-CF5E115596F5}"/>
              </a:ext>
            </a:extLst>
          </p:cNvPr>
          <p:cNvSpPr/>
          <p:nvPr/>
        </p:nvSpPr>
        <p:spPr>
          <a:xfrm>
            <a:off x="4591803" y="4838638"/>
            <a:ext cx="60388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동적 할당 기능이 추가된다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또 동적 할당 받은 메모리는 스마트포인터로 관리한다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즉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alloc_shared_buffer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동적 할당할 때 이것을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2363024-AFEC-43FC-BA07-FDCED0491BB4}"/>
              </a:ext>
            </a:extLst>
          </p:cNvPr>
          <p:cNvCxnSpPr>
            <a:cxnSpLocks/>
          </p:cNvCxnSpPr>
          <p:nvPr/>
        </p:nvCxnSpPr>
        <p:spPr>
          <a:xfrm>
            <a:off x="3098521" y="3502617"/>
            <a:ext cx="0" cy="133602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E357706-FE14-4CC8-BDCC-FBFF4CDF6D36}"/>
              </a:ext>
            </a:extLst>
          </p:cNvPr>
          <p:cNvSpPr/>
          <p:nvPr/>
        </p:nvSpPr>
        <p:spPr>
          <a:xfrm>
            <a:off x="4935964" y="2198588"/>
            <a:ext cx="12362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uint64_t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data_</a:t>
            </a:r>
          </a:p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uint64_t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size_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7BDEC9-B9A4-495D-B779-4DD6526B5451}"/>
              </a:ext>
            </a:extLst>
          </p:cNvPr>
          <p:cNvSpPr/>
          <p:nvPr/>
        </p:nvSpPr>
        <p:spPr>
          <a:xfrm>
            <a:off x="4968520" y="3655559"/>
            <a:ext cx="18133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CGDK::buffer_view +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9EE4D9A-B2D0-4192-B473-4A46A247F251}"/>
              </a:ext>
            </a:extLst>
          </p:cNvPr>
          <p:cNvSpPr/>
          <p:nvPr/>
        </p:nvSpPr>
        <p:spPr>
          <a:xfrm>
            <a:off x="4948039" y="5418841"/>
            <a:ext cx="14950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CGDK::buffer +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058DDE4-0B07-4460-9719-1A66A3D91C81}"/>
              </a:ext>
            </a:extLst>
          </p:cNvPr>
          <p:cNvSpPr/>
          <p:nvPr/>
        </p:nvSpPr>
        <p:spPr>
          <a:xfrm>
            <a:off x="1693361" y="941285"/>
            <a:ext cx="21210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종류의 클래스를 제공한다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2B856A8-8F8A-4DDD-910E-766323AE73B3}"/>
              </a:ext>
            </a:extLst>
          </p:cNvPr>
          <p:cNvCxnSpPr>
            <a:cxnSpLocks/>
          </p:cNvCxnSpPr>
          <p:nvPr/>
        </p:nvCxnSpPr>
        <p:spPr>
          <a:xfrm>
            <a:off x="3097507" y="2102438"/>
            <a:ext cx="2028" cy="98684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3754D17-AFF1-448C-B542-A2C825738D9B}"/>
              </a:ext>
            </a:extLst>
          </p:cNvPr>
          <p:cNvSpPr/>
          <p:nvPr/>
        </p:nvSpPr>
        <p:spPr>
          <a:xfrm>
            <a:off x="2403758" y="2429421"/>
            <a:ext cx="1389526" cy="249767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+ bounding</a:t>
            </a:r>
            <a:r>
              <a:rPr lang="ko-KR" altLang="en-US" sz="1000">
                <a:solidFill>
                  <a:schemeClr val="tx1"/>
                </a:solidFill>
              </a:rPr>
              <a:t> </a:t>
            </a:r>
            <a:r>
              <a:rPr lang="en-US" altLang="ko-KR" sz="1000">
                <a:solidFill>
                  <a:schemeClr val="tx1"/>
                </a:solidFill>
              </a:rPr>
              <a:t>info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AAAF6F0-FA77-41C5-8499-1500F0974486}"/>
              </a:ext>
            </a:extLst>
          </p:cNvPr>
          <p:cNvSpPr/>
          <p:nvPr/>
        </p:nvSpPr>
        <p:spPr>
          <a:xfrm>
            <a:off x="2403758" y="3921061"/>
            <a:ext cx="1389526" cy="249767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 + smart pointer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B566006-E58F-424E-860C-9FD935258388}"/>
              </a:ext>
            </a:extLst>
          </p:cNvPr>
          <p:cNvSpPr/>
          <p:nvPr/>
        </p:nvSpPr>
        <p:spPr>
          <a:xfrm>
            <a:off x="6669960" y="3552120"/>
            <a:ext cx="20056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const void*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bound.upper</a:t>
            </a:r>
          </a:p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const void*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bound.lower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C0B408B-459B-4EE8-ADA6-11C38BD699AC}"/>
              </a:ext>
            </a:extLst>
          </p:cNvPr>
          <p:cNvSpPr/>
          <p:nvPr/>
        </p:nvSpPr>
        <p:spPr>
          <a:xfrm>
            <a:off x="6256866" y="5336338"/>
            <a:ext cx="3119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CGDK::object_ptr&lt;Imemory&gt; psource</a:t>
            </a: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혹은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std::share_ptr&lt;char&gt;</a:t>
            </a:r>
          </a:p>
        </p:txBody>
      </p:sp>
    </p:spTree>
    <p:extLst>
      <p:ext uri="{BB962C8B-B14F-4D97-AF65-F5344CB8AC3E}">
        <p14:creationId xmlns:p14="http://schemas.microsoft.com/office/powerpoint/2010/main" val="3139703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6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buffer.classes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1.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종류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058DDE4-0B07-4460-9719-1A66A3D91C81}"/>
              </a:ext>
            </a:extLst>
          </p:cNvPr>
          <p:cNvSpPr/>
          <p:nvPr/>
        </p:nvSpPr>
        <p:spPr>
          <a:xfrm>
            <a:off x="1693361" y="941285"/>
            <a:ext cx="21210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종류의 클래스를 제공한다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3754D17-AFF1-448C-B542-A2C825738D9B}"/>
              </a:ext>
            </a:extLst>
          </p:cNvPr>
          <p:cNvSpPr/>
          <p:nvPr/>
        </p:nvSpPr>
        <p:spPr>
          <a:xfrm>
            <a:off x="1999986" y="3179233"/>
            <a:ext cx="1805823" cy="579967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CGDK::</a:t>
            </a:r>
            <a:r>
              <a:rPr lang="en-US" altLang="ko-KR" sz="1200" b="1">
                <a:solidFill>
                  <a:schemeClr val="tx1"/>
                </a:solidFill>
              </a:rPr>
              <a:t>buffer</a:t>
            </a:r>
          </a:p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FC4E18C-D1AE-4CAF-93C0-BA964B38ADDB}"/>
              </a:ext>
            </a:extLst>
          </p:cNvPr>
          <p:cNvSpPr/>
          <p:nvPr/>
        </p:nvSpPr>
        <p:spPr>
          <a:xfrm>
            <a:off x="2008630" y="2264835"/>
            <a:ext cx="1805823" cy="579967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CGDK::</a:t>
            </a:r>
            <a:r>
              <a:rPr lang="en-US" altLang="ko-KR" sz="1200" b="1">
                <a:solidFill>
                  <a:schemeClr val="tx1"/>
                </a:solidFill>
              </a:rPr>
              <a:t>buffer_view</a:t>
            </a:r>
          </a:p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1B67BD6-B58D-4B98-93A0-EDDB5D2228D6}"/>
              </a:ext>
            </a:extLst>
          </p:cNvPr>
          <p:cNvCxnSpPr>
            <a:cxnSpLocks/>
            <a:stCxn id="30" idx="0"/>
            <a:endCxn id="26" idx="2"/>
          </p:cNvCxnSpPr>
          <p:nvPr/>
        </p:nvCxnSpPr>
        <p:spPr>
          <a:xfrm flipV="1">
            <a:off x="2902898" y="2844802"/>
            <a:ext cx="8644" cy="33443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DC0DE26-A94D-4607-8F2B-6732255F1073}"/>
              </a:ext>
            </a:extLst>
          </p:cNvPr>
          <p:cNvSpPr/>
          <p:nvPr/>
        </p:nvSpPr>
        <p:spPr>
          <a:xfrm>
            <a:off x="2008630" y="4127199"/>
            <a:ext cx="1805823" cy="579967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CGDK::</a:t>
            </a:r>
            <a:r>
              <a:rPr lang="en-US" altLang="ko-KR" sz="1200" b="1">
                <a:solidFill>
                  <a:schemeClr val="tx1"/>
                </a:solidFill>
              </a:rPr>
              <a:t>shared_buffer</a:t>
            </a:r>
          </a:p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06BF40C-DFDC-4041-A863-3DE9A8391F49}"/>
              </a:ext>
            </a:extLst>
          </p:cNvPr>
          <p:cNvCxnSpPr>
            <a:cxnSpLocks/>
            <a:stCxn id="29" idx="0"/>
            <a:endCxn id="30" idx="2"/>
          </p:cNvCxnSpPr>
          <p:nvPr/>
        </p:nvCxnSpPr>
        <p:spPr>
          <a:xfrm flipH="1" flipV="1">
            <a:off x="2902898" y="3759200"/>
            <a:ext cx="8644" cy="367999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66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6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buffer.classes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1.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종류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F0F0A1-1DED-4D8E-8929-9CBBEA72516A}"/>
              </a:ext>
            </a:extLst>
          </p:cNvPr>
          <p:cNvSpPr/>
          <p:nvPr/>
        </p:nvSpPr>
        <p:spPr>
          <a:xfrm>
            <a:off x="1621994" y="1827487"/>
            <a:ext cx="40639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CGDK::buffer::</a:t>
            </a:r>
            <a:r>
              <a:rPr lang="en-US" altLang="ko-KR" sz="1400" b="1">
                <a:latin typeface="HY신명조" panose="02030600000101010101" pitchFamily="18" charset="-127"/>
                <a:ea typeface="HY신명조" panose="02030600000101010101" pitchFamily="18" charset="-127"/>
              </a:rPr>
              <a:t>append&lt;T&gt;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const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 T&amp; _value)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49DB93E-B4AF-4A1C-AD76-BE3F44A20144}"/>
              </a:ext>
            </a:extLst>
          </p:cNvPr>
          <p:cNvSpPr/>
          <p:nvPr/>
        </p:nvSpPr>
        <p:spPr>
          <a:xfrm>
            <a:off x="2297661" y="3091728"/>
            <a:ext cx="1601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>
                <a:latin typeface="HY견명조" panose="02030600000101010101" pitchFamily="18" charset="-127"/>
                <a:ea typeface="HY견명조" panose="02030600000101010101" pitchFamily="18" charset="-127"/>
              </a:rPr>
              <a:t>buffer</a:t>
            </a: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27C7A6-43E3-49DB-A0DA-F325D73475A3}"/>
              </a:ext>
            </a:extLst>
          </p:cNvPr>
          <p:cNvSpPr/>
          <p:nvPr/>
        </p:nvSpPr>
        <p:spPr>
          <a:xfrm>
            <a:off x="1828407" y="4838638"/>
            <a:ext cx="2544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>
                <a:latin typeface="HY견명조" panose="02030600000101010101" pitchFamily="18" charset="-127"/>
                <a:ea typeface="HY견명조" panose="02030600000101010101" pitchFamily="18" charset="-127"/>
              </a:rPr>
              <a:t>shared_buffer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DEACD2-3448-4336-87BF-5E586A073773}"/>
              </a:ext>
            </a:extLst>
          </p:cNvPr>
          <p:cNvSpPr/>
          <p:nvPr/>
        </p:nvSpPr>
        <p:spPr>
          <a:xfrm>
            <a:off x="5469310" y="584678"/>
            <a:ext cx="44069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버퍼 포인터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(data_)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버퍼 크기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(size_)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가지고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역직렬화만 즉 </a:t>
            </a:r>
            <a:r>
              <a:rPr lang="en-US" altLang="ko-KR" sz="1200" b="1">
                <a:latin typeface="HY신명조" panose="02030600000101010101" pitchFamily="18" charset="-127"/>
                <a:ea typeface="HY신명조" panose="02030600000101010101" pitchFamily="18" charset="-127"/>
              </a:rPr>
              <a:t>extract&lt;T&gt;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 b="1">
                <a:latin typeface="HY신명조" panose="02030600000101010101" pitchFamily="18" charset="-127"/>
                <a:ea typeface="HY신명조" panose="02030600000101010101" pitchFamily="18" charset="-127"/>
              </a:rPr>
              <a:t>front&lt;T&gt;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함수만 쓸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2F8402-6E5F-45F9-BAAC-6A358454018A}"/>
              </a:ext>
            </a:extLst>
          </p:cNvPr>
          <p:cNvSpPr/>
          <p:nvPr/>
        </p:nvSpPr>
        <p:spPr>
          <a:xfrm>
            <a:off x="4591803" y="3091728"/>
            <a:ext cx="40959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buffer_view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경계정보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(bounding info)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추가되어 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직렬화 즉 </a:t>
            </a:r>
            <a:r>
              <a:rPr lang="en-US" altLang="ko-KR" sz="1200" b="1">
                <a:latin typeface="HY신명조" panose="02030600000101010101" pitchFamily="18" charset="-127"/>
                <a:ea typeface="HY신명조" panose="02030600000101010101" pitchFamily="18" charset="-127"/>
              </a:rPr>
              <a:t>append&lt;T&gt;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함수만 쓸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2AF877-246E-4E65-87ED-CF5E115596F5}"/>
              </a:ext>
            </a:extLst>
          </p:cNvPr>
          <p:cNvSpPr/>
          <p:nvPr/>
        </p:nvSpPr>
        <p:spPr>
          <a:xfrm>
            <a:off x="4591803" y="4838638"/>
            <a:ext cx="60388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동적 할당 기능이 추가된다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또 동적 할당 받은 메모리는 스마트포인터로 관리한다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즉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alloc_shared_buffer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동적 할당할 때 이것을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2363024-AFEC-43FC-BA07-FDCED0491BB4}"/>
              </a:ext>
            </a:extLst>
          </p:cNvPr>
          <p:cNvCxnSpPr>
            <a:cxnSpLocks/>
          </p:cNvCxnSpPr>
          <p:nvPr/>
        </p:nvCxnSpPr>
        <p:spPr>
          <a:xfrm>
            <a:off x="3098521" y="3502617"/>
            <a:ext cx="0" cy="133602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E357706-FE14-4CC8-BDCC-FBFF4CDF6D36}"/>
              </a:ext>
            </a:extLst>
          </p:cNvPr>
          <p:cNvSpPr/>
          <p:nvPr/>
        </p:nvSpPr>
        <p:spPr>
          <a:xfrm>
            <a:off x="4605665" y="2146567"/>
            <a:ext cx="8691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직렬화할 값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7BDEC9-B9A4-495D-B779-4DD6526B5451}"/>
              </a:ext>
            </a:extLst>
          </p:cNvPr>
          <p:cNvSpPr/>
          <p:nvPr/>
        </p:nvSpPr>
        <p:spPr>
          <a:xfrm>
            <a:off x="4968520" y="3655559"/>
            <a:ext cx="18133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CGDK::buffer_view +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9EE4D9A-B2D0-4192-B473-4A46A247F251}"/>
              </a:ext>
            </a:extLst>
          </p:cNvPr>
          <p:cNvSpPr/>
          <p:nvPr/>
        </p:nvSpPr>
        <p:spPr>
          <a:xfrm>
            <a:off x="4948039" y="5418841"/>
            <a:ext cx="14950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CGDK::buffer +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058DDE4-0B07-4460-9719-1A66A3D91C81}"/>
              </a:ext>
            </a:extLst>
          </p:cNvPr>
          <p:cNvSpPr/>
          <p:nvPr/>
        </p:nvSpPr>
        <p:spPr>
          <a:xfrm>
            <a:off x="1693361" y="941285"/>
            <a:ext cx="21210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종류의 클래스를 제공한다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AAAF6F0-FA77-41C5-8499-1500F0974486}"/>
              </a:ext>
            </a:extLst>
          </p:cNvPr>
          <p:cNvSpPr/>
          <p:nvPr/>
        </p:nvSpPr>
        <p:spPr>
          <a:xfrm>
            <a:off x="2403758" y="3921061"/>
            <a:ext cx="1389526" cy="249767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 + smart pointer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B566006-E58F-424E-860C-9FD935258388}"/>
              </a:ext>
            </a:extLst>
          </p:cNvPr>
          <p:cNvSpPr/>
          <p:nvPr/>
        </p:nvSpPr>
        <p:spPr>
          <a:xfrm>
            <a:off x="6669960" y="3552120"/>
            <a:ext cx="20056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const void*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bound.upper</a:t>
            </a:r>
          </a:p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const void*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bound.lower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C0B408B-459B-4EE8-ADA6-11C38BD699AC}"/>
              </a:ext>
            </a:extLst>
          </p:cNvPr>
          <p:cNvSpPr/>
          <p:nvPr/>
        </p:nvSpPr>
        <p:spPr>
          <a:xfrm>
            <a:off x="6256866" y="5336338"/>
            <a:ext cx="3119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CGDK::object_ptr&lt;Imemory&gt; psource</a:t>
            </a: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혹은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std::share_ptr&lt;char&gt;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FDD8E1-A3C6-4354-95F1-5B0A5ED1C65B}"/>
              </a:ext>
            </a:extLst>
          </p:cNvPr>
          <p:cNvSpPr txBox="1"/>
          <p:nvPr/>
        </p:nvSpPr>
        <p:spPr>
          <a:xfrm>
            <a:off x="834552" y="2146567"/>
            <a:ext cx="1987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return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값</a:t>
            </a:r>
            <a:b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(T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에 따라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V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타입이 다릅니다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  <a:endParaRPr lang="ko-KR" altLang="en-US" sz="1000">
              <a:solidFill>
                <a:srgbClr val="0000FF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E122E33-7D00-41B9-8EBF-97BF61BF9A2A}"/>
              </a:ext>
            </a:extLst>
          </p:cNvPr>
          <p:cNvCxnSpPr/>
          <p:nvPr/>
        </p:nvCxnSpPr>
        <p:spPr>
          <a:xfrm>
            <a:off x="1658568" y="2135264"/>
            <a:ext cx="20641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ED1C7BB-F328-409F-998E-21881E1032BB}"/>
              </a:ext>
            </a:extLst>
          </p:cNvPr>
          <p:cNvCxnSpPr>
            <a:cxnSpLocks/>
          </p:cNvCxnSpPr>
          <p:nvPr/>
        </p:nvCxnSpPr>
        <p:spPr>
          <a:xfrm>
            <a:off x="4349983" y="2135264"/>
            <a:ext cx="137738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657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3097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buffer.alloc_shared_buffer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BC8DFF-DCF2-4256-B95D-2ECBF97A2AD7}"/>
              </a:ext>
            </a:extLst>
          </p:cNvPr>
          <p:cNvSpPr/>
          <p:nvPr/>
        </p:nvSpPr>
        <p:spPr>
          <a:xfrm>
            <a:off x="2942896" y="1442027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E3AAA81-5D46-4061-BA50-7A34D3DA6BE5}"/>
              </a:ext>
            </a:extLst>
          </p:cNvPr>
          <p:cNvCxnSpPr/>
          <p:nvPr/>
        </p:nvCxnSpPr>
        <p:spPr>
          <a:xfrm flipV="1">
            <a:off x="2942896" y="96214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A63ACC0-6BC1-42D2-9695-B9292B8C7AB0}"/>
              </a:ext>
            </a:extLst>
          </p:cNvPr>
          <p:cNvCxnSpPr/>
          <p:nvPr/>
        </p:nvCxnSpPr>
        <p:spPr>
          <a:xfrm flipV="1">
            <a:off x="8907511" y="96214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CA8BFF0-32E6-4F82-90EC-B3F20F9C4FF6}"/>
              </a:ext>
            </a:extLst>
          </p:cNvPr>
          <p:cNvCxnSpPr>
            <a:cxnSpLocks/>
          </p:cNvCxnSpPr>
          <p:nvPr/>
        </p:nvCxnSpPr>
        <p:spPr>
          <a:xfrm>
            <a:off x="2942896" y="1059234"/>
            <a:ext cx="5964615" cy="0"/>
          </a:xfrm>
          <a:prstGeom prst="line">
            <a:avLst/>
          </a:prstGeom>
          <a:ln>
            <a:solidFill>
              <a:srgbClr val="4472C4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C50B89A-CA6E-47FD-A546-201EF5C6A076}"/>
              </a:ext>
            </a:extLst>
          </p:cNvPr>
          <p:cNvSpPr/>
          <p:nvPr/>
        </p:nvSpPr>
        <p:spPr>
          <a:xfrm>
            <a:off x="2566407" y="1996091"/>
            <a:ext cx="6383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solidFill>
                  <a:srgbClr val="4472C4"/>
                </a:solidFill>
                <a:ea typeface="HY신명조" panose="02030600000101010101" pitchFamily="18" charset="-127"/>
              </a:rPr>
              <a:t>data_</a:t>
            </a:r>
            <a:endParaRPr lang="ko-KR" altLang="en-US" sz="1400" b="1">
              <a:solidFill>
                <a:srgbClr val="4472C4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AE1894C-9C35-4426-9E13-AA6046957AC6}"/>
              </a:ext>
            </a:extLst>
          </p:cNvPr>
          <p:cNvSpPr/>
          <p:nvPr/>
        </p:nvSpPr>
        <p:spPr>
          <a:xfrm>
            <a:off x="3894126" y="1065887"/>
            <a:ext cx="5806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solidFill>
                  <a:srgbClr val="4472C4"/>
                </a:solidFill>
                <a:ea typeface="HY신명조" panose="02030600000101010101" pitchFamily="18" charset="-127"/>
              </a:rPr>
              <a:t>size_</a:t>
            </a:r>
            <a:endParaRPr lang="ko-KR" altLang="en-US" sz="1400" b="1">
              <a:solidFill>
                <a:srgbClr val="4472C4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AF6F111-5C64-47A3-AD52-B96F0D0A175C}"/>
              </a:ext>
            </a:extLst>
          </p:cNvPr>
          <p:cNvSpPr/>
          <p:nvPr/>
        </p:nvSpPr>
        <p:spPr>
          <a:xfrm>
            <a:off x="2463130" y="641188"/>
            <a:ext cx="14004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solidFill>
                  <a:srgbClr val="4472C4"/>
                </a:solidFill>
                <a:ea typeface="HY신명조" panose="02030600000101010101" pitchFamily="18" charset="-127"/>
              </a:rPr>
              <a:t>[lower bound]</a:t>
            </a:r>
            <a:endParaRPr lang="ko-KR" altLang="en-US" sz="1400" b="1">
              <a:solidFill>
                <a:srgbClr val="4472C4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C51AFB4-868E-49DB-86EB-CD95E8CA61DF}"/>
              </a:ext>
            </a:extLst>
          </p:cNvPr>
          <p:cNvSpPr/>
          <p:nvPr/>
        </p:nvSpPr>
        <p:spPr>
          <a:xfrm>
            <a:off x="8049587" y="695130"/>
            <a:ext cx="14318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solidFill>
                  <a:srgbClr val="4472C4"/>
                </a:solidFill>
                <a:ea typeface="HY신명조" panose="02030600000101010101" pitchFamily="18" charset="-127"/>
              </a:rPr>
              <a:t>[upper bound]</a:t>
            </a:r>
            <a:endParaRPr lang="ko-KR" altLang="en-US" sz="1400" b="1">
              <a:solidFill>
                <a:srgbClr val="4472C4"/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BE01AEE-15CD-4811-92F2-EF6A14738F44}"/>
              </a:ext>
            </a:extLst>
          </p:cNvPr>
          <p:cNvCxnSpPr>
            <a:cxnSpLocks/>
          </p:cNvCxnSpPr>
          <p:nvPr/>
        </p:nvCxnSpPr>
        <p:spPr>
          <a:xfrm flipH="1" flipV="1">
            <a:off x="2929046" y="1819735"/>
            <a:ext cx="3340" cy="198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5ACCFB-3252-43A9-AB9B-64809ABEEE49}"/>
              </a:ext>
            </a:extLst>
          </p:cNvPr>
          <p:cNvSpPr/>
          <p:nvPr/>
        </p:nvSpPr>
        <p:spPr>
          <a:xfrm>
            <a:off x="4380473" y="2863350"/>
            <a:ext cx="1080000" cy="57600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data_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05CB7AA-FC4C-498E-8066-279AA9DEB313}"/>
              </a:ext>
            </a:extLst>
          </p:cNvPr>
          <p:cNvSpPr/>
          <p:nvPr/>
        </p:nvSpPr>
        <p:spPr>
          <a:xfrm>
            <a:off x="5460106" y="2863350"/>
            <a:ext cx="1080000" cy="576000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size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5E7C67F-43C5-4D7B-BFBD-B3A8CF2AED61}"/>
              </a:ext>
            </a:extLst>
          </p:cNvPr>
          <p:cNvSpPr/>
          <p:nvPr/>
        </p:nvSpPr>
        <p:spPr>
          <a:xfrm>
            <a:off x="4380473" y="4534602"/>
            <a:ext cx="1080000" cy="57600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data_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91184C-2069-47E3-9F2C-118960D78F0A}"/>
              </a:ext>
            </a:extLst>
          </p:cNvPr>
          <p:cNvSpPr txBox="1"/>
          <p:nvPr/>
        </p:nvSpPr>
        <p:spPr>
          <a:xfrm>
            <a:off x="2199456" y="2909046"/>
            <a:ext cx="2355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buffer_view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B60685-27ED-49FF-8590-04DC42828AE6}"/>
              </a:ext>
            </a:extLst>
          </p:cNvPr>
          <p:cNvSpPr txBox="1"/>
          <p:nvPr/>
        </p:nvSpPr>
        <p:spPr>
          <a:xfrm>
            <a:off x="2192197" y="3787158"/>
            <a:ext cx="2355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buffer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B088B7-07FD-4FF4-925E-2497117682D7}"/>
              </a:ext>
            </a:extLst>
          </p:cNvPr>
          <p:cNvSpPr txBox="1"/>
          <p:nvPr/>
        </p:nvSpPr>
        <p:spPr>
          <a:xfrm>
            <a:off x="2213969" y="4650760"/>
            <a:ext cx="2355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shared_buffer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27FDAF3-4F6E-4501-B267-D3769E75696B}"/>
              </a:ext>
            </a:extLst>
          </p:cNvPr>
          <p:cNvSpPr/>
          <p:nvPr/>
        </p:nvSpPr>
        <p:spPr>
          <a:xfrm>
            <a:off x="5460106" y="4534602"/>
            <a:ext cx="1080000" cy="576000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size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36A89BE-18D3-429B-A6B8-01350BAEBDC5}"/>
              </a:ext>
            </a:extLst>
          </p:cNvPr>
          <p:cNvSpPr/>
          <p:nvPr/>
        </p:nvSpPr>
        <p:spPr>
          <a:xfrm>
            <a:off x="4380473" y="3683406"/>
            <a:ext cx="1080000" cy="57600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data_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FCA09C2-3FFC-4957-81DD-07C241C08261}"/>
              </a:ext>
            </a:extLst>
          </p:cNvPr>
          <p:cNvSpPr/>
          <p:nvPr/>
        </p:nvSpPr>
        <p:spPr>
          <a:xfrm>
            <a:off x="5460106" y="3683406"/>
            <a:ext cx="1080000" cy="576000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size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C206964-DB5B-4A69-AA1E-7A10B69B3BA7}"/>
              </a:ext>
            </a:extLst>
          </p:cNvPr>
          <p:cNvSpPr/>
          <p:nvPr/>
        </p:nvSpPr>
        <p:spPr>
          <a:xfrm>
            <a:off x="6598162" y="3683406"/>
            <a:ext cx="1080000" cy="576000"/>
          </a:xfrm>
          <a:prstGeom prst="rect">
            <a:avLst/>
          </a:prstGeom>
          <a:solidFill>
            <a:schemeClr val="bg1"/>
          </a:solidFill>
          <a:ln w="1270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lower bound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7BCC25D-D8B2-4EBC-8FC2-A3CD51FE4690}"/>
              </a:ext>
            </a:extLst>
          </p:cNvPr>
          <p:cNvSpPr/>
          <p:nvPr/>
        </p:nvSpPr>
        <p:spPr>
          <a:xfrm>
            <a:off x="7658830" y="3683406"/>
            <a:ext cx="1099332" cy="576000"/>
          </a:xfrm>
          <a:prstGeom prst="rect">
            <a:avLst/>
          </a:prstGeom>
          <a:solidFill>
            <a:schemeClr val="bg1"/>
          </a:solidFill>
          <a:ln w="1270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upper bound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0095E1-9C09-4304-B1A5-68088F2BCF99}"/>
              </a:ext>
            </a:extLst>
          </p:cNvPr>
          <p:cNvSpPr/>
          <p:nvPr/>
        </p:nvSpPr>
        <p:spPr>
          <a:xfrm>
            <a:off x="6598162" y="3683406"/>
            <a:ext cx="216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B7F94E5-ECA7-40BA-A32D-0C793195C05A}"/>
              </a:ext>
            </a:extLst>
          </p:cNvPr>
          <p:cNvSpPr/>
          <p:nvPr/>
        </p:nvSpPr>
        <p:spPr>
          <a:xfrm>
            <a:off x="6598162" y="4534602"/>
            <a:ext cx="1080000" cy="576000"/>
          </a:xfrm>
          <a:prstGeom prst="rect">
            <a:avLst/>
          </a:prstGeom>
          <a:solidFill>
            <a:schemeClr val="bg1"/>
          </a:solidFill>
          <a:ln w="1270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lower bound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B6FA8A9-D53D-431E-B719-892DC244034B}"/>
              </a:ext>
            </a:extLst>
          </p:cNvPr>
          <p:cNvSpPr/>
          <p:nvPr/>
        </p:nvSpPr>
        <p:spPr>
          <a:xfrm>
            <a:off x="7658829" y="4534602"/>
            <a:ext cx="1099333" cy="576000"/>
          </a:xfrm>
          <a:prstGeom prst="rect">
            <a:avLst/>
          </a:prstGeom>
          <a:solidFill>
            <a:schemeClr val="bg1"/>
          </a:solidFill>
          <a:ln w="12700"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upper bounnd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DAC0F2D-43A6-49DF-8719-A1C373E0792E}"/>
              </a:ext>
            </a:extLst>
          </p:cNvPr>
          <p:cNvSpPr/>
          <p:nvPr/>
        </p:nvSpPr>
        <p:spPr>
          <a:xfrm>
            <a:off x="6598163" y="4534602"/>
            <a:ext cx="216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D810809-96EA-4F81-8173-EDC6F4B1B4F1}"/>
              </a:ext>
            </a:extLst>
          </p:cNvPr>
          <p:cNvSpPr/>
          <p:nvPr/>
        </p:nvSpPr>
        <p:spPr>
          <a:xfrm>
            <a:off x="8804143" y="4534602"/>
            <a:ext cx="1080000" cy="576000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original</a:t>
            </a:r>
            <a:br>
              <a:rPr lang="en-US" altLang="ko-KR" sz="1400">
                <a:solidFill>
                  <a:schemeClr val="tx1"/>
                </a:solidFill>
              </a:rPr>
            </a:br>
            <a:r>
              <a:rPr lang="en-US" altLang="ko-KR" sz="1400">
                <a:solidFill>
                  <a:schemeClr val="tx1"/>
                </a:solidFill>
              </a:rPr>
              <a:t>buffer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CFA6FF5-C3FC-48E6-8152-DE1C7AEB0A61}"/>
              </a:ext>
            </a:extLst>
          </p:cNvPr>
          <p:cNvSpPr/>
          <p:nvPr/>
        </p:nvSpPr>
        <p:spPr>
          <a:xfrm>
            <a:off x="2949136" y="1439260"/>
            <a:ext cx="228600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9829DE36-24CE-4B16-8ECA-B6DDC15ECDF3}"/>
              </a:ext>
            </a:extLst>
          </p:cNvPr>
          <p:cNvCxnSpPr/>
          <p:nvPr/>
        </p:nvCxnSpPr>
        <p:spPr>
          <a:xfrm flipV="1">
            <a:off x="5242652" y="1230653"/>
            <a:ext cx="0" cy="336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61E36974-7F74-49F7-9191-638C635C0AAE}"/>
              </a:ext>
            </a:extLst>
          </p:cNvPr>
          <p:cNvCxnSpPr>
            <a:cxnSpLocks/>
          </p:cNvCxnSpPr>
          <p:nvPr/>
        </p:nvCxnSpPr>
        <p:spPr>
          <a:xfrm>
            <a:off x="2950152" y="1342260"/>
            <a:ext cx="2289506" cy="0"/>
          </a:xfrm>
          <a:prstGeom prst="line">
            <a:avLst/>
          </a:prstGeom>
          <a:ln>
            <a:solidFill>
              <a:srgbClr val="4472C4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62A817A-E543-42A7-B530-E08407BFBE11}"/>
              </a:ext>
            </a:extLst>
          </p:cNvPr>
          <p:cNvSpPr/>
          <p:nvPr/>
        </p:nvSpPr>
        <p:spPr>
          <a:xfrm>
            <a:off x="5135096" y="797373"/>
            <a:ext cx="8409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ea typeface="HY신명조" panose="02030600000101010101" pitchFamily="18" charset="-127"/>
              </a:rPr>
              <a:t>capacity</a:t>
            </a:r>
            <a:endParaRPr lang="ko-KR" altLang="en-US" sz="1400">
              <a:solidFill>
                <a:srgbClr val="4472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535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3097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buffer.alloc_shared_buffer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A.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기본적으로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buffe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다음과 같은 구조로 되어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17B32C-D24C-4024-9045-CEE29E4CA26B}"/>
              </a:ext>
            </a:extLst>
          </p:cNvPr>
          <p:cNvSpPr txBox="1"/>
          <p:nvPr/>
        </p:nvSpPr>
        <p:spPr>
          <a:xfrm>
            <a:off x="2942896" y="1485412"/>
            <a:ext cx="45833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shared_buffer baz =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alloc_shared_buffer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(1000);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D27008A-6581-4AFE-B8B1-77317838D1EA}"/>
              </a:ext>
            </a:extLst>
          </p:cNvPr>
          <p:cNvCxnSpPr>
            <a:cxnSpLocks/>
          </p:cNvCxnSpPr>
          <p:nvPr/>
        </p:nvCxnSpPr>
        <p:spPr>
          <a:xfrm>
            <a:off x="6676023" y="1775542"/>
            <a:ext cx="552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13202ED-62A9-4BC9-B52B-27F94A6CA880}"/>
              </a:ext>
            </a:extLst>
          </p:cNvPr>
          <p:cNvSpPr txBox="1"/>
          <p:nvPr/>
        </p:nvSpPr>
        <p:spPr>
          <a:xfrm>
            <a:off x="7182159" y="1806045"/>
            <a:ext cx="1620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4472C4"/>
                </a:solidFill>
                <a:latin typeface="+mj-ea"/>
                <a:ea typeface="+mj-ea"/>
              </a:rPr>
              <a:t>할당 요구 버퍼 </a:t>
            </a:r>
            <a:r>
              <a:rPr lang="en-US" altLang="ko-KR" sz="1200">
                <a:solidFill>
                  <a:srgbClr val="4472C4"/>
                </a:solidFill>
                <a:latin typeface="+mj-ea"/>
                <a:ea typeface="+mj-ea"/>
              </a:rPr>
              <a:t>byte</a:t>
            </a:r>
            <a:endParaRPr lang="ko-KR" altLang="en-US" sz="1200">
              <a:solidFill>
                <a:srgbClr val="4472C4"/>
              </a:solidFill>
              <a:latin typeface="+mj-ea"/>
              <a:ea typeface="+mj-ea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D848E75-F7C3-4B63-9669-7CDE241DF085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013995" y="1806047"/>
            <a:ext cx="168164" cy="138498"/>
          </a:xfrm>
          <a:prstGeom prst="straightConnector1">
            <a:avLst/>
          </a:prstGeom>
          <a:ln>
            <a:solidFill>
              <a:srgbClr val="4472C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BC8DFF-DCF2-4256-B95D-2ECBF97A2AD7}"/>
              </a:ext>
            </a:extLst>
          </p:cNvPr>
          <p:cNvSpPr/>
          <p:nvPr/>
        </p:nvSpPr>
        <p:spPr>
          <a:xfrm>
            <a:off x="2942896" y="3067626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E3AAA81-5D46-4061-BA50-7A34D3DA6BE5}"/>
              </a:ext>
            </a:extLst>
          </p:cNvPr>
          <p:cNvCxnSpPr/>
          <p:nvPr/>
        </p:nvCxnSpPr>
        <p:spPr>
          <a:xfrm flipV="1">
            <a:off x="2942896" y="2587740"/>
            <a:ext cx="0" cy="336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A63ACC0-6BC1-42D2-9695-B9292B8C7AB0}"/>
              </a:ext>
            </a:extLst>
          </p:cNvPr>
          <p:cNvCxnSpPr/>
          <p:nvPr/>
        </p:nvCxnSpPr>
        <p:spPr>
          <a:xfrm flipV="1">
            <a:off x="8907511" y="2587740"/>
            <a:ext cx="0" cy="336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CA8BFF0-32E6-4F82-90EC-B3F20F9C4FF6}"/>
              </a:ext>
            </a:extLst>
          </p:cNvPr>
          <p:cNvCxnSpPr>
            <a:cxnSpLocks/>
          </p:cNvCxnSpPr>
          <p:nvPr/>
        </p:nvCxnSpPr>
        <p:spPr>
          <a:xfrm>
            <a:off x="2942896" y="2713864"/>
            <a:ext cx="5964615" cy="0"/>
          </a:xfrm>
          <a:prstGeom prst="line">
            <a:avLst/>
          </a:prstGeom>
          <a:ln>
            <a:solidFill>
              <a:srgbClr val="4472C4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C50B89A-CA6E-47FD-A546-201EF5C6A076}"/>
              </a:ext>
            </a:extLst>
          </p:cNvPr>
          <p:cNvSpPr/>
          <p:nvPr/>
        </p:nvSpPr>
        <p:spPr>
          <a:xfrm>
            <a:off x="2566407" y="3621690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ea typeface="HY신명조" panose="02030600000101010101" pitchFamily="18" charset="-127"/>
              </a:rPr>
              <a:t>data()</a:t>
            </a:r>
            <a:endParaRPr lang="ko-KR" altLang="en-US" sz="1400">
              <a:solidFill>
                <a:srgbClr val="4472C4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AE1894C-9C35-4426-9E13-AA6046957AC6}"/>
              </a:ext>
            </a:extLst>
          </p:cNvPr>
          <p:cNvSpPr/>
          <p:nvPr/>
        </p:nvSpPr>
        <p:spPr>
          <a:xfrm>
            <a:off x="3516755" y="2386686"/>
            <a:ext cx="9460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ea typeface="HY신명조" panose="02030600000101010101" pitchFamily="18" charset="-127"/>
              </a:rPr>
              <a:t>size() = 0</a:t>
            </a:r>
            <a:endParaRPr lang="ko-KR" altLang="en-US" sz="1400">
              <a:solidFill>
                <a:srgbClr val="4472C4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243A5D3-0142-4261-AB4B-F28F376BC659}"/>
              </a:ext>
            </a:extLst>
          </p:cNvPr>
          <p:cNvSpPr/>
          <p:nvPr/>
        </p:nvSpPr>
        <p:spPr>
          <a:xfrm>
            <a:off x="5207171" y="2386686"/>
            <a:ext cx="14885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ea typeface="HY신명조" panose="02030600000101010101" pitchFamily="18" charset="-127"/>
              </a:rPr>
              <a:t>capacity = 1000</a:t>
            </a:r>
            <a:endParaRPr lang="ko-KR" altLang="en-US" sz="1400">
              <a:solidFill>
                <a:srgbClr val="4472C4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B858A2-2527-454B-8AAF-B1A901C4223A}"/>
              </a:ext>
            </a:extLst>
          </p:cNvPr>
          <p:cNvSpPr txBox="1"/>
          <p:nvPr/>
        </p:nvSpPr>
        <p:spPr>
          <a:xfrm>
            <a:off x="1745796" y="5038949"/>
            <a:ext cx="9016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alloc_shared_buffe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20byte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버퍼를 할당하며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data()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에는 할당받은 버퍼 포인터가 들어가며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0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AF6F111-5C64-47A3-AD52-B96F0D0A175C}"/>
              </a:ext>
            </a:extLst>
          </p:cNvPr>
          <p:cNvSpPr/>
          <p:nvPr/>
        </p:nvSpPr>
        <p:spPr>
          <a:xfrm>
            <a:off x="2492158" y="2266787"/>
            <a:ext cx="100219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>
                <a:solidFill>
                  <a:srgbClr val="4472C4"/>
                </a:solidFill>
                <a:ea typeface="HY신명조" panose="02030600000101010101" pitchFamily="18" charset="-127"/>
              </a:rPr>
              <a:t>[lower bound]</a:t>
            </a:r>
            <a:endParaRPr lang="ko-KR" altLang="en-US" sz="1000">
              <a:solidFill>
                <a:srgbClr val="4472C4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C51AFB4-868E-49DB-86EB-CD95E8CA61DF}"/>
              </a:ext>
            </a:extLst>
          </p:cNvPr>
          <p:cNvSpPr/>
          <p:nvPr/>
        </p:nvSpPr>
        <p:spPr>
          <a:xfrm>
            <a:off x="8368901" y="2320729"/>
            <a:ext cx="102624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>
                <a:solidFill>
                  <a:srgbClr val="4472C4"/>
                </a:solidFill>
                <a:ea typeface="HY신명조" panose="02030600000101010101" pitchFamily="18" charset="-127"/>
              </a:rPr>
              <a:t>[upper bound]</a:t>
            </a:r>
            <a:endParaRPr lang="ko-KR" altLang="en-US" sz="1000">
              <a:solidFill>
                <a:srgbClr val="4472C4"/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BE01AEE-15CD-4811-92F2-EF6A14738F44}"/>
              </a:ext>
            </a:extLst>
          </p:cNvPr>
          <p:cNvCxnSpPr>
            <a:cxnSpLocks/>
          </p:cNvCxnSpPr>
          <p:nvPr/>
        </p:nvCxnSpPr>
        <p:spPr>
          <a:xfrm flipH="1" flipV="1">
            <a:off x="2929046" y="3445334"/>
            <a:ext cx="3340" cy="198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78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89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buffer.append&lt;T&gt;.1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B.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앞에서 할다아받은 버퍼에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 변수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100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append&lt;int&gt;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써넣으면 다음과 같이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3217806" y="2829629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699A5B9-DE44-42AC-9839-8E46F1F36FD2}"/>
              </a:ext>
            </a:extLst>
          </p:cNvPr>
          <p:cNvCxnSpPr>
            <a:cxnSpLocks/>
          </p:cNvCxnSpPr>
          <p:nvPr/>
        </p:nvCxnSpPr>
        <p:spPr>
          <a:xfrm>
            <a:off x="3217806" y="2554666"/>
            <a:ext cx="0" cy="225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F6F239-5DF7-4EE7-BF85-91FA0C2D2DD7}"/>
              </a:ext>
            </a:extLst>
          </p:cNvPr>
          <p:cNvSpPr/>
          <p:nvPr/>
        </p:nvSpPr>
        <p:spPr>
          <a:xfrm>
            <a:off x="2896551" y="2282698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ea typeface="HY신명조" panose="02030600000101010101" pitchFamily="18" charset="-127"/>
              </a:rPr>
              <a:t>data()</a:t>
            </a:r>
            <a:endParaRPr lang="ko-KR" altLang="en-US" sz="1400">
              <a:solidFill>
                <a:srgbClr val="4472C4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58249B8-01FF-4B8A-A250-E20810F3474E}"/>
              </a:ext>
            </a:extLst>
          </p:cNvPr>
          <p:cNvSpPr/>
          <p:nvPr/>
        </p:nvSpPr>
        <p:spPr>
          <a:xfrm>
            <a:off x="2983138" y="3637802"/>
            <a:ext cx="10086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 () = 4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3217806" y="2826324"/>
            <a:ext cx="73129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100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929045" y="1284221"/>
            <a:ext cx="21627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baz.append&lt;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int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&gt;(100);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3C4EEB5-208D-4D39-B82F-EE60BEE3A48F}"/>
              </a:ext>
            </a:extLst>
          </p:cNvPr>
          <p:cNvCxnSpPr/>
          <p:nvPr/>
        </p:nvCxnSpPr>
        <p:spPr>
          <a:xfrm>
            <a:off x="4544724" y="1569604"/>
            <a:ext cx="336331" cy="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0797082-629E-4E9C-9BEE-67E174552799}"/>
              </a:ext>
            </a:extLst>
          </p:cNvPr>
          <p:cNvSpPr txBox="1"/>
          <p:nvPr/>
        </p:nvSpPr>
        <p:spPr>
          <a:xfrm>
            <a:off x="5366047" y="1498683"/>
            <a:ext cx="3993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4472C4"/>
                </a:solidFill>
                <a:latin typeface="+mn-ea"/>
              </a:rPr>
              <a:t>써넣을 값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27063F43-322F-45FB-A354-7E92808837A2}"/>
              </a:ext>
            </a:extLst>
          </p:cNvPr>
          <p:cNvCxnSpPr>
            <a:cxnSpLocks/>
            <a:stCxn id="43" idx="1"/>
          </p:cNvCxnSpPr>
          <p:nvPr/>
        </p:nvCxnSpPr>
        <p:spPr>
          <a:xfrm flipH="1" flipV="1">
            <a:off x="4881055" y="1600108"/>
            <a:ext cx="484992" cy="37075"/>
          </a:xfrm>
          <a:prstGeom prst="straightConnector1">
            <a:avLst/>
          </a:prstGeom>
          <a:ln>
            <a:solidFill>
              <a:srgbClr val="4472C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070C846-F9C9-4E46-A877-C203D4BC039E}"/>
              </a:ext>
            </a:extLst>
          </p:cNvPr>
          <p:cNvCxnSpPr/>
          <p:nvPr/>
        </p:nvCxnSpPr>
        <p:spPr>
          <a:xfrm>
            <a:off x="4015998" y="1577565"/>
            <a:ext cx="336331" cy="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147B2D2-4664-47E8-A8F8-CB2E0EDBECCF}"/>
              </a:ext>
            </a:extLst>
          </p:cNvPr>
          <p:cNvSpPr txBox="1"/>
          <p:nvPr/>
        </p:nvSpPr>
        <p:spPr>
          <a:xfrm>
            <a:off x="4737234" y="1817233"/>
            <a:ext cx="4641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4472C4"/>
                </a:solidFill>
                <a:latin typeface="+mn-ea"/>
              </a:rPr>
              <a:t>써넣을 값의 자료형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 int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형을 써넣으므로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4byte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의 크기를 가진다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B9E71B5-3CFC-43DC-A667-C7B43B3BB1D5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4264270" y="1625711"/>
            <a:ext cx="472964" cy="330022"/>
          </a:xfrm>
          <a:prstGeom prst="straightConnector1">
            <a:avLst/>
          </a:prstGeom>
          <a:ln>
            <a:solidFill>
              <a:srgbClr val="4472C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2B85799-59D6-4A6B-81FA-AD9715470E99}"/>
              </a:ext>
            </a:extLst>
          </p:cNvPr>
          <p:cNvSpPr txBox="1"/>
          <p:nvPr/>
        </p:nvSpPr>
        <p:spPr>
          <a:xfrm>
            <a:off x="1778656" y="5077980"/>
            <a:ext cx="770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data()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그대로고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형의 크기인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4byte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증가한다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FEC4A9-5166-4304-B4E3-0E677AD3A5B2}"/>
              </a:ext>
            </a:extLst>
          </p:cNvPr>
          <p:cNvSpPr/>
          <p:nvPr/>
        </p:nvSpPr>
        <p:spPr>
          <a:xfrm>
            <a:off x="3003164" y="3414592"/>
            <a:ext cx="9459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sizeof(int)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22" name="왼쪽 중괄호 21">
            <a:extLst>
              <a:ext uri="{FF2B5EF4-FFF2-40B4-BE49-F238E27FC236}">
                <a16:creationId xmlns:a16="http://schemas.microsoft.com/office/drawing/2014/main" id="{39429AEE-C98A-4377-B905-1065D5CD1804}"/>
              </a:ext>
            </a:extLst>
          </p:cNvPr>
          <p:cNvSpPr/>
          <p:nvPr/>
        </p:nvSpPr>
        <p:spPr>
          <a:xfrm rot="16200000">
            <a:off x="3467174" y="2985223"/>
            <a:ext cx="180000" cy="678738"/>
          </a:xfrm>
          <a:prstGeom prst="leftBrac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520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70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89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buffer.append&lt;T&gt;.2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C.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다시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uint64_t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 변수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1234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append&lt;uint64_t&gt;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써넣으면 다음과 같이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929046" y="2332552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699A5B9-DE44-42AC-9839-8E46F1F36FD2}"/>
              </a:ext>
            </a:extLst>
          </p:cNvPr>
          <p:cNvCxnSpPr>
            <a:cxnSpLocks/>
          </p:cNvCxnSpPr>
          <p:nvPr/>
        </p:nvCxnSpPr>
        <p:spPr>
          <a:xfrm flipH="1" flipV="1">
            <a:off x="2929046" y="2721434"/>
            <a:ext cx="3340" cy="198610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F6F239-5DF7-4EE7-BF85-91FA0C2D2DD7}"/>
              </a:ext>
            </a:extLst>
          </p:cNvPr>
          <p:cNvSpPr/>
          <p:nvPr/>
        </p:nvSpPr>
        <p:spPr>
          <a:xfrm>
            <a:off x="2579439" y="3010606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data()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2929046" y="2336562"/>
            <a:ext cx="73129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100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872892" y="1332590"/>
            <a:ext cx="2448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baz.append&lt;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float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&gt;(3.14f);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B85799-59D6-4A6B-81FA-AD9715470E99}"/>
              </a:ext>
            </a:extLst>
          </p:cNvPr>
          <p:cNvSpPr txBox="1"/>
          <p:nvPr/>
        </p:nvSpPr>
        <p:spPr>
          <a:xfrm>
            <a:off x="1778656" y="4981987"/>
            <a:ext cx="770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data()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그대로고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형의 크기인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4byte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증가한다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FEC4A9-5166-4304-B4E3-0E677AD3A5B2}"/>
              </a:ext>
            </a:extLst>
          </p:cNvPr>
          <p:cNvSpPr/>
          <p:nvPr/>
        </p:nvSpPr>
        <p:spPr>
          <a:xfrm>
            <a:off x="3458327" y="2907848"/>
            <a:ext cx="136360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sizeof(float)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C10B1-FF0D-4DCD-8594-EF8FDD6CC588}"/>
              </a:ext>
            </a:extLst>
          </p:cNvPr>
          <p:cNvSpPr/>
          <p:nvPr/>
        </p:nvSpPr>
        <p:spPr>
          <a:xfrm>
            <a:off x="3660335" y="2330644"/>
            <a:ext cx="75600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3.14f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9" name="왼쪽 중괄호 28">
            <a:extLst>
              <a:ext uri="{FF2B5EF4-FFF2-40B4-BE49-F238E27FC236}">
                <a16:creationId xmlns:a16="http://schemas.microsoft.com/office/drawing/2014/main" id="{4D2D4CDE-455E-404F-BEB0-F827C4A1C4DF}"/>
              </a:ext>
            </a:extLst>
          </p:cNvPr>
          <p:cNvSpPr/>
          <p:nvPr/>
        </p:nvSpPr>
        <p:spPr>
          <a:xfrm rot="16200000">
            <a:off x="3941941" y="2435139"/>
            <a:ext cx="192787" cy="756000"/>
          </a:xfrm>
          <a:prstGeom prst="leftBrac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520B6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CCC79C9-42B0-4F32-AB1E-EC3F851EB8B2}"/>
              </a:ext>
            </a:extLst>
          </p:cNvPr>
          <p:cNvSpPr/>
          <p:nvPr/>
        </p:nvSpPr>
        <p:spPr>
          <a:xfrm>
            <a:off x="3175334" y="1753697"/>
            <a:ext cx="9460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8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9" name="왼쪽 중괄호 38">
            <a:extLst>
              <a:ext uri="{FF2B5EF4-FFF2-40B4-BE49-F238E27FC236}">
                <a16:creationId xmlns:a16="http://schemas.microsoft.com/office/drawing/2014/main" id="{06A1F054-4D88-4E20-AD1B-8D5D8800B8D5}"/>
              </a:ext>
            </a:extLst>
          </p:cNvPr>
          <p:cNvSpPr/>
          <p:nvPr/>
        </p:nvSpPr>
        <p:spPr>
          <a:xfrm rot="5400000">
            <a:off x="3590620" y="1445004"/>
            <a:ext cx="144000" cy="1440000"/>
          </a:xfrm>
          <a:prstGeom prst="leftBrace">
            <a:avLst>
              <a:gd name="adj1" fmla="val 15640"/>
              <a:gd name="adj2" fmla="val 50000"/>
            </a:avLst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520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28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89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buffer.append&lt;T&gt;.2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C.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다시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uint64_t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 변수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1234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append&lt;uint64_t&gt;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써넣으면 다음과 같이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929046" y="2223368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699A5B9-DE44-42AC-9839-8E46F1F36FD2}"/>
              </a:ext>
            </a:extLst>
          </p:cNvPr>
          <p:cNvCxnSpPr>
            <a:cxnSpLocks/>
          </p:cNvCxnSpPr>
          <p:nvPr/>
        </p:nvCxnSpPr>
        <p:spPr>
          <a:xfrm flipH="1" flipV="1">
            <a:off x="2929046" y="2612250"/>
            <a:ext cx="3340" cy="198610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F6F239-5DF7-4EE7-BF85-91FA0C2D2DD7}"/>
              </a:ext>
            </a:extLst>
          </p:cNvPr>
          <p:cNvSpPr/>
          <p:nvPr/>
        </p:nvSpPr>
        <p:spPr>
          <a:xfrm>
            <a:off x="2579439" y="2901422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data()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2929046" y="2224988"/>
            <a:ext cx="73129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100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872414" y="1221162"/>
            <a:ext cx="27606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baz.append&lt;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uint64_t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&gt;(1234);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B85799-59D6-4A6B-81FA-AD9715470E99}"/>
              </a:ext>
            </a:extLst>
          </p:cNvPr>
          <p:cNvSpPr txBox="1"/>
          <p:nvPr/>
        </p:nvSpPr>
        <p:spPr>
          <a:xfrm>
            <a:off x="1778656" y="4981987"/>
            <a:ext cx="770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data()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그대로고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형의 크기인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4byte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증가한다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FEC4A9-5166-4304-B4E3-0E677AD3A5B2}"/>
              </a:ext>
            </a:extLst>
          </p:cNvPr>
          <p:cNvSpPr/>
          <p:nvPr/>
        </p:nvSpPr>
        <p:spPr>
          <a:xfrm>
            <a:off x="4462435" y="2810696"/>
            <a:ext cx="136360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sizeof(uint64_t)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29" name="왼쪽 중괄호 28">
            <a:extLst>
              <a:ext uri="{FF2B5EF4-FFF2-40B4-BE49-F238E27FC236}">
                <a16:creationId xmlns:a16="http://schemas.microsoft.com/office/drawing/2014/main" id="{4D2D4CDE-455E-404F-BEB0-F827C4A1C4DF}"/>
              </a:ext>
            </a:extLst>
          </p:cNvPr>
          <p:cNvSpPr/>
          <p:nvPr/>
        </p:nvSpPr>
        <p:spPr>
          <a:xfrm rot="16200000">
            <a:off x="5073575" y="1976375"/>
            <a:ext cx="192787" cy="1479224"/>
          </a:xfrm>
          <a:prstGeom prst="leftBrac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520B6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CCC79C9-42B0-4F32-AB1E-EC3F851EB8B2}"/>
              </a:ext>
            </a:extLst>
          </p:cNvPr>
          <p:cNvSpPr/>
          <p:nvPr/>
        </p:nvSpPr>
        <p:spPr>
          <a:xfrm>
            <a:off x="3877177" y="1644513"/>
            <a:ext cx="10454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16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9" name="왼쪽 중괄호 38">
            <a:extLst>
              <a:ext uri="{FF2B5EF4-FFF2-40B4-BE49-F238E27FC236}">
                <a16:creationId xmlns:a16="http://schemas.microsoft.com/office/drawing/2014/main" id="{06A1F054-4D88-4E20-AD1B-8D5D8800B8D5}"/>
              </a:ext>
            </a:extLst>
          </p:cNvPr>
          <p:cNvSpPr/>
          <p:nvPr/>
        </p:nvSpPr>
        <p:spPr>
          <a:xfrm rot="5400000">
            <a:off x="4373814" y="568389"/>
            <a:ext cx="193193" cy="3024056"/>
          </a:xfrm>
          <a:prstGeom prst="leftBrace">
            <a:avLst>
              <a:gd name="adj1" fmla="val 15640"/>
              <a:gd name="adj2" fmla="val 50000"/>
            </a:avLst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520B6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12C1D3-D0D8-428E-84B3-70E7E7163EE9}"/>
              </a:ext>
            </a:extLst>
          </p:cNvPr>
          <p:cNvSpPr/>
          <p:nvPr/>
        </p:nvSpPr>
        <p:spPr>
          <a:xfrm>
            <a:off x="3654674" y="2224988"/>
            <a:ext cx="75600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3.14f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C10B1-FF0D-4DCD-8594-EF8FDD6CC588}"/>
              </a:ext>
            </a:extLst>
          </p:cNvPr>
          <p:cNvSpPr/>
          <p:nvPr/>
        </p:nvSpPr>
        <p:spPr>
          <a:xfrm>
            <a:off x="4408412" y="2221754"/>
            <a:ext cx="1564115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1234</a:t>
            </a:r>
            <a:endParaRPr lang="ko-KR" alt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161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2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buffer.extract&lt;T&gt;.1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F.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extract&lt;T&gt;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버퍼에서 값을 읽어내 보자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656092" y="3012174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699A5B9-DE44-42AC-9839-8E46F1F36FD2}"/>
              </a:ext>
            </a:extLst>
          </p:cNvPr>
          <p:cNvCxnSpPr>
            <a:cxnSpLocks/>
          </p:cNvCxnSpPr>
          <p:nvPr/>
        </p:nvCxnSpPr>
        <p:spPr>
          <a:xfrm flipV="1">
            <a:off x="3420308" y="3373116"/>
            <a:ext cx="0" cy="344502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F6F239-5DF7-4EE7-BF85-91FA0C2D2DD7}"/>
              </a:ext>
            </a:extLst>
          </p:cNvPr>
          <p:cNvSpPr/>
          <p:nvPr/>
        </p:nvSpPr>
        <p:spPr>
          <a:xfrm>
            <a:off x="2993420" y="3696215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data()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2656092" y="3007017"/>
            <a:ext cx="731290" cy="30777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100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558776" y="1699133"/>
            <a:ext cx="2752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 v1 = baz.extract&lt;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int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FEC4A9-5166-4304-B4E3-0E677AD3A5B2}"/>
              </a:ext>
            </a:extLst>
          </p:cNvPr>
          <p:cNvSpPr/>
          <p:nvPr/>
        </p:nvSpPr>
        <p:spPr>
          <a:xfrm>
            <a:off x="2081062" y="2206766"/>
            <a:ext cx="188134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solidFill>
                  <a:srgbClr val="4472C4"/>
                </a:solidFill>
                <a:latin typeface="+mn-ea"/>
              </a:rPr>
              <a:t>4byte</a:t>
            </a:r>
          </a:p>
          <a:p>
            <a:pPr algn="ctr"/>
            <a:r>
              <a:rPr lang="ko-KR" altLang="en-US" sz="1200">
                <a:solidFill>
                  <a:srgbClr val="4472C4"/>
                </a:solidFill>
                <a:latin typeface="+mn-ea"/>
              </a:rPr>
              <a:t>추출한 크기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sizeof(int) 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BBEC5F-5095-48B2-AE6E-725E58873C29}"/>
              </a:ext>
            </a:extLst>
          </p:cNvPr>
          <p:cNvSpPr/>
          <p:nvPr/>
        </p:nvSpPr>
        <p:spPr>
          <a:xfrm>
            <a:off x="3687053" y="3703606"/>
            <a:ext cx="2773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4472C4"/>
                </a:solidFill>
                <a:latin typeface="+mn-ea"/>
              </a:rPr>
              <a:t>추출된 데이터 크기 만큼 더해진다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4" name="왼쪽 중괄호 43">
            <a:extLst>
              <a:ext uri="{FF2B5EF4-FFF2-40B4-BE49-F238E27FC236}">
                <a16:creationId xmlns:a16="http://schemas.microsoft.com/office/drawing/2014/main" id="{CF2BDECD-1227-43D7-A038-AC15D4845E8C}"/>
              </a:ext>
            </a:extLst>
          </p:cNvPr>
          <p:cNvSpPr/>
          <p:nvPr/>
        </p:nvSpPr>
        <p:spPr>
          <a:xfrm rot="5400000">
            <a:off x="2916578" y="2507185"/>
            <a:ext cx="136800" cy="648000"/>
          </a:xfrm>
          <a:prstGeom prst="leftBrac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B61933A-3F95-4EA3-A12E-BFF26DC8D554}"/>
              </a:ext>
            </a:extLst>
          </p:cNvPr>
          <p:cNvCxnSpPr>
            <a:cxnSpLocks/>
          </p:cNvCxnSpPr>
          <p:nvPr/>
        </p:nvCxnSpPr>
        <p:spPr>
          <a:xfrm>
            <a:off x="2656092" y="3548425"/>
            <a:ext cx="7435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791AF19-D599-498B-97F7-52F21EA55C91}"/>
              </a:ext>
            </a:extLst>
          </p:cNvPr>
          <p:cNvSpPr/>
          <p:nvPr/>
        </p:nvSpPr>
        <p:spPr>
          <a:xfrm>
            <a:off x="4107866" y="2215659"/>
            <a:ext cx="271099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12</a:t>
            </a:r>
          </a:p>
          <a:p>
            <a:r>
              <a:rPr lang="ko-KR" altLang="en-US" sz="1200">
                <a:solidFill>
                  <a:srgbClr val="4472C4"/>
                </a:solidFill>
                <a:latin typeface="+mn-ea"/>
              </a:rPr>
              <a:t>추출된 크기인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4 byte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만큼 줄어든다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</a:t>
            </a:r>
          </a:p>
          <a:p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3" name="왼쪽 중괄호 32">
            <a:extLst>
              <a:ext uri="{FF2B5EF4-FFF2-40B4-BE49-F238E27FC236}">
                <a16:creationId xmlns:a16="http://schemas.microsoft.com/office/drawing/2014/main" id="{55E69425-57EE-4A25-A433-F69EDE7DD488}"/>
              </a:ext>
            </a:extLst>
          </p:cNvPr>
          <p:cNvSpPr/>
          <p:nvPr/>
        </p:nvSpPr>
        <p:spPr>
          <a:xfrm rot="5400000">
            <a:off x="4504651" y="1675500"/>
            <a:ext cx="136800" cy="2311372"/>
          </a:xfrm>
          <a:prstGeom prst="leftBrace">
            <a:avLst>
              <a:gd name="adj1" fmla="val 15640"/>
              <a:gd name="adj2" fmla="val 50000"/>
            </a:avLst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B3DA58-7E32-41EE-9927-2CB32F822050}"/>
              </a:ext>
            </a:extLst>
          </p:cNvPr>
          <p:cNvCxnSpPr/>
          <p:nvPr/>
        </p:nvCxnSpPr>
        <p:spPr>
          <a:xfrm>
            <a:off x="2656092" y="3373116"/>
            <a:ext cx="0" cy="344138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E46A8E7-6373-4B50-B0F7-F035862A9DA0}"/>
              </a:ext>
            </a:extLst>
          </p:cNvPr>
          <p:cNvSpPr/>
          <p:nvPr/>
        </p:nvSpPr>
        <p:spPr>
          <a:xfrm>
            <a:off x="3416235" y="3007017"/>
            <a:ext cx="75600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3.14f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C7AB6D8-E2B1-444D-A6A3-9D33AE8C46B4}"/>
              </a:ext>
            </a:extLst>
          </p:cNvPr>
          <p:cNvSpPr/>
          <p:nvPr/>
        </p:nvSpPr>
        <p:spPr>
          <a:xfrm>
            <a:off x="4164622" y="3007017"/>
            <a:ext cx="1564115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1234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483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2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buffer.extract&lt;T&gt;.2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G.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extract&lt;T&gt;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uint64_t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값을 다시 읽어낸다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656089" y="3001140"/>
            <a:ext cx="5940000" cy="288000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699A5B9-DE44-42AC-9839-8E46F1F36FD2}"/>
              </a:ext>
            </a:extLst>
          </p:cNvPr>
          <p:cNvCxnSpPr>
            <a:cxnSpLocks/>
          </p:cNvCxnSpPr>
          <p:nvPr/>
        </p:nvCxnSpPr>
        <p:spPr>
          <a:xfrm flipV="1">
            <a:off x="4156969" y="3372447"/>
            <a:ext cx="0" cy="344502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F6F239-5DF7-4EE7-BF85-91FA0C2D2DD7}"/>
              </a:ext>
            </a:extLst>
          </p:cNvPr>
          <p:cNvSpPr/>
          <p:nvPr/>
        </p:nvSpPr>
        <p:spPr>
          <a:xfrm>
            <a:off x="3866561" y="3695546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data()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2656089" y="3006348"/>
            <a:ext cx="731290" cy="30777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100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552496" y="1704091"/>
            <a:ext cx="3021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 v2 = baz.extract&lt;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float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FEC4A9-5166-4304-B4E3-0E677AD3A5B2}"/>
              </a:ext>
            </a:extLst>
          </p:cNvPr>
          <p:cNvSpPr/>
          <p:nvPr/>
        </p:nvSpPr>
        <p:spPr>
          <a:xfrm>
            <a:off x="2497957" y="2214990"/>
            <a:ext cx="236096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solidFill>
                  <a:srgbClr val="4472C4"/>
                </a:solidFill>
                <a:latin typeface="+mn-ea"/>
              </a:rPr>
              <a:t>4byte</a:t>
            </a:r>
          </a:p>
          <a:p>
            <a:pPr algn="ctr"/>
            <a:r>
              <a:rPr lang="ko-KR" altLang="en-US" sz="1200">
                <a:solidFill>
                  <a:srgbClr val="4472C4"/>
                </a:solidFill>
                <a:latin typeface="+mn-ea"/>
              </a:rPr>
              <a:t>추출한 크기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sizeof(float) 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4" name="왼쪽 중괄호 43">
            <a:extLst>
              <a:ext uri="{FF2B5EF4-FFF2-40B4-BE49-F238E27FC236}">
                <a16:creationId xmlns:a16="http://schemas.microsoft.com/office/drawing/2014/main" id="{CF2BDECD-1227-43D7-A038-AC15D4845E8C}"/>
              </a:ext>
            </a:extLst>
          </p:cNvPr>
          <p:cNvSpPr/>
          <p:nvPr/>
        </p:nvSpPr>
        <p:spPr>
          <a:xfrm rot="5400000">
            <a:off x="3693378" y="2456116"/>
            <a:ext cx="144000" cy="755999"/>
          </a:xfrm>
          <a:prstGeom prst="leftBrac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B61933A-3F95-4EA3-A12E-BFF26DC8D554}"/>
              </a:ext>
            </a:extLst>
          </p:cNvPr>
          <p:cNvCxnSpPr>
            <a:cxnSpLocks/>
          </p:cNvCxnSpPr>
          <p:nvPr/>
        </p:nvCxnSpPr>
        <p:spPr>
          <a:xfrm>
            <a:off x="3387378" y="3547756"/>
            <a:ext cx="756000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791AF19-D599-498B-97F7-52F21EA55C91}"/>
              </a:ext>
            </a:extLst>
          </p:cNvPr>
          <p:cNvSpPr/>
          <p:nvPr/>
        </p:nvSpPr>
        <p:spPr>
          <a:xfrm>
            <a:off x="4722012" y="2214990"/>
            <a:ext cx="313656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8</a:t>
            </a:r>
          </a:p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size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는 추출된 크기인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4 byte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만큼 줄어든다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</a:t>
            </a:r>
          </a:p>
          <a:p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3" name="왼쪽 중괄호 32">
            <a:extLst>
              <a:ext uri="{FF2B5EF4-FFF2-40B4-BE49-F238E27FC236}">
                <a16:creationId xmlns:a16="http://schemas.microsoft.com/office/drawing/2014/main" id="{55E69425-57EE-4A25-A433-F69EDE7DD488}"/>
              </a:ext>
            </a:extLst>
          </p:cNvPr>
          <p:cNvSpPr/>
          <p:nvPr/>
        </p:nvSpPr>
        <p:spPr>
          <a:xfrm rot="5400000">
            <a:off x="4895902" y="2080302"/>
            <a:ext cx="144000" cy="1507626"/>
          </a:xfrm>
          <a:prstGeom prst="leftBrace">
            <a:avLst>
              <a:gd name="adj1" fmla="val 15640"/>
              <a:gd name="adj2" fmla="val 50000"/>
            </a:avLst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4DC33C-844E-489B-9CFD-1EE400C26D7F}"/>
              </a:ext>
            </a:extLst>
          </p:cNvPr>
          <p:cNvSpPr txBox="1"/>
          <p:nvPr/>
        </p:nvSpPr>
        <p:spPr>
          <a:xfrm>
            <a:off x="1735567" y="4756978"/>
            <a:ext cx="7708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data()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sizeof(uint64_t)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더해지고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sizeof(uint64_t)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감소한다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321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대입된다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E076999-2611-4A02-BD74-B108FB9E7AA1}"/>
              </a:ext>
            </a:extLst>
          </p:cNvPr>
          <p:cNvCxnSpPr/>
          <p:nvPr/>
        </p:nvCxnSpPr>
        <p:spPr>
          <a:xfrm>
            <a:off x="3387378" y="3351408"/>
            <a:ext cx="0" cy="344138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4116406-D684-45C9-AA32-4D8D4FE7B4D3}"/>
              </a:ext>
            </a:extLst>
          </p:cNvPr>
          <p:cNvSpPr/>
          <p:nvPr/>
        </p:nvSpPr>
        <p:spPr>
          <a:xfrm>
            <a:off x="3415249" y="3005160"/>
            <a:ext cx="756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3.14f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E8A4FD7-CE7B-4B3E-AB29-F648CA16C11A}"/>
              </a:ext>
            </a:extLst>
          </p:cNvPr>
          <p:cNvSpPr/>
          <p:nvPr/>
        </p:nvSpPr>
        <p:spPr>
          <a:xfrm>
            <a:off x="4157601" y="2999980"/>
            <a:ext cx="1564115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1234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552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2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buffer.extract&lt;T&gt;.2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G.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extract&lt;T&gt;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uint64_t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값을 다시 읽어낸다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656089" y="2984210"/>
            <a:ext cx="5940000" cy="288000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699A5B9-DE44-42AC-9839-8E46F1F36FD2}"/>
              </a:ext>
            </a:extLst>
          </p:cNvPr>
          <p:cNvCxnSpPr>
            <a:cxnSpLocks/>
          </p:cNvCxnSpPr>
          <p:nvPr/>
        </p:nvCxnSpPr>
        <p:spPr>
          <a:xfrm flipV="1">
            <a:off x="5740112" y="3345152"/>
            <a:ext cx="0" cy="344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F6F239-5DF7-4EE7-BF85-91FA0C2D2DD7}"/>
              </a:ext>
            </a:extLst>
          </p:cNvPr>
          <p:cNvSpPr/>
          <p:nvPr/>
        </p:nvSpPr>
        <p:spPr>
          <a:xfrm>
            <a:off x="5313224" y="3668251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data()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2656089" y="2979053"/>
            <a:ext cx="731290" cy="30777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100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552496" y="1704092"/>
            <a:ext cx="3350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 v3 = baz.extract&lt;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uint64_t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FEC4A9-5166-4304-B4E3-0E677AD3A5B2}"/>
              </a:ext>
            </a:extLst>
          </p:cNvPr>
          <p:cNvSpPr/>
          <p:nvPr/>
        </p:nvSpPr>
        <p:spPr>
          <a:xfrm>
            <a:off x="3316825" y="2187695"/>
            <a:ext cx="236096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solidFill>
                  <a:srgbClr val="4472C4"/>
                </a:solidFill>
                <a:latin typeface="+mn-ea"/>
              </a:rPr>
              <a:t>8byte</a:t>
            </a:r>
          </a:p>
          <a:p>
            <a:pPr algn="ctr"/>
            <a:r>
              <a:rPr lang="ko-KR" altLang="en-US" sz="1200">
                <a:solidFill>
                  <a:srgbClr val="4472C4"/>
                </a:solidFill>
                <a:latin typeface="+mn-ea"/>
              </a:rPr>
              <a:t>추출한 크기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sizeof(uint64_t) 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4" name="왼쪽 중괄호 43">
            <a:extLst>
              <a:ext uri="{FF2B5EF4-FFF2-40B4-BE49-F238E27FC236}">
                <a16:creationId xmlns:a16="http://schemas.microsoft.com/office/drawing/2014/main" id="{CF2BDECD-1227-43D7-A038-AC15D4845E8C}"/>
              </a:ext>
            </a:extLst>
          </p:cNvPr>
          <p:cNvSpPr/>
          <p:nvPr/>
        </p:nvSpPr>
        <p:spPr>
          <a:xfrm rot="5400000">
            <a:off x="4865803" y="2075264"/>
            <a:ext cx="179032" cy="149814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B61933A-3F95-4EA3-A12E-BFF26DC8D554}"/>
              </a:ext>
            </a:extLst>
          </p:cNvPr>
          <p:cNvCxnSpPr>
            <a:cxnSpLocks/>
          </p:cNvCxnSpPr>
          <p:nvPr/>
        </p:nvCxnSpPr>
        <p:spPr>
          <a:xfrm>
            <a:off x="4151654" y="3520461"/>
            <a:ext cx="1588458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791AF19-D599-498B-97F7-52F21EA55C91}"/>
              </a:ext>
            </a:extLst>
          </p:cNvPr>
          <p:cNvSpPr/>
          <p:nvPr/>
        </p:nvSpPr>
        <p:spPr>
          <a:xfrm>
            <a:off x="5731951" y="2187695"/>
            <a:ext cx="321113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0</a:t>
            </a:r>
          </a:p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size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는 추출된 크기인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8 byte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만큼 줄어든다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</a:t>
            </a:r>
          </a:p>
          <a:p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4DC33C-844E-489B-9CFD-1EE400C26D7F}"/>
              </a:ext>
            </a:extLst>
          </p:cNvPr>
          <p:cNvSpPr txBox="1"/>
          <p:nvPr/>
        </p:nvSpPr>
        <p:spPr>
          <a:xfrm>
            <a:off x="1735567" y="4756978"/>
            <a:ext cx="7708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data()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sizeof(uint64_t)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더해지고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sizeof(uint64_t)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감소한다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321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대입된다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E076999-2611-4A02-BD74-B108FB9E7AA1}"/>
              </a:ext>
            </a:extLst>
          </p:cNvPr>
          <p:cNvCxnSpPr/>
          <p:nvPr/>
        </p:nvCxnSpPr>
        <p:spPr>
          <a:xfrm>
            <a:off x="4151654" y="3324113"/>
            <a:ext cx="0" cy="344138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95C0B9F-6F5C-4639-9F6A-1DA980AE8B67}"/>
              </a:ext>
            </a:extLst>
          </p:cNvPr>
          <p:cNvSpPr/>
          <p:nvPr/>
        </p:nvSpPr>
        <p:spPr>
          <a:xfrm>
            <a:off x="3415249" y="2991513"/>
            <a:ext cx="756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3.14f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C10B1-FF0D-4DCD-8594-EF8FDD6CC588}"/>
              </a:ext>
            </a:extLst>
          </p:cNvPr>
          <p:cNvSpPr/>
          <p:nvPr/>
        </p:nvSpPr>
        <p:spPr>
          <a:xfrm>
            <a:off x="4178948" y="2992701"/>
            <a:ext cx="1564115" cy="28800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1234</a:t>
            </a:r>
            <a:endParaRPr lang="ko-KR" altLang="en-US" sz="1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242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2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buffer.extract&lt;T&gt;.3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H.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extract&lt;std::string_view&gt;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문자열 값을 다시 읽어낸다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929046" y="3018165"/>
            <a:ext cx="5940000" cy="288000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699A5B9-DE44-42AC-9839-8E46F1F36FD2}"/>
              </a:ext>
            </a:extLst>
          </p:cNvPr>
          <p:cNvCxnSpPr>
            <a:cxnSpLocks/>
          </p:cNvCxnSpPr>
          <p:nvPr/>
        </p:nvCxnSpPr>
        <p:spPr>
          <a:xfrm flipV="1">
            <a:off x="7287797" y="3379107"/>
            <a:ext cx="0" cy="344502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F6F239-5DF7-4EE7-BF85-91FA0C2D2DD7}"/>
              </a:ext>
            </a:extLst>
          </p:cNvPr>
          <p:cNvSpPr/>
          <p:nvPr/>
        </p:nvSpPr>
        <p:spPr>
          <a:xfrm>
            <a:off x="6913459" y="3702206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data()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2929046" y="3013008"/>
            <a:ext cx="731290" cy="30777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100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552496" y="1089941"/>
            <a:ext cx="5711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 c = temp.extract&lt;</a:t>
            </a:r>
            <a:r>
              <a:rPr lang="en-US" altLang="ko-KR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std::string_view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&gt;();</a:t>
            </a:r>
            <a:endParaRPr lang="ko-KR" altLang="en-US" sz="2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C10B1-FF0D-4DCD-8594-EF8FDD6CC588}"/>
              </a:ext>
            </a:extLst>
          </p:cNvPr>
          <p:cNvSpPr/>
          <p:nvPr/>
        </p:nvSpPr>
        <p:spPr>
          <a:xfrm>
            <a:off x="3660335" y="3013008"/>
            <a:ext cx="1564115" cy="298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1234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3D031B-7800-4CCE-A1DB-26244D6EE595}"/>
              </a:ext>
            </a:extLst>
          </p:cNvPr>
          <p:cNvSpPr/>
          <p:nvPr/>
        </p:nvSpPr>
        <p:spPr>
          <a:xfrm>
            <a:off x="5224372" y="3018165"/>
            <a:ext cx="731290" cy="298800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5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8C31770-7000-490B-9F63-D4D151E0C147}"/>
              </a:ext>
            </a:extLst>
          </p:cNvPr>
          <p:cNvSpPr/>
          <p:nvPr/>
        </p:nvSpPr>
        <p:spPr>
          <a:xfrm>
            <a:off x="5958548" y="3018165"/>
            <a:ext cx="267282" cy="298800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t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817D290-63E9-4E92-9C48-9A89B76C7AC2}"/>
              </a:ext>
            </a:extLst>
          </p:cNvPr>
          <p:cNvSpPr/>
          <p:nvPr/>
        </p:nvSpPr>
        <p:spPr>
          <a:xfrm>
            <a:off x="6224384" y="3018165"/>
            <a:ext cx="267282" cy="298800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e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6F6470-FCD7-4899-833F-BA05B5A4580C}"/>
              </a:ext>
            </a:extLst>
          </p:cNvPr>
          <p:cNvSpPr/>
          <p:nvPr/>
        </p:nvSpPr>
        <p:spPr>
          <a:xfrm>
            <a:off x="6484068" y="3018165"/>
            <a:ext cx="267282" cy="298800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s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1C10C3E-F1A8-4E3D-9F47-3490A0E65D79}"/>
              </a:ext>
            </a:extLst>
          </p:cNvPr>
          <p:cNvSpPr/>
          <p:nvPr/>
        </p:nvSpPr>
        <p:spPr>
          <a:xfrm>
            <a:off x="6747644" y="3018165"/>
            <a:ext cx="271719" cy="298800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t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011C7FD-03E0-49A9-B995-13ECB4B559B9}"/>
              </a:ext>
            </a:extLst>
          </p:cNvPr>
          <p:cNvSpPr/>
          <p:nvPr/>
        </p:nvSpPr>
        <p:spPr>
          <a:xfrm>
            <a:off x="7020097" y="3018165"/>
            <a:ext cx="267282" cy="298800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0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791AF19-D599-498B-97F7-52F21EA55C91}"/>
              </a:ext>
            </a:extLst>
          </p:cNvPr>
          <p:cNvSpPr/>
          <p:nvPr/>
        </p:nvSpPr>
        <p:spPr>
          <a:xfrm>
            <a:off x="6722920" y="2572745"/>
            <a:ext cx="9460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0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4DC33C-844E-489B-9CFD-1EE400C26D7F}"/>
              </a:ext>
            </a:extLst>
          </p:cNvPr>
          <p:cNvSpPr txBox="1"/>
          <p:nvPr/>
        </p:nvSpPr>
        <p:spPr>
          <a:xfrm>
            <a:off x="1735567" y="1658932"/>
            <a:ext cx="7708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data()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문자열의 길이와 문자열 데이터의 크기인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9 byte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더해지고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그만큼 감소해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0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되고 만다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에는 문자열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“test”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대입된다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4540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F8FA4564-B458-408E-8CB6-36CB19FAC8AA}"/>
              </a:ext>
            </a:extLst>
          </p:cNvPr>
          <p:cNvSpPr/>
          <p:nvPr/>
        </p:nvSpPr>
        <p:spPr>
          <a:xfrm>
            <a:off x="2677887" y="4855039"/>
            <a:ext cx="360000" cy="304789"/>
          </a:xfrm>
          <a:prstGeom prst="rect">
            <a:avLst/>
          </a:prstGeom>
          <a:solidFill>
            <a:srgbClr val="FFFFCC"/>
          </a:solidFill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4F04AF2-E6B2-44AF-9532-BC2E3CD80DB4}"/>
              </a:ext>
            </a:extLst>
          </p:cNvPr>
          <p:cNvSpPr/>
          <p:nvPr/>
        </p:nvSpPr>
        <p:spPr>
          <a:xfrm>
            <a:off x="2460170" y="4786477"/>
            <a:ext cx="493486" cy="400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BD51BB2-E2ED-4D4A-BCAA-5F722FE436EC}"/>
              </a:ext>
            </a:extLst>
          </p:cNvPr>
          <p:cNvSpPr/>
          <p:nvPr/>
        </p:nvSpPr>
        <p:spPr>
          <a:xfrm>
            <a:off x="2569029" y="2206182"/>
            <a:ext cx="360000" cy="304789"/>
          </a:xfrm>
          <a:prstGeom prst="rect">
            <a:avLst/>
          </a:prstGeom>
          <a:solidFill>
            <a:srgbClr val="FFFFCC"/>
          </a:solidFill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89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buffer.append&lt;T&gt;.3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D.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다시 문자열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“test”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써넣으면 다음과 같이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929046" y="2211339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58249B8-01FF-4B8A-A250-E20810F3474E}"/>
              </a:ext>
            </a:extLst>
          </p:cNvPr>
          <p:cNvSpPr/>
          <p:nvPr/>
        </p:nvSpPr>
        <p:spPr>
          <a:xfrm>
            <a:off x="4594231" y="1632484"/>
            <a:ext cx="10454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16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566144" y="1161624"/>
            <a:ext cx="4631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baz.append&lt;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std::string_view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&gt;(“how are you?”);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3D031B-7800-4CCE-A1DB-26244D6EE595}"/>
              </a:ext>
            </a:extLst>
          </p:cNvPr>
          <p:cNvSpPr/>
          <p:nvPr/>
        </p:nvSpPr>
        <p:spPr>
          <a:xfrm>
            <a:off x="2945192" y="2206182"/>
            <a:ext cx="79200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12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8C31770-7000-490B-9F63-D4D151E0C147}"/>
              </a:ext>
            </a:extLst>
          </p:cNvPr>
          <p:cNvSpPr/>
          <p:nvPr/>
        </p:nvSpPr>
        <p:spPr>
          <a:xfrm>
            <a:off x="3733954" y="2206182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h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817D290-63E9-4E92-9C48-9A89B76C7AC2}"/>
              </a:ext>
            </a:extLst>
          </p:cNvPr>
          <p:cNvSpPr/>
          <p:nvPr/>
        </p:nvSpPr>
        <p:spPr>
          <a:xfrm>
            <a:off x="3999790" y="2206182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6F6470-FCD7-4899-833F-BA05B5A4580C}"/>
              </a:ext>
            </a:extLst>
          </p:cNvPr>
          <p:cNvSpPr/>
          <p:nvPr/>
        </p:nvSpPr>
        <p:spPr>
          <a:xfrm>
            <a:off x="4273122" y="2206182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w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1C10C3E-F1A8-4E3D-9F47-3490A0E65D79}"/>
              </a:ext>
            </a:extLst>
          </p:cNvPr>
          <p:cNvSpPr/>
          <p:nvPr/>
        </p:nvSpPr>
        <p:spPr>
          <a:xfrm>
            <a:off x="4550346" y="2206182"/>
            <a:ext cx="271719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7" name="왼쪽 중괄호 46">
            <a:extLst>
              <a:ext uri="{FF2B5EF4-FFF2-40B4-BE49-F238E27FC236}">
                <a16:creationId xmlns:a16="http://schemas.microsoft.com/office/drawing/2014/main" id="{68AC9D6A-CA16-469B-82F8-A3A9FBCBC741}"/>
              </a:ext>
            </a:extLst>
          </p:cNvPr>
          <p:cNvSpPr/>
          <p:nvPr/>
        </p:nvSpPr>
        <p:spPr>
          <a:xfrm rot="5400000">
            <a:off x="4896720" y="45488"/>
            <a:ext cx="136800" cy="3989408"/>
          </a:xfrm>
          <a:prstGeom prst="leftBrace">
            <a:avLst>
              <a:gd name="adj1" fmla="val 156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A6A8B86-6D5A-42D0-AA51-24C4D4131972}"/>
              </a:ext>
            </a:extLst>
          </p:cNvPr>
          <p:cNvSpPr/>
          <p:nvPr/>
        </p:nvSpPr>
        <p:spPr>
          <a:xfrm>
            <a:off x="4814404" y="2206182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a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1A7DA66-8CCC-485B-BE57-C943EB804AE5}"/>
              </a:ext>
            </a:extLst>
          </p:cNvPr>
          <p:cNvSpPr/>
          <p:nvPr/>
        </p:nvSpPr>
        <p:spPr>
          <a:xfrm>
            <a:off x="5081686" y="2206182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r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D0879E1-3E01-49B5-A4AE-CBA21451D583}"/>
              </a:ext>
            </a:extLst>
          </p:cNvPr>
          <p:cNvSpPr/>
          <p:nvPr/>
        </p:nvSpPr>
        <p:spPr>
          <a:xfrm>
            <a:off x="5353572" y="2206182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DE313B-ED4C-44C9-8B61-1DF29446D611}"/>
              </a:ext>
            </a:extLst>
          </p:cNvPr>
          <p:cNvSpPr/>
          <p:nvPr/>
        </p:nvSpPr>
        <p:spPr>
          <a:xfrm>
            <a:off x="5617148" y="2206182"/>
            <a:ext cx="271719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527B1A4-89B7-4D28-81A1-50EE1A66F2C6}"/>
              </a:ext>
            </a:extLst>
          </p:cNvPr>
          <p:cNvSpPr/>
          <p:nvPr/>
        </p:nvSpPr>
        <p:spPr>
          <a:xfrm>
            <a:off x="5881206" y="2206182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y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1DCD974-407B-4180-A2CD-B4174969D3FC}"/>
              </a:ext>
            </a:extLst>
          </p:cNvPr>
          <p:cNvSpPr/>
          <p:nvPr/>
        </p:nvSpPr>
        <p:spPr>
          <a:xfrm>
            <a:off x="6148488" y="2206182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BDD4390-2FD4-4CAD-80C4-34ACD7430E45}"/>
              </a:ext>
            </a:extLst>
          </p:cNvPr>
          <p:cNvSpPr/>
          <p:nvPr/>
        </p:nvSpPr>
        <p:spPr>
          <a:xfrm>
            <a:off x="6420374" y="2206182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u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011C7FD-03E0-49A9-B995-13ECB4B559B9}"/>
              </a:ext>
            </a:extLst>
          </p:cNvPr>
          <p:cNvSpPr/>
          <p:nvPr/>
        </p:nvSpPr>
        <p:spPr>
          <a:xfrm>
            <a:off x="6692543" y="2206182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/0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FEC4A9-5166-4304-B4E3-0E677AD3A5B2}"/>
              </a:ext>
            </a:extLst>
          </p:cNvPr>
          <p:cNvSpPr/>
          <p:nvPr/>
        </p:nvSpPr>
        <p:spPr>
          <a:xfrm>
            <a:off x="2120106" y="2773480"/>
            <a:ext cx="242460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4472C4"/>
                </a:solidFill>
                <a:latin typeface="+mn-ea"/>
              </a:rPr>
              <a:t>문자열의 길이</a:t>
            </a:r>
            <a:r>
              <a:rPr lang="en-US" altLang="ko-KR" sz="1400">
                <a:solidFill>
                  <a:srgbClr val="4472C4"/>
                </a:solidFill>
                <a:latin typeface="+mn-ea"/>
              </a:rPr>
              <a:t>(4byte, int)</a:t>
            </a:r>
          </a:p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NULL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을 포함한 길이다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BBEC5F-5095-48B2-AE6E-725E58873C29}"/>
              </a:ext>
            </a:extLst>
          </p:cNvPr>
          <p:cNvSpPr/>
          <p:nvPr/>
        </p:nvSpPr>
        <p:spPr>
          <a:xfrm>
            <a:off x="4771655" y="2774040"/>
            <a:ext cx="32024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NULL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을 포함한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char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형 </a:t>
            </a:r>
            <a:r>
              <a:rPr lang="ko-KR" altLang="en-US" sz="1400">
                <a:solidFill>
                  <a:srgbClr val="4472C4"/>
                </a:solidFill>
                <a:latin typeface="+mn-ea"/>
              </a:rPr>
              <a:t>문자열</a:t>
            </a:r>
          </a:p>
        </p:txBody>
      </p:sp>
      <p:sp>
        <p:nvSpPr>
          <p:cNvPr id="44" name="왼쪽 중괄호 43">
            <a:extLst>
              <a:ext uri="{FF2B5EF4-FFF2-40B4-BE49-F238E27FC236}">
                <a16:creationId xmlns:a16="http://schemas.microsoft.com/office/drawing/2014/main" id="{CF2BDECD-1227-43D7-A038-AC15D4845E8C}"/>
              </a:ext>
            </a:extLst>
          </p:cNvPr>
          <p:cNvSpPr/>
          <p:nvPr/>
        </p:nvSpPr>
        <p:spPr>
          <a:xfrm rot="16200000">
            <a:off x="3277894" y="2340347"/>
            <a:ext cx="1368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왼쪽 중괄호 44">
            <a:extLst>
              <a:ext uri="{FF2B5EF4-FFF2-40B4-BE49-F238E27FC236}">
                <a16:creationId xmlns:a16="http://schemas.microsoft.com/office/drawing/2014/main" id="{24301CA3-8F4F-48EC-B2DC-14E96A84A451}"/>
              </a:ext>
            </a:extLst>
          </p:cNvPr>
          <p:cNvSpPr/>
          <p:nvPr/>
        </p:nvSpPr>
        <p:spPr>
          <a:xfrm rot="16200000">
            <a:off x="5275362" y="1159537"/>
            <a:ext cx="136800" cy="30145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AE9BC9A-15E7-4417-B0E4-0418B95B11E9}"/>
              </a:ext>
            </a:extLst>
          </p:cNvPr>
          <p:cNvSpPr/>
          <p:nvPr/>
        </p:nvSpPr>
        <p:spPr>
          <a:xfrm>
            <a:off x="3019851" y="4869293"/>
            <a:ext cx="740880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F0707E1-65D5-4CF7-813C-6B9C251C0889}"/>
              </a:ext>
            </a:extLst>
          </p:cNvPr>
          <p:cNvSpPr/>
          <p:nvPr/>
        </p:nvSpPr>
        <p:spPr>
          <a:xfrm>
            <a:off x="5153007" y="4149379"/>
            <a:ext cx="25481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44 (windows)</a:t>
            </a:r>
            <a:br>
              <a:rPr lang="en-US" altLang="ko-KR" sz="1400">
                <a:solidFill>
                  <a:srgbClr val="4472C4"/>
                </a:solidFill>
                <a:latin typeface="+mn-ea"/>
              </a:rPr>
            </a:br>
            <a:r>
              <a:rPr lang="en-US" altLang="ko-KR" sz="1400">
                <a:solidFill>
                  <a:srgbClr val="4472C4"/>
                </a:solidFill>
                <a:latin typeface="+mn-ea"/>
              </a:rPr>
              <a:t>          </a:t>
            </a:r>
            <a:r>
              <a:rPr lang="en-US" altLang="ko-KR" sz="800">
                <a:solidFill>
                  <a:srgbClr val="4472C4"/>
                </a:solidFill>
                <a:latin typeface="+mn-ea"/>
              </a:rPr>
              <a:t> </a:t>
            </a:r>
            <a:r>
              <a:rPr lang="en-US" altLang="ko-KR" sz="1400">
                <a:solidFill>
                  <a:srgbClr val="4472C4"/>
                </a:solidFill>
                <a:latin typeface="+mn-ea"/>
              </a:rPr>
              <a:t>84 (linux, android …)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F79861-179F-4174-B78D-5A11ADA6E2B2}"/>
              </a:ext>
            </a:extLst>
          </p:cNvPr>
          <p:cNvSpPr txBox="1"/>
          <p:nvPr/>
        </p:nvSpPr>
        <p:spPr>
          <a:xfrm>
            <a:off x="2656949" y="3732494"/>
            <a:ext cx="5588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baz.append&lt;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std::wstring_view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&gt;(L”do you know kimchi?”);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F8E1BD6-6E38-40CD-99D5-3DA7F73E299B}"/>
              </a:ext>
            </a:extLst>
          </p:cNvPr>
          <p:cNvSpPr/>
          <p:nvPr/>
        </p:nvSpPr>
        <p:spPr>
          <a:xfrm>
            <a:off x="3035997" y="4860479"/>
            <a:ext cx="79200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7F7840F-5998-451F-BCE5-2F16D7B53F8B}"/>
              </a:ext>
            </a:extLst>
          </p:cNvPr>
          <p:cNvSpPr/>
          <p:nvPr/>
        </p:nvSpPr>
        <p:spPr>
          <a:xfrm>
            <a:off x="3827997" y="4860479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d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2" name="왼쪽 중괄호 51">
            <a:extLst>
              <a:ext uri="{FF2B5EF4-FFF2-40B4-BE49-F238E27FC236}">
                <a16:creationId xmlns:a16="http://schemas.microsoft.com/office/drawing/2014/main" id="{B045FE2A-FA09-4DBB-9E43-93336FC19708}"/>
              </a:ext>
            </a:extLst>
          </p:cNvPr>
          <p:cNvSpPr/>
          <p:nvPr/>
        </p:nvSpPr>
        <p:spPr>
          <a:xfrm rot="5400000">
            <a:off x="6438399" y="1195648"/>
            <a:ext cx="177368" cy="7020000"/>
          </a:xfrm>
          <a:prstGeom prst="leftBrace">
            <a:avLst>
              <a:gd name="adj1" fmla="val 156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6D2A571-5A8F-4747-ADF8-768807156D6A}"/>
              </a:ext>
            </a:extLst>
          </p:cNvPr>
          <p:cNvSpPr/>
          <p:nvPr/>
        </p:nvSpPr>
        <p:spPr>
          <a:xfrm>
            <a:off x="2210911" y="5445948"/>
            <a:ext cx="242460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4472C4"/>
                </a:solidFill>
                <a:latin typeface="+mn-ea"/>
              </a:rPr>
              <a:t>문자열의 길이</a:t>
            </a:r>
            <a:r>
              <a:rPr lang="en-US" altLang="ko-KR" sz="1400">
                <a:solidFill>
                  <a:srgbClr val="4472C4"/>
                </a:solidFill>
                <a:latin typeface="+mn-ea"/>
              </a:rPr>
              <a:t>(4byte, int)</a:t>
            </a:r>
          </a:p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NULL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을 포함한 길이다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9D5ED39-01C8-4928-9EC5-8AB1F1ADD699}"/>
              </a:ext>
            </a:extLst>
          </p:cNvPr>
          <p:cNvSpPr/>
          <p:nvPr/>
        </p:nvSpPr>
        <p:spPr>
          <a:xfrm>
            <a:off x="5595859" y="5512577"/>
            <a:ext cx="35309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NULL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을 포함한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wchar_t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형 </a:t>
            </a:r>
            <a:r>
              <a:rPr lang="ko-KR" altLang="en-US" sz="1400">
                <a:solidFill>
                  <a:srgbClr val="4472C4"/>
                </a:solidFill>
                <a:latin typeface="+mn-ea"/>
              </a:rPr>
              <a:t>문자열</a:t>
            </a:r>
          </a:p>
        </p:txBody>
      </p:sp>
      <p:sp>
        <p:nvSpPr>
          <p:cNvPr id="63" name="왼쪽 중괄호 62">
            <a:extLst>
              <a:ext uri="{FF2B5EF4-FFF2-40B4-BE49-F238E27FC236}">
                <a16:creationId xmlns:a16="http://schemas.microsoft.com/office/drawing/2014/main" id="{DA3A5314-557B-40CE-AA50-95EA4BDF3E4C}"/>
              </a:ext>
            </a:extLst>
          </p:cNvPr>
          <p:cNvSpPr/>
          <p:nvPr/>
        </p:nvSpPr>
        <p:spPr>
          <a:xfrm rot="16200000">
            <a:off x="3368699" y="5012815"/>
            <a:ext cx="1368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왼쪽 중괄호 63">
            <a:extLst>
              <a:ext uri="{FF2B5EF4-FFF2-40B4-BE49-F238E27FC236}">
                <a16:creationId xmlns:a16="http://schemas.microsoft.com/office/drawing/2014/main" id="{700459D9-5A42-4591-B762-E65E05721B58}"/>
              </a:ext>
            </a:extLst>
          </p:cNvPr>
          <p:cNvSpPr/>
          <p:nvPr/>
        </p:nvSpPr>
        <p:spPr>
          <a:xfrm rot="16200000">
            <a:off x="6820371" y="2309561"/>
            <a:ext cx="197408" cy="6120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325AF12-32A7-4AA0-8F93-3210412A5C3B}"/>
              </a:ext>
            </a:extLst>
          </p:cNvPr>
          <p:cNvSpPr/>
          <p:nvPr/>
        </p:nvSpPr>
        <p:spPr>
          <a:xfrm>
            <a:off x="4348889" y="4860479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9E478E9-B8C4-40D3-ACBD-474ABC1B6E6A}"/>
              </a:ext>
            </a:extLst>
          </p:cNvPr>
          <p:cNvSpPr/>
          <p:nvPr/>
        </p:nvSpPr>
        <p:spPr>
          <a:xfrm>
            <a:off x="4869783" y="4860479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0420A0B-63B9-4800-B553-D0896DEB1374}"/>
              </a:ext>
            </a:extLst>
          </p:cNvPr>
          <p:cNvSpPr/>
          <p:nvPr/>
        </p:nvSpPr>
        <p:spPr>
          <a:xfrm>
            <a:off x="5390675" y="4860479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y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5159B38-C6A9-4E0E-B69B-9DCB574CEE75}"/>
              </a:ext>
            </a:extLst>
          </p:cNvPr>
          <p:cNvSpPr/>
          <p:nvPr/>
        </p:nvSpPr>
        <p:spPr>
          <a:xfrm>
            <a:off x="5922939" y="4860479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285BEAE-568D-4725-B7C8-8C8C62C3FCD2}"/>
              </a:ext>
            </a:extLst>
          </p:cNvPr>
          <p:cNvSpPr/>
          <p:nvPr/>
        </p:nvSpPr>
        <p:spPr>
          <a:xfrm>
            <a:off x="6457477" y="4860479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u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85766E7-4B8A-48BD-890E-1A5AAE157F0D}"/>
              </a:ext>
            </a:extLst>
          </p:cNvPr>
          <p:cNvSpPr/>
          <p:nvPr/>
        </p:nvSpPr>
        <p:spPr>
          <a:xfrm>
            <a:off x="7974146" y="4860479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h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23FF30A-EC32-46A8-834A-02E375FC79CF}"/>
              </a:ext>
            </a:extLst>
          </p:cNvPr>
          <p:cNvSpPr/>
          <p:nvPr/>
        </p:nvSpPr>
        <p:spPr>
          <a:xfrm>
            <a:off x="8492757" y="4860479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i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F31930D-F931-471D-8092-9C563E6962E0}"/>
              </a:ext>
            </a:extLst>
          </p:cNvPr>
          <p:cNvSpPr/>
          <p:nvPr/>
        </p:nvSpPr>
        <p:spPr>
          <a:xfrm>
            <a:off x="9019259" y="4860479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?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CDD8986-6745-412E-A609-EC2FAF7D6E08}"/>
              </a:ext>
            </a:extLst>
          </p:cNvPr>
          <p:cNvSpPr/>
          <p:nvPr/>
        </p:nvSpPr>
        <p:spPr>
          <a:xfrm>
            <a:off x="6989926" y="4860479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F39D16-4904-44A0-B448-3A494A6FC9B1}"/>
              </a:ext>
            </a:extLst>
          </p:cNvPr>
          <p:cNvSpPr txBox="1"/>
          <p:nvPr/>
        </p:nvSpPr>
        <p:spPr>
          <a:xfrm>
            <a:off x="7525495" y="4618715"/>
            <a:ext cx="399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/>
              <a:t>…</a:t>
            </a:r>
            <a:endParaRPr lang="ko-KR" altLang="en-US" sz="320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1E16D00-8A99-4428-B17A-B611CAC7A353}"/>
              </a:ext>
            </a:extLst>
          </p:cNvPr>
          <p:cNvSpPr/>
          <p:nvPr/>
        </p:nvSpPr>
        <p:spPr>
          <a:xfrm>
            <a:off x="9527385" y="4860479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/0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451887-F9AA-4BE0-961D-79C8C69FB946}"/>
              </a:ext>
            </a:extLst>
          </p:cNvPr>
          <p:cNvSpPr/>
          <p:nvPr/>
        </p:nvSpPr>
        <p:spPr>
          <a:xfrm>
            <a:off x="2351312" y="2137620"/>
            <a:ext cx="493486" cy="400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782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89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buffer.append&lt;T&gt;.3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3059673" y="5070653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58249B8-01FF-4B8A-A250-E20810F3474E}"/>
              </a:ext>
            </a:extLst>
          </p:cNvPr>
          <p:cNvSpPr/>
          <p:nvPr/>
        </p:nvSpPr>
        <p:spPr>
          <a:xfrm>
            <a:off x="4724858" y="4491798"/>
            <a:ext cx="10454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21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3059673" y="5065496"/>
            <a:ext cx="79200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100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973410" y="3616271"/>
            <a:ext cx="37978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baz.append&lt;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int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&gt;(100);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baz.append&lt;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uint32_t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&gt;(1234);</a:t>
            </a:r>
          </a:p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baz.append&lt;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std::string_view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&gt;(“test”);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FEC4A9-5166-4304-B4E3-0E677AD3A5B2}"/>
              </a:ext>
            </a:extLst>
          </p:cNvPr>
          <p:cNvSpPr/>
          <p:nvPr/>
        </p:nvSpPr>
        <p:spPr>
          <a:xfrm>
            <a:off x="4519952" y="5619146"/>
            <a:ext cx="188134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4472C4"/>
                </a:solidFill>
                <a:latin typeface="+mn-ea"/>
              </a:rPr>
              <a:t>문자열의 길이</a:t>
            </a:r>
            <a:r>
              <a:rPr lang="en-US" altLang="ko-KR" sz="1400">
                <a:solidFill>
                  <a:srgbClr val="4472C4"/>
                </a:solidFill>
                <a:latin typeface="+mn-ea"/>
              </a:rPr>
              <a:t>(int)</a:t>
            </a:r>
          </a:p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NULL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을 포함한 길이다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C10B1-FF0D-4DCD-8594-EF8FDD6CC588}"/>
              </a:ext>
            </a:extLst>
          </p:cNvPr>
          <p:cNvSpPr/>
          <p:nvPr/>
        </p:nvSpPr>
        <p:spPr>
          <a:xfrm>
            <a:off x="3849018" y="5065496"/>
            <a:ext cx="158400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1234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3D031B-7800-4CCE-A1DB-26244D6EE595}"/>
              </a:ext>
            </a:extLst>
          </p:cNvPr>
          <p:cNvSpPr/>
          <p:nvPr/>
        </p:nvSpPr>
        <p:spPr>
          <a:xfrm>
            <a:off x="5442087" y="5065496"/>
            <a:ext cx="79200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8C31770-7000-490B-9F63-D4D151E0C147}"/>
              </a:ext>
            </a:extLst>
          </p:cNvPr>
          <p:cNvSpPr/>
          <p:nvPr/>
        </p:nvSpPr>
        <p:spPr>
          <a:xfrm>
            <a:off x="6234319" y="5065496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817D290-63E9-4E92-9C48-9A89B76C7AC2}"/>
              </a:ext>
            </a:extLst>
          </p:cNvPr>
          <p:cNvSpPr/>
          <p:nvPr/>
        </p:nvSpPr>
        <p:spPr>
          <a:xfrm>
            <a:off x="6500155" y="5065496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6F6470-FCD7-4899-833F-BA05B5A4580C}"/>
              </a:ext>
            </a:extLst>
          </p:cNvPr>
          <p:cNvSpPr/>
          <p:nvPr/>
        </p:nvSpPr>
        <p:spPr>
          <a:xfrm>
            <a:off x="6759839" y="5065496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s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1C10C3E-F1A8-4E3D-9F47-3490A0E65D79}"/>
              </a:ext>
            </a:extLst>
          </p:cNvPr>
          <p:cNvSpPr/>
          <p:nvPr/>
        </p:nvSpPr>
        <p:spPr>
          <a:xfrm>
            <a:off x="7023415" y="5065496"/>
            <a:ext cx="271719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011C7FD-03E0-49A9-B995-13ECB4B559B9}"/>
              </a:ext>
            </a:extLst>
          </p:cNvPr>
          <p:cNvSpPr/>
          <p:nvPr/>
        </p:nvSpPr>
        <p:spPr>
          <a:xfrm>
            <a:off x="7295868" y="5065496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/0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BBEC5F-5095-48B2-AE6E-725E58873C29}"/>
              </a:ext>
            </a:extLst>
          </p:cNvPr>
          <p:cNvSpPr/>
          <p:nvPr/>
        </p:nvSpPr>
        <p:spPr>
          <a:xfrm>
            <a:off x="6520872" y="5635733"/>
            <a:ext cx="18813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NULL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을 포함한 </a:t>
            </a:r>
            <a:r>
              <a:rPr lang="ko-KR" altLang="en-US" sz="1400">
                <a:solidFill>
                  <a:srgbClr val="4472C4"/>
                </a:solidFill>
                <a:latin typeface="+mn-ea"/>
              </a:rPr>
              <a:t>문자열</a:t>
            </a:r>
          </a:p>
        </p:txBody>
      </p:sp>
      <p:sp>
        <p:nvSpPr>
          <p:cNvPr id="44" name="왼쪽 중괄호 43">
            <a:extLst>
              <a:ext uri="{FF2B5EF4-FFF2-40B4-BE49-F238E27FC236}">
                <a16:creationId xmlns:a16="http://schemas.microsoft.com/office/drawing/2014/main" id="{CF2BDECD-1227-43D7-A038-AC15D4845E8C}"/>
              </a:ext>
            </a:extLst>
          </p:cNvPr>
          <p:cNvSpPr/>
          <p:nvPr/>
        </p:nvSpPr>
        <p:spPr>
          <a:xfrm rot="16200000">
            <a:off x="5712254" y="5178061"/>
            <a:ext cx="1800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왼쪽 중괄호 44">
            <a:extLst>
              <a:ext uri="{FF2B5EF4-FFF2-40B4-BE49-F238E27FC236}">
                <a16:creationId xmlns:a16="http://schemas.microsoft.com/office/drawing/2014/main" id="{24301CA3-8F4F-48EC-B2DC-14E96A84A451}"/>
              </a:ext>
            </a:extLst>
          </p:cNvPr>
          <p:cNvSpPr/>
          <p:nvPr/>
        </p:nvSpPr>
        <p:spPr>
          <a:xfrm rot="16200000">
            <a:off x="6775317" y="4915481"/>
            <a:ext cx="180000" cy="117804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왼쪽 중괄호 46">
            <a:extLst>
              <a:ext uri="{FF2B5EF4-FFF2-40B4-BE49-F238E27FC236}">
                <a16:creationId xmlns:a16="http://schemas.microsoft.com/office/drawing/2014/main" id="{68AC9D6A-CA16-469B-82F8-A3A9FBCBC741}"/>
              </a:ext>
            </a:extLst>
          </p:cNvPr>
          <p:cNvSpPr/>
          <p:nvPr/>
        </p:nvSpPr>
        <p:spPr>
          <a:xfrm rot="5400000">
            <a:off x="5187524" y="2744625"/>
            <a:ext cx="144000" cy="4316961"/>
          </a:xfrm>
          <a:prstGeom prst="leftBrace">
            <a:avLst>
              <a:gd name="adj1" fmla="val 156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BED332-A13D-463A-B49D-18F1025B1032}"/>
              </a:ext>
            </a:extLst>
          </p:cNvPr>
          <p:cNvSpPr/>
          <p:nvPr/>
        </p:nvSpPr>
        <p:spPr>
          <a:xfrm>
            <a:off x="3019851" y="1719695"/>
            <a:ext cx="740880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BE2E1F1-C2EA-4F1A-B272-F8F24CDBE655}"/>
              </a:ext>
            </a:extLst>
          </p:cNvPr>
          <p:cNvSpPr/>
          <p:nvPr/>
        </p:nvSpPr>
        <p:spPr>
          <a:xfrm>
            <a:off x="5980322" y="1086866"/>
            <a:ext cx="10454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44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72EDA7-9C78-498E-BE0E-57B585DD591F}"/>
              </a:ext>
            </a:extLst>
          </p:cNvPr>
          <p:cNvSpPr txBox="1"/>
          <p:nvPr/>
        </p:nvSpPr>
        <p:spPr>
          <a:xfrm>
            <a:off x="2656949" y="684494"/>
            <a:ext cx="5453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baz.append&lt;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std::u16string_view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&gt;(u”yes, i know psi too”);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2A6EADA-FAEC-4851-95A7-117F2957E9DF}"/>
              </a:ext>
            </a:extLst>
          </p:cNvPr>
          <p:cNvSpPr/>
          <p:nvPr/>
        </p:nvSpPr>
        <p:spPr>
          <a:xfrm>
            <a:off x="3035997" y="1710881"/>
            <a:ext cx="79200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5845F71-07A7-4A93-9888-8D858E9A92E8}"/>
              </a:ext>
            </a:extLst>
          </p:cNvPr>
          <p:cNvSpPr/>
          <p:nvPr/>
        </p:nvSpPr>
        <p:spPr>
          <a:xfrm>
            <a:off x="3827997" y="1710881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y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5" name="왼쪽 중괄호 34">
            <a:extLst>
              <a:ext uri="{FF2B5EF4-FFF2-40B4-BE49-F238E27FC236}">
                <a16:creationId xmlns:a16="http://schemas.microsoft.com/office/drawing/2014/main" id="{991D142A-1036-4B42-8FEA-2E32CD9406FA}"/>
              </a:ext>
            </a:extLst>
          </p:cNvPr>
          <p:cNvSpPr/>
          <p:nvPr/>
        </p:nvSpPr>
        <p:spPr>
          <a:xfrm rot="5400000">
            <a:off x="6438399" y="-1953950"/>
            <a:ext cx="177368" cy="7020000"/>
          </a:xfrm>
          <a:prstGeom prst="leftBrace">
            <a:avLst>
              <a:gd name="adj1" fmla="val 156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AD6E706-0645-4300-974D-342FBBB9D42E}"/>
              </a:ext>
            </a:extLst>
          </p:cNvPr>
          <p:cNvSpPr/>
          <p:nvPr/>
        </p:nvSpPr>
        <p:spPr>
          <a:xfrm>
            <a:off x="2210911" y="2296350"/>
            <a:ext cx="242460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4472C4"/>
                </a:solidFill>
                <a:latin typeface="+mn-ea"/>
              </a:rPr>
              <a:t>문자열의 길이</a:t>
            </a:r>
            <a:r>
              <a:rPr lang="en-US" altLang="ko-KR" sz="1400">
                <a:solidFill>
                  <a:srgbClr val="4472C4"/>
                </a:solidFill>
                <a:latin typeface="+mn-ea"/>
              </a:rPr>
              <a:t>(4byte, int)</a:t>
            </a:r>
          </a:p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NULL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을 포함한 길이다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57B558E-3DCB-44BE-BC48-59C5A898B7E6}"/>
              </a:ext>
            </a:extLst>
          </p:cNvPr>
          <p:cNvSpPr/>
          <p:nvPr/>
        </p:nvSpPr>
        <p:spPr>
          <a:xfrm>
            <a:off x="5595859" y="2362979"/>
            <a:ext cx="35309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NULL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을 포함한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wchar_t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형 </a:t>
            </a:r>
            <a:r>
              <a:rPr lang="ko-KR" altLang="en-US" sz="1400">
                <a:solidFill>
                  <a:srgbClr val="4472C4"/>
                </a:solidFill>
                <a:latin typeface="+mn-ea"/>
              </a:rPr>
              <a:t>문자열</a:t>
            </a:r>
          </a:p>
        </p:txBody>
      </p:sp>
      <p:sp>
        <p:nvSpPr>
          <p:cNvPr id="42" name="왼쪽 중괄호 41">
            <a:extLst>
              <a:ext uri="{FF2B5EF4-FFF2-40B4-BE49-F238E27FC236}">
                <a16:creationId xmlns:a16="http://schemas.microsoft.com/office/drawing/2014/main" id="{87C1EF54-1BD5-4D3B-958F-F88E990FA873}"/>
              </a:ext>
            </a:extLst>
          </p:cNvPr>
          <p:cNvSpPr/>
          <p:nvPr/>
        </p:nvSpPr>
        <p:spPr>
          <a:xfrm rot="16200000">
            <a:off x="3368699" y="1863217"/>
            <a:ext cx="1368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왼쪽 중괄호 42">
            <a:extLst>
              <a:ext uri="{FF2B5EF4-FFF2-40B4-BE49-F238E27FC236}">
                <a16:creationId xmlns:a16="http://schemas.microsoft.com/office/drawing/2014/main" id="{F2F4F266-6C83-48FA-9C5D-207A9179C37D}"/>
              </a:ext>
            </a:extLst>
          </p:cNvPr>
          <p:cNvSpPr/>
          <p:nvPr/>
        </p:nvSpPr>
        <p:spPr>
          <a:xfrm rot="16200000">
            <a:off x="6820371" y="-840037"/>
            <a:ext cx="197408" cy="6120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1622ABC-6917-4766-9E03-9D7219D946D6}"/>
              </a:ext>
            </a:extLst>
          </p:cNvPr>
          <p:cNvSpPr/>
          <p:nvPr/>
        </p:nvSpPr>
        <p:spPr>
          <a:xfrm>
            <a:off x="4348889" y="1710881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FBC9875-9DDE-4CE9-98FA-0C91D240631D}"/>
              </a:ext>
            </a:extLst>
          </p:cNvPr>
          <p:cNvSpPr/>
          <p:nvPr/>
        </p:nvSpPr>
        <p:spPr>
          <a:xfrm>
            <a:off x="4869783" y="1710881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s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6534669-9711-4ABC-8E5C-F39D10903479}"/>
              </a:ext>
            </a:extLst>
          </p:cNvPr>
          <p:cNvSpPr/>
          <p:nvPr/>
        </p:nvSpPr>
        <p:spPr>
          <a:xfrm>
            <a:off x="5390675" y="1710881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,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556A38D-2A07-4575-B870-A7A42C3610EF}"/>
              </a:ext>
            </a:extLst>
          </p:cNvPr>
          <p:cNvSpPr/>
          <p:nvPr/>
        </p:nvSpPr>
        <p:spPr>
          <a:xfrm>
            <a:off x="5922939" y="1710881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i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483E8DB-4E34-4292-AD53-B23BD59A66FD}"/>
              </a:ext>
            </a:extLst>
          </p:cNvPr>
          <p:cNvSpPr/>
          <p:nvPr/>
        </p:nvSpPr>
        <p:spPr>
          <a:xfrm>
            <a:off x="6457477" y="1710881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E54DA95-7C06-4984-88F0-7A472EAE079A}"/>
              </a:ext>
            </a:extLst>
          </p:cNvPr>
          <p:cNvSpPr/>
          <p:nvPr/>
        </p:nvSpPr>
        <p:spPr>
          <a:xfrm>
            <a:off x="7974146" y="1710881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7B475B1-83DB-4646-826D-BFEA971E3051}"/>
              </a:ext>
            </a:extLst>
          </p:cNvPr>
          <p:cNvSpPr/>
          <p:nvPr/>
        </p:nvSpPr>
        <p:spPr>
          <a:xfrm>
            <a:off x="8492757" y="1710881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42E0B66-B274-45FE-AD23-8A7041376AC4}"/>
              </a:ext>
            </a:extLst>
          </p:cNvPr>
          <p:cNvSpPr/>
          <p:nvPr/>
        </p:nvSpPr>
        <p:spPr>
          <a:xfrm>
            <a:off x="9019259" y="1710881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79BBC34-6CA1-4646-9B0D-612B12106C0F}"/>
              </a:ext>
            </a:extLst>
          </p:cNvPr>
          <p:cNvSpPr/>
          <p:nvPr/>
        </p:nvSpPr>
        <p:spPr>
          <a:xfrm>
            <a:off x="6989926" y="1710881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k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278C56-6923-42A9-BAD5-D20BBE34116F}"/>
              </a:ext>
            </a:extLst>
          </p:cNvPr>
          <p:cNvSpPr txBox="1"/>
          <p:nvPr/>
        </p:nvSpPr>
        <p:spPr>
          <a:xfrm>
            <a:off x="7525495" y="1469117"/>
            <a:ext cx="399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/>
              <a:t>…</a:t>
            </a:r>
            <a:endParaRPr lang="ko-KR" altLang="en-US" sz="320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37E0FB4-BC27-43CC-97D8-CDE245E735C1}"/>
              </a:ext>
            </a:extLst>
          </p:cNvPr>
          <p:cNvSpPr/>
          <p:nvPr/>
        </p:nvSpPr>
        <p:spPr>
          <a:xfrm>
            <a:off x="9527385" y="1710881"/>
            <a:ext cx="526502" cy="309600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/0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2FCC6F4-7BC2-4E8D-9915-E754904046F2}"/>
              </a:ext>
            </a:extLst>
          </p:cNvPr>
          <p:cNvSpPr/>
          <p:nvPr/>
        </p:nvSpPr>
        <p:spPr>
          <a:xfrm>
            <a:off x="2677887" y="1705438"/>
            <a:ext cx="360000" cy="304789"/>
          </a:xfrm>
          <a:prstGeom prst="rect">
            <a:avLst/>
          </a:prstGeom>
          <a:solidFill>
            <a:srgbClr val="FFFFCC"/>
          </a:solidFill>
          <a:ln w="127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00BE6E1-9B8C-47FC-A32B-2F237C723A9B}"/>
              </a:ext>
            </a:extLst>
          </p:cNvPr>
          <p:cNvSpPr/>
          <p:nvPr/>
        </p:nvSpPr>
        <p:spPr>
          <a:xfrm>
            <a:off x="2460170" y="1636876"/>
            <a:ext cx="493486" cy="400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054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91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buffer.front&lt;T&gt;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555574" y="3772539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331890" y="2728912"/>
            <a:ext cx="2895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 v1 = baz.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front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float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BFDB332F-0735-4285-9469-F41D87E3A63C}"/>
              </a:ext>
            </a:extLst>
          </p:cNvPr>
          <p:cNvCxnSpPr/>
          <p:nvPr/>
        </p:nvCxnSpPr>
        <p:spPr>
          <a:xfrm>
            <a:off x="4670341" y="3015808"/>
            <a:ext cx="3363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D9179C0-CB7C-4CAE-A325-BF58B59773C6}"/>
              </a:ext>
            </a:extLst>
          </p:cNvPr>
          <p:cNvSpPr txBox="1"/>
          <p:nvPr/>
        </p:nvSpPr>
        <p:spPr>
          <a:xfrm>
            <a:off x="4384267" y="3187902"/>
            <a:ext cx="933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rgbClr val="4472C4"/>
                </a:solidFill>
                <a:latin typeface="+mn-ea"/>
              </a:rPr>
              <a:t>offset</a:t>
            </a:r>
            <a:endParaRPr lang="ko-KR" altLang="en-US" sz="1600">
              <a:solidFill>
                <a:srgbClr val="4472C4"/>
              </a:solidFill>
              <a:latin typeface="+mn-ea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429CDC4-CA8D-4701-B76F-32FB9C44AE80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4850900" y="3029930"/>
            <a:ext cx="0" cy="157972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B5D98D9-CC46-46FB-96AA-B29BBE1748E9}"/>
              </a:ext>
            </a:extLst>
          </p:cNvPr>
          <p:cNvSpPr/>
          <p:nvPr/>
        </p:nvSpPr>
        <p:spPr>
          <a:xfrm>
            <a:off x="2498713" y="3205525"/>
            <a:ext cx="6998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>
                <a:solidFill>
                  <a:srgbClr val="3520B6"/>
                </a:solidFill>
                <a:latin typeface="+mn-ea"/>
              </a:rPr>
              <a:t>4 byte</a:t>
            </a:r>
            <a:endParaRPr lang="ko-KR" altLang="en-US" sz="1200">
              <a:solidFill>
                <a:srgbClr val="3520B6"/>
              </a:solidFill>
              <a:latin typeface="+mn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3CCB798-83CF-4E4B-8E0A-042367FCCD95}"/>
              </a:ext>
            </a:extLst>
          </p:cNvPr>
          <p:cNvCxnSpPr/>
          <p:nvPr/>
        </p:nvCxnSpPr>
        <p:spPr>
          <a:xfrm>
            <a:off x="3215159" y="3277262"/>
            <a:ext cx="0" cy="47647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99A1EA8-B757-4470-B277-67E0F9D5A53E}"/>
              </a:ext>
            </a:extLst>
          </p:cNvPr>
          <p:cNvCxnSpPr/>
          <p:nvPr/>
        </p:nvCxnSpPr>
        <p:spPr>
          <a:xfrm>
            <a:off x="2506879" y="3293183"/>
            <a:ext cx="0" cy="47647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8BBA0C0-5594-4860-A626-3722708DFBD4}"/>
              </a:ext>
            </a:extLst>
          </p:cNvPr>
          <p:cNvCxnSpPr/>
          <p:nvPr/>
        </p:nvCxnSpPr>
        <p:spPr>
          <a:xfrm>
            <a:off x="2506879" y="3515498"/>
            <a:ext cx="693766" cy="0"/>
          </a:xfrm>
          <a:prstGeom prst="straightConnector1">
            <a:avLst/>
          </a:prstGeom>
          <a:ln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8F7C7766-7021-432C-A6F4-C8B5477FC770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3356421" y="3357179"/>
            <a:ext cx="1027846" cy="12044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왼쪽 중괄호 54">
            <a:extLst>
              <a:ext uri="{FF2B5EF4-FFF2-40B4-BE49-F238E27FC236}">
                <a16:creationId xmlns:a16="http://schemas.microsoft.com/office/drawing/2014/main" id="{FF6A6613-85DE-483E-A88C-1A2A6A74BA76}"/>
              </a:ext>
            </a:extLst>
          </p:cNvPr>
          <p:cNvSpPr/>
          <p:nvPr/>
        </p:nvSpPr>
        <p:spPr>
          <a:xfrm rot="16200000">
            <a:off x="3610863" y="3930797"/>
            <a:ext cx="1440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A39A83-92E1-4B05-982A-21B8F654B101}"/>
              </a:ext>
            </a:extLst>
          </p:cNvPr>
          <p:cNvSpPr txBox="1"/>
          <p:nvPr/>
        </p:nvSpPr>
        <p:spPr>
          <a:xfrm>
            <a:off x="2888682" y="4374558"/>
            <a:ext cx="3616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rgbClr val="4472C4"/>
                </a:solidFill>
                <a:latin typeface="+mn-ea"/>
              </a:rPr>
              <a:t>이 값을 읽어낸다</a:t>
            </a:r>
            <a:r>
              <a:rPr lang="en-US" altLang="ko-KR" sz="1400">
                <a:solidFill>
                  <a:srgbClr val="4472C4"/>
                </a:solidFill>
                <a:latin typeface="+mn-ea"/>
              </a:rPr>
              <a:t>.(</a:t>
            </a:r>
            <a:r>
              <a:rPr lang="ko-KR" altLang="en-US" sz="1400">
                <a:solidFill>
                  <a:srgbClr val="4472C4"/>
                </a:solidFill>
                <a:latin typeface="+mn-ea"/>
              </a:rPr>
              <a:t>써넣을 수도 있다</a:t>
            </a:r>
            <a:r>
              <a:rPr lang="en-US" altLang="ko-KR" sz="1400">
                <a:solidFill>
                  <a:srgbClr val="4472C4"/>
                </a:solidFill>
                <a:latin typeface="+mn-ea"/>
              </a:rPr>
              <a:t>.)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4AEB589-330E-4DC5-8B74-D300137E5412}"/>
              </a:ext>
            </a:extLst>
          </p:cNvPr>
          <p:cNvSpPr/>
          <p:nvPr/>
        </p:nvSpPr>
        <p:spPr>
          <a:xfrm>
            <a:off x="2508131" y="1367026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9C73502-4A6C-4E0E-A0F9-9B79308B8F5D}"/>
              </a:ext>
            </a:extLst>
          </p:cNvPr>
          <p:cNvCxnSpPr>
            <a:cxnSpLocks/>
          </p:cNvCxnSpPr>
          <p:nvPr/>
        </p:nvCxnSpPr>
        <p:spPr>
          <a:xfrm flipH="1" flipV="1">
            <a:off x="2508131" y="1755908"/>
            <a:ext cx="3340" cy="198610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F348B9-1D95-4924-8980-D3584FAD4157}"/>
              </a:ext>
            </a:extLst>
          </p:cNvPr>
          <p:cNvSpPr/>
          <p:nvPr/>
        </p:nvSpPr>
        <p:spPr>
          <a:xfrm>
            <a:off x="2158524" y="2045080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data()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A4F724-358C-4C70-A84A-9D55380191BD}"/>
              </a:ext>
            </a:extLst>
          </p:cNvPr>
          <p:cNvSpPr/>
          <p:nvPr/>
        </p:nvSpPr>
        <p:spPr>
          <a:xfrm>
            <a:off x="2508131" y="1365412"/>
            <a:ext cx="73129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100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4BB8A12-873B-4FD3-BB0E-E234F1685B8A}"/>
              </a:ext>
            </a:extLst>
          </p:cNvPr>
          <p:cNvSpPr/>
          <p:nvPr/>
        </p:nvSpPr>
        <p:spPr>
          <a:xfrm>
            <a:off x="4041520" y="1954354"/>
            <a:ext cx="136360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sizeof(uint64_t)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5" name="왼쪽 중괄호 34">
            <a:extLst>
              <a:ext uri="{FF2B5EF4-FFF2-40B4-BE49-F238E27FC236}">
                <a16:creationId xmlns:a16="http://schemas.microsoft.com/office/drawing/2014/main" id="{7A25EC4D-D754-4D06-B4FE-04DC318E247E}"/>
              </a:ext>
            </a:extLst>
          </p:cNvPr>
          <p:cNvSpPr/>
          <p:nvPr/>
        </p:nvSpPr>
        <p:spPr>
          <a:xfrm rot="16200000">
            <a:off x="4652660" y="1120033"/>
            <a:ext cx="192787" cy="1479224"/>
          </a:xfrm>
          <a:prstGeom prst="leftBrac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520B6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E8275B4-906B-493A-B1A6-15516CA76C5B}"/>
              </a:ext>
            </a:extLst>
          </p:cNvPr>
          <p:cNvSpPr/>
          <p:nvPr/>
        </p:nvSpPr>
        <p:spPr>
          <a:xfrm>
            <a:off x="3456262" y="788171"/>
            <a:ext cx="10454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16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7" name="왼쪽 중괄호 36">
            <a:extLst>
              <a:ext uri="{FF2B5EF4-FFF2-40B4-BE49-F238E27FC236}">
                <a16:creationId xmlns:a16="http://schemas.microsoft.com/office/drawing/2014/main" id="{C30444C8-F476-4E02-BB03-25E63E27E693}"/>
              </a:ext>
            </a:extLst>
          </p:cNvPr>
          <p:cNvSpPr/>
          <p:nvPr/>
        </p:nvSpPr>
        <p:spPr>
          <a:xfrm rot="5400000">
            <a:off x="3952899" y="-287953"/>
            <a:ext cx="193193" cy="3024056"/>
          </a:xfrm>
          <a:prstGeom prst="leftBrace">
            <a:avLst>
              <a:gd name="adj1" fmla="val 15640"/>
              <a:gd name="adj2" fmla="val 50000"/>
            </a:avLst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520B6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9584539-1B22-4532-9E5C-103A4109B0B3}"/>
              </a:ext>
            </a:extLst>
          </p:cNvPr>
          <p:cNvSpPr/>
          <p:nvPr/>
        </p:nvSpPr>
        <p:spPr>
          <a:xfrm>
            <a:off x="3233759" y="1365412"/>
            <a:ext cx="75600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3.14f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96216B1-9E80-4DE0-B0F0-82F514F72C07}"/>
              </a:ext>
            </a:extLst>
          </p:cNvPr>
          <p:cNvSpPr/>
          <p:nvPr/>
        </p:nvSpPr>
        <p:spPr>
          <a:xfrm>
            <a:off x="3987497" y="1365412"/>
            <a:ext cx="1564115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1234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BC77B03-0237-4B77-A835-FCE3E240A245}"/>
              </a:ext>
            </a:extLst>
          </p:cNvPr>
          <p:cNvSpPr/>
          <p:nvPr/>
        </p:nvSpPr>
        <p:spPr>
          <a:xfrm>
            <a:off x="2508523" y="3767382"/>
            <a:ext cx="73129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100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5257128-9968-4C34-B136-BC81671EC712}"/>
              </a:ext>
            </a:extLst>
          </p:cNvPr>
          <p:cNvSpPr/>
          <p:nvPr/>
        </p:nvSpPr>
        <p:spPr>
          <a:xfrm>
            <a:off x="4009270" y="3767382"/>
            <a:ext cx="1564115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1234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C10B1-FF0D-4DCD-8594-EF8FDD6CC588}"/>
              </a:ext>
            </a:extLst>
          </p:cNvPr>
          <p:cNvSpPr/>
          <p:nvPr/>
        </p:nvSpPr>
        <p:spPr>
          <a:xfrm>
            <a:off x="3233759" y="3781896"/>
            <a:ext cx="792000" cy="307778"/>
          </a:xfrm>
          <a:prstGeom prst="rect">
            <a:avLst/>
          </a:prstGeom>
          <a:solidFill>
            <a:srgbClr val="FFC000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3.14f</a:t>
            </a:r>
            <a:endParaRPr lang="ko-KR" alt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131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91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buffer.front&lt;T&gt;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410431" y="4251509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2410431" y="4246352"/>
            <a:ext cx="73129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186747" y="3207882"/>
            <a:ext cx="3491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 v1 = baz.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front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float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) = 321;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C10B1-FF0D-4DCD-8594-EF8FDD6CC588}"/>
              </a:ext>
            </a:extLst>
          </p:cNvPr>
          <p:cNvSpPr/>
          <p:nvPr/>
        </p:nvSpPr>
        <p:spPr>
          <a:xfrm>
            <a:off x="3141720" y="4246352"/>
            <a:ext cx="792000" cy="307778"/>
          </a:xfrm>
          <a:prstGeom prst="rect">
            <a:avLst/>
          </a:prstGeom>
          <a:solidFill>
            <a:srgbClr val="FFC000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3.14f</a:t>
            </a:r>
            <a:endParaRPr lang="ko-KR" altLang="en-US" sz="1400">
              <a:solidFill>
                <a:schemeClr val="tx1"/>
              </a:solidFill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BFDB332F-0735-4285-9469-F41D87E3A63C}"/>
              </a:ext>
            </a:extLst>
          </p:cNvPr>
          <p:cNvCxnSpPr/>
          <p:nvPr/>
        </p:nvCxnSpPr>
        <p:spPr>
          <a:xfrm>
            <a:off x="4525198" y="3494778"/>
            <a:ext cx="3363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D9179C0-CB7C-4CAE-A325-BF58B59773C6}"/>
              </a:ext>
            </a:extLst>
          </p:cNvPr>
          <p:cNvSpPr txBox="1"/>
          <p:nvPr/>
        </p:nvSpPr>
        <p:spPr>
          <a:xfrm>
            <a:off x="4239124" y="3666872"/>
            <a:ext cx="933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rgbClr val="4472C4"/>
                </a:solidFill>
                <a:latin typeface="+mn-ea"/>
              </a:rPr>
              <a:t>offset</a:t>
            </a:r>
            <a:endParaRPr lang="ko-KR" altLang="en-US" sz="1600">
              <a:solidFill>
                <a:srgbClr val="4472C4"/>
              </a:solidFill>
              <a:latin typeface="+mn-ea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429CDC4-CA8D-4701-B76F-32FB9C44AE80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4705757" y="3508900"/>
            <a:ext cx="0" cy="157972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B5D98D9-CC46-46FB-96AA-B29BBE1748E9}"/>
              </a:ext>
            </a:extLst>
          </p:cNvPr>
          <p:cNvSpPr/>
          <p:nvPr/>
        </p:nvSpPr>
        <p:spPr>
          <a:xfrm>
            <a:off x="2426140" y="3684495"/>
            <a:ext cx="6998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>
                <a:solidFill>
                  <a:srgbClr val="3520B6"/>
                </a:solidFill>
                <a:latin typeface="+mn-ea"/>
              </a:rPr>
              <a:t>4 byte</a:t>
            </a:r>
            <a:endParaRPr lang="ko-KR" altLang="en-US" sz="1200">
              <a:solidFill>
                <a:srgbClr val="3520B6"/>
              </a:solidFill>
              <a:latin typeface="+mn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3CCB798-83CF-4E4B-8E0A-042367FCCD95}"/>
              </a:ext>
            </a:extLst>
          </p:cNvPr>
          <p:cNvCxnSpPr/>
          <p:nvPr/>
        </p:nvCxnSpPr>
        <p:spPr>
          <a:xfrm>
            <a:off x="3128072" y="3756232"/>
            <a:ext cx="0" cy="47647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99A1EA8-B757-4470-B277-67E0F9D5A53E}"/>
              </a:ext>
            </a:extLst>
          </p:cNvPr>
          <p:cNvCxnSpPr/>
          <p:nvPr/>
        </p:nvCxnSpPr>
        <p:spPr>
          <a:xfrm>
            <a:off x="2434306" y="3772153"/>
            <a:ext cx="0" cy="47647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8BBA0C0-5594-4860-A626-3722708DFBD4}"/>
              </a:ext>
            </a:extLst>
          </p:cNvPr>
          <p:cNvCxnSpPr/>
          <p:nvPr/>
        </p:nvCxnSpPr>
        <p:spPr>
          <a:xfrm>
            <a:off x="2434306" y="3994468"/>
            <a:ext cx="693766" cy="0"/>
          </a:xfrm>
          <a:prstGeom prst="straightConnector1">
            <a:avLst/>
          </a:prstGeom>
          <a:ln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8F7C7766-7021-432C-A6F4-C8B5477FC770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3211278" y="3836149"/>
            <a:ext cx="1027846" cy="12044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왼쪽 중괄호 54">
            <a:extLst>
              <a:ext uri="{FF2B5EF4-FFF2-40B4-BE49-F238E27FC236}">
                <a16:creationId xmlns:a16="http://schemas.microsoft.com/office/drawing/2014/main" id="{FF6A6613-85DE-483E-A88C-1A2A6A74BA76}"/>
              </a:ext>
            </a:extLst>
          </p:cNvPr>
          <p:cNvSpPr/>
          <p:nvPr/>
        </p:nvSpPr>
        <p:spPr>
          <a:xfrm rot="16200000">
            <a:off x="3465720" y="4409767"/>
            <a:ext cx="1440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A39A83-92E1-4B05-982A-21B8F654B101}"/>
              </a:ext>
            </a:extLst>
          </p:cNvPr>
          <p:cNvSpPr txBox="1"/>
          <p:nvPr/>
        </p:nvSpPr>
        <p:spPr>
          <a:xfrm>
            <a:off x="2743539" y="4853528"/>
            <a:ext cx="3616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rgbClr val="4472C4"/>
                </a:solidFill>
                <a:latin typeface="+mn-ea"/>
              </a:rPr>
              <a:t>이 값을 읽어낸다</a:t>
            </a:r>
            <a:r>
              <a:rPr lang="en-US" altLang="ko-KR" sz="1400">
                <a:solidFill>
                  <a:srgbClr val="4472C4"/>
                </a:solidFill>
                <a:latin typeface="+mn-ea"/>
              </a:rPr>
              <a:t>.(</a:t>
            </a:r>
            <a:r>
              <a:rPr lang="ko-KR" altLang="en-US" sz="1400">
                <a:solidFill>
                  <a:srgbClr val="4472C4"/>
                </a:solidFill>
                <a:latin typeface="+mn-ea"/>
              </a:rPr>
              <a:t>써넣을 수도 있다</a:t>
            </a:r>
            <a:r>
              <a:rPr lang="en-US" altLang="ko-KR" sz="1400">
                <a:solidFill>
                  <a:srgbClr val="4472C4"/>
                </a:solidFill>
                <a:latin typeface="+mn-ea"/>
              </a:rPr>
              <a:t>.)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3CF9603-31DF-482E-8B7E-30A4534C0A44}"/>
              </a:ext>
            </a:extLst>
          </p:cNvPr>
          <p:cNvSpPr/>
          <p:nvPr/>
        </p:nvSpPr>
        <p:spPr>
          <a:xfrm>
            <a:off x="2434306" y="1727544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8F4C1F-9579-4B5C-A6A9-A2BB583B8A3C}"/>
              </a:ext>
            </a:extLst>
          </p:cNvPr>
          <p:cNvSpPr txBox="1"/>
          <p:nvPr/>
        </p:nvSpPr>
        <p:spPr>
          <a:xfrm>
            <a:off x="2210622" y="683917"/>
            <a:ext cx="3446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 v1 = baz.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front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int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&gt;(0) = 321;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7260514-6D4B-4B1A-BC5C-3628BCF61B69}"/>
              </a:ext>
            </a:extLst>
          </p:cNvPr>
          <p:cNvCxnSpPr/>
          <p:nvPr/>
        </p:nvCxnSpPr>
        <p:spPr>
          <a:xfrm>
            <a:off x="4439889" y="970813"/>
            <a:ext cx="3363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89CF5C2-AFE5-44DC-9199-D11DF73FDA9C}"/>
              </a:ext>
            </a:extLst>
          </p:cNvPr>
          <p:cNvSpPr txBox="1"/>
          <p:nvPr/>
        </p:nvSpPr>
        <p:spPr>
          <a:xfrm>
            <a:off x="4153814" y="1142907"/>
            <a:ext cx="42503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rgbClr val="4472C4"/>
                </a:solidFill>
                <a:latin typeface="+mn-ea"/>
              </a:rPr>
              <a:t>offset</a:t>
            </a:r>
            <a:r>
              <a:rPr lang="ko-KR" altLang="en-US" sz="1600">
                <a:solidFill>
                  <a:srgbClr val="4472C4"/>
                </a:solidFill>
                <a:latin typeface="+mn-ea"/>
              </a:rPr>
              <a:t>이 </a:t>
            </a:r>
            <a:r>
              <a:rPr lang="en-US" altLang="ko-KR" sz="1600">
                <a:solidFill>
                  <a:srgbClr val="4472C4"/>
                </a:solidFill>
                <a:latin typeface="+mn-ea"/>
              </a:rPr>
              <a:t>0. </a:t>
            </a:r>
            <a:r>
              <a:rPr lang="ko-KR" altLang="en-US" sz="1600">
                <a:solidFill>
                  <a:srgbClr val="4472C4"/>
                </a:solidFill>
                <a:latin typeface="+mn-ea"/>
              </a:rPr>
              <a:t>제일 앞을 의미</a:t>
            </a: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92397049-4496-4F83-8BE9-35255A5328CD}"/>
              </a:ext>
            </a:extLst>
          </p:cNvPr>
          <p:cNvCxnSpPr>
            <a:cxnSpLocks/>
          </p:cNvCxnSpPr>
          <p:nvPr/>
        </p:nvCxnSpPr>
        <p:spPr>
          <a:xfrm flipV="1">
            <a:off x="4620449" y="984936"/>
            <a:ext cx="0" cy="198915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왼쪽 중괄호 74">
            <a:extLst>
              <a:ext uri="{FF2B5EF4-FFF2-40B4-BE49-F238E27FC236}">
                <a16:creationId xmlns:a16="http://schemas.microsoft.com/office/drawing/2014/main" id="{D24658C5-1175-4B4F-8872-D9AF0BBC750B}"/>
              </a:ext>
            </a:extLst>
          </p:cNvPr>
          <p:cNvSpPr/>
          <p:nvPr/>
        </p:nvSpPr>
        <p:spPr>
          <a:xfrm rot="16200000">
            <a:off x="2779907" y="1885802"/>
            <a:ext cx="1440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D8585F6-12BE-4A9A-BC2B-EBB56CA61EF8}"/>
              </a:ext>
            </a:extLst>
          </p:cNvPr>
          <p:cNvSpPr txBox="1"/>
          <p:nvPr/>
        </p:nvSpPr>
        <p:spPr>
          <a:xfrm>
            <a:off x="2057726" y="2329563"/>
            <a:ext cx="41383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rgbClr val="4472C4"/>
                </a:solidFill>
                <a:latin typeface="+mn-ea"/>
              </a:rPr>
              <a:t>이 값을 읽어낸다</a:t>
            </a:r>
            <a:r>
              <a:rPr lang="en-US" altLang="ko-KR" sz="1400">
                <a:solidFill>
                  <a:srgbClr val="4472C4"/>
                </a:solidFill>
                <a:latin typeface="+mn-ea"/>
              </a:rPr>
              <a:t>.(</a:t>
            </a:r>
            <a:r>
              <a:rPr lang="ko-KR" altLang="en-US" sz="1400">
                <a:solidFill>
                  <a:srgbClr val="4472C4"/>
                </a:solidFill>
                <a:latin typeface="+mn-ea"/>
              </a:rPr>
              <a:t>써넣을 수도 있다</a:t>
            </a:r>
            <a:r>
              <a:rPr lang="en-US" altLang="ko-KR" sz="1400">
                <a:solidFill>
                  <a:srgbClr val="4472C4"/>
                </a:solidFill>
                <a:latin typeface="+mn-ea"/>
              </a:rPr>
              <a:t>.)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BC9E55E-EEC3-45F1-B99A-FBE713170262}"/>
              </a:ext>
            </a:extLst>
          </p:cNvPr>
          <p:cNvSpPr/>
          <p:nvPr/>
        </p:nvSpPr>
        <p:spPr>
          <a:xfrm>
            <a:off x="2442259" y="1724186"/>
            <a:ext cx="792000" cy="307778"/>
          </a:xfrm>
          <a:prstGeom prst="rect">
            <a:avLst/>
          </a:prstGeom>
          <a:solidFill>
            <a:srgbClr val="FFC000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100</a:t>
            </a:r>
            <a:endParaRPr lang="ko-KR" alt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573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91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buffer.front&lt;T&gt;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410431" y="2122455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2410431" y="2117298"/>
            <a:ext cx="151200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186747" y="1078828"/>
            <a:ext cx="3932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 v1 = baz.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front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uint64_t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&gt;(8) = 321;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C10B1-FF0D-4DCD-8594-EF8FDD6CC588}"/>
              </a:ext>
            </a:extLst>
          </p:cNvPr>
          <p:cNvSpPr/>
          <p:nvPr/>
        </p:nvSpPr>
        <p:spPr>
          <a:xfrm>
            <a:off x="3865054" y="2117298"/>
            <a:ext cx="1512000" cy="307778"/>
          </a:xfrm>
          <a:prstGeom prst="rect">
            <a:avLst/>
          </a:prstGeom>
          <a:solidFill>
            <a:srgbClr val="FFC000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123</a:t>
            </a:r>
            <a:endParaRPr lang="ko-KR" altLang="en-US" sz="1400">
              <a:solidFill>
                <a:schemeClr val="tx1"/>
              </a:solidFill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BFDB332F-0735-4285-9469-F41D87E3A63C}"/>
              </a:ext>
            </a:extLst>
          </p:cNvPr>
          <p:cNvCxnSpPr/>
          <p:nvPr/>
        </p:nvCxnSpPr>
        <p:spPr>
          <a:xfrm>
            <a:off x="4893692" y="1365724"/>
            <a:ext cx="3363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D9179C0-CB7C-4CAE-A325-BF58B59773C6}"/>
              </a:ext>
            </a:extLst>
          </p:cNvPr>
          <p:cNvSpPr txBox="1"/>
          <p:nvPr/>
        </p:nvSpPr>
        <p:spPr>
          <a:xfrm>
            <a:off x="4607618" y="1537818"/>
            <a:ext cx="933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rgbClr val="4472C4"/>
                </a:solidFill>
                <a:latin typeface="+mn-ea"/>
              </a:rPr>
              <a:t>offset</a:t>
            </a:r>
            <a:endParaRPr lang="ko-KR" altLang="en-US" sz="1600">
              <a:solidFill>
                <a:srgbClr val="4472C4"/>
              </a:solidFill>
              <a:latin typeface="+mn-ea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429CDC4-CA8D-4701-B76F-32FB9C44AE80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5074251" y="1379846"/>
            <a:ext cx="0" cy="157972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B5D98D9-CC46-46FB-96AA-B29BBE1748E9}"/>
              </a:ext>
            </a:extLst>
          </p:cNvPr>
          <p:cNvSpPr/>
          <p:nvPr/>
        </p:nvSpPr>
        <p:spPr>
          <a:xfrm>
            <a:off x="2876520" y="1555441"/>
            <a:ext cx="6998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>
                <a:solidFill>
                  <a:srgbClr val="4472C4"/>
                </a:solidFill>
                <a:latin typeface="+mn-ea"/>
              </a:rPr>
              <a:t>8 byte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3CCB798-83CF-4E4B-8E0A-042367FCCD95}"/>
              </a:ext>
            </a:extLst>
          </p:cNvPr>
          <p:cNvCxnSpPr/>
          <p:nvPr/>
        </p:nvCxnSpPr>
        <p:spPr>
          <a:xfrm>
            <a:off x="3824110" y="1627178"/>
            <a:ext cx="0" cy="47647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99A1EA8-B757-4470-B277-67E0F9D5A53E}"/>
              </a:ext>
            </a:extLst>
          </p:cNvPr>
          <p:cNvCxnSpPr/>
          <p:nvPr/>
        </p:nvCxnSpPr>
        <p:spPr>
          <a:xfrm>
            <a:off x="2434306" y="1643099"/>
            <a:ext cx="0" cy="47647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8BBA0C0-5594-4860-A626-3722708DFBD4}"/>
              </a:ext>
            </a:extLst>
          </p:cNvPr>
          <p:cNvCxnSpPr>
            <a:cxnSpLocks/>
          </p:cNvCxnSpPr>
          <p:nvPr/>
        </p:nvCxnSpPr>
        <p:spPr>
          <a:xfrm>
            <a:off x="2434306" y="1865414"/>
            <a:ext cx="1389804" cy="0"/>
          </a:xfrm>
          <a:prstGeom prst="straightConnector1">
            <a:avLst/>
          </a:prstGeom>
          <a:ln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8F7C7766-7021-432C-A6F4-C8B5477FC770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3920965" y="1707095"/>
            <a:ext cx="686653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왼쪽 중괄호 54">
            <a:extLst>
              <a:ext uri="{FF2B5EF4-FFF2-40B4-BE49-F238E27FC236}">
                <a16:creationId xmlns:a16="http://schemas.microsoft.com/office/drawing/2014/main" id="{FF6A6613-85DE-483E-A88C-1A2A6A74BA76}"/>
              </a:ext>
            </a:extLst>
          </p:cNvPr>
          <p:cNvSpPr/>
          <p:nvPr/>
        </p:nvSpPr>
        <p:spPr>
          <a:xfrm rot="16200000">
            <a:off x="4555317" y="1887156"/>
            <a:ext cx="144000" cy="1440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A39A83-92E1-4B05-982A-21B8F654B101}"/>
              </a:ext>
            </a:extLst>
          </p:cNvPr>
          <p:cNvSpPr txBox="1"/>
          <p:nvPr/>
        </p:nvSpPr>
        <p:spPr>
          <a:xfrm>
            <a:off x="3453227" y="2724474"/>
            <a:ext cx="3616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rgbClr val="4472C4"/>
                </a:solidFill>
                <a:latin typeface="+mn-ea"/>
              </a:rPr>
              <a:t>이 값을 읽어낸다</a:t>
            </a:r>
            <a:r>
              <a:rPr lang="en-US" altLang="ko-KR" sz="1400">
                <a:solidFill>
                  <a:srgbClr val="4472C4"/>
                </a:solidFill>
                <a:latin typeface="+mn-ea"/>
              </a:rPr>
              <a:t>.(</a:t>
            </a:r>
            <a:r>
              <a:rPr lang="ko-KR" altLang="en-US" sz="1400">
                <a:solidFill>
                  <a:srgbClr val="4472C4"/>
                </a:solidFill>
                <a:latin typeface="+mn-ea"/>
              </a:rPr>
              <a:t>써넣을 수도 있다</a:t>
            </a:r>
            <a:r>
              <a:rPr lang="en-US" altLang="ko-KR" sz="1400">
                <a:solidFill>
                  <a:srgbClr val="4472C4"/>
                </a:solidFill>
                <a:latin typeface="+mn-ea"/>
              </a:rPr>
              <a:t>.)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2342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2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buffer.extract&lt;T&gt;.1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F.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extract&lt;T&gt;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버퍼에서 값을 읽어내 보자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929046" y="3244187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699A5B9-DE44-42AC-9839-8E46F1F36FD2}"/>
              </a:ext>
            </a:extLst>
          </p:cNvPr>
          <p:cNvCxnSpPr>
            <a:cxnSpLocks/>
          </p:cNvCxnSpPr>
          <p:nvPr/>
        </p:nvCxnSpPr>
        <p:spPr>
          <a:xfrm flipV="1">
            <a:off x="3693262" y="3605129"/>
            <a:ext cx="0" cy="344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F6F239-5DF7-4EE7-BF85-91FA0C2D2DD7}"/>
              </a:ext>
            </a:extLst>
          </p:cNvPr>
          <p:cNvSpPr/>
          <p:nvPr/>
        </p:nvSpPr>
        <p:spPr>
          <a:xfrm>
            <a:off x="3266374" y="3928228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data()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2929046" y="3239030"/>
            <a:ext cx="731290" cy="30777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100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552496" y="1089940"/>
            <a:ext cx="3887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 a = temp.extract&lt;</a:t>
            </a:r>
            <a:r>
              <a:rPr lang="en-US" altLang="ko-KR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int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&gt;();</a:t>
            </a:r>
            <a:endParaRPr lang="ko-KR" altLang="en-US" sz="2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B85799-59D6-4A6B-81FA-AD9715470E99}"/>
              </a:ext>
            </a:extLst>
          </p:cNvPr>
          <p:cNvSpPr txBox="1"/>
          <p:nvPr/>
        </p:nvSpPr>
        <p:spPr>
          <a:xfrm>
            <a:off x="1735567" y="1658932"/>
            <a:ext cx="770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data()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sizeof(int)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더해지고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sizeof(int)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감소한다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100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대입된다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FEC4A9-5166-4304-B4E3-0E677AD3A5B2}"/>
              </a:ext>
            </a:extLst>
          </p:cNvPr>
          <p:cNvSpPr/>
          <p:nvPr/>
        </p:nvSpPr>
        <p:spPr>
          <a:xfrm>
            <a:off x="2354016" y="2438779"/>
            <a:ext cx="188134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solidFill>
                  <a:srgbClr val="4472C4"/>
                </a:solidFill>
                <a:latin typeface="+mn-ea"/>
              </a:rPr>
              <a:t>4byte</a:t>
            </a:r>
          </a:p>
          <a:p>
            <a:pPr algn="ctr"/>
            <a:r>
              <a:rPr lang="ko-KR" altLang="en-US" sz="1200">
                <a:solidFill>
                  <a:srgbClr val="4472C4"/>
                </a:solidFill>
                <a:latin typeface="+mn-ea"/>
              </a:rPr>
              <a:t>추출한 크기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sizeof(int) 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C10B1-FF0D-4DCD-8594-EF8FDD6CC588}"/>
              </a:ext>
            </a:extLst>
          </p:cNvPr>
          <p:cNvSpPr/>
          <p:nvPr/>
        </p:nvSpPr>
        <p:spPr>
          <a:xfrm>
            <a:off x="3660335" y="3239030"/>
            <a:ext cx="1564115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321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3D031B-7800-4CCE-A1DB-26244D6EE595}"/>
              </a:ext>
            </a:extLst>
          </p:cNvPr>
          <p:cNvSpPr/>
          <p:nvPr/>
        </p:nvSpPr>
        <p:spPr>
          <a:xfrm>
            <a:off x="5224372" y="3239030"/>
            <a:ext cx="731290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8C31770-7000-490B-9F63-D4D151E0C147}"/>
              </a:ext>
            </a:extLst>
          </p:cNvPr>
          <p:cNvSpPr/>
          <p:nvPr/>
        </p:nvSpPr>
        <p:spPr>
          <a:xfrm>
            <a:off x="5958548" y="3239030"/>
            <a:ext cx="267282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817D290-63E9-4E92-9C48-9A89B76C7AC2}"/>
              </a:ext>
            </a:extLst>
          </p:cNvPr>
          <p:cNvSpPr/>
          <p:nvPr/>
        </p:nvSpPr>
        <p:spPr>
          <a:xfrm>
            <a:off x="6224384" y="3239030"/>
            <a:ext cx="267282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6F6470-FCD7-4899-833F-BA05B5A4580C}"/>
              </a:ext>
            </a:extLst>
          </p:cNvPr>
          <p:cNvSpPr/>
          <p:nvPr/>
        </p:nvSpPr>
        <p:spPr>
          <a:xfrm>
            <a:off x="6484068" y="3239030"/>
            <a:ext cx="267282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s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1C10C3E-F1A8-4E3D-9F47-3490A0E65D79}"/>
              </a:ext>
            </a:extLst>
          </p:cNvPr>
          <p:cNvSpPr/>
          <p:nvPr/>
        </p:nvSpPr>
        <p:spPr>
          <a:xfrm>
            <a:off x="6747644" y="3239030"/>
            <a:ext cx="271719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011C7FD-03E0-49A9-B995-13ECB4B559B9}"/>
              </a:ext>
            </a:extLst>
          </p:cNvPr>
          <p:cNvSpPr/>
          <p:nvPr/>
        </p:nvSpPr>
        <p:spPr>
          <a:xfrm>
            <a:off x="7020097" y="3239030"/>
            <a:ext cx="267282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BBEC5F-5095-48B2-AE6E-725E58873C29}"/>
              </a:ext>
            </a:extLst>
          </p:cNvPr>
          <p:cNvSpPr/>
          <p:nvPr/>
        </p:nvSpPr>
        <p:spPr>
          <a:xfrm>
            <a:off x="1278099" y="3541553"/>
            <a:ext cx="18813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data()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값이 추출된 데이터 크기 만큼 더해진다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4" name="왼쪽 중괄호 43">
            <a:extLst>
              <a:ext uri="{FF2B5EF4-FFF2-40B4-BE49-F238E27FC236}">
                <a16:creationId xmlns:a16="http://schemas.microsoft.com/office/drawing/2014/main" id="{CF2BDECD-1227-43D7-A038-AC15D4845E8C}"/>
              </a:ext>
            </a:extLst>
          </p:cNvPr>
          <p:cNvSpPr/>
          <p:nvPr/>
        </p:nvSpPr>
        <p:spPr>
          <a:xfrm rot="5400000">
            <a:off x="3183489" y="2740355"/>
            <a:ext cx="1440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B61933A-3F95-4EA3-A12E-BFF26DC8D554}"/>
              </a:ext>
            </a:extLst>
          </p:cNvPr>
          <p:cNvCxnSpPr>
            <a:cxnSpLocks/>
          </p:cNvCxnSpPr>
          <p:nvPr/>
        </p:nvCxnSpPr>
        <p:spPr>
          <a:xfrm>
            <a:off x="3039321" y="3780438"/>
            <a:ext cx="633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791AF19-D599-498B-97F7-52F21EA55C91}"/>
              </a:ext>
            </a:extLst>
          </p:cNvPr>
          <p:cNvSpPr/>
          <p:nvPr/>
        </p:nvSpPr>
        <p:spPr>
          <a:xfrm>
            <a:off x="5186040" y="2447672"/>
            <a:ext cx="321113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17</a:t>
            </a:r>
          </a:p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size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는 추출된 크기인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4 byte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만큼 줄어든다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</a:t>
            </a:r>
          </a:p>
          <a:p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3" name="왼쪽 중괄호 32">
            <a:extLst>
              <a:ext uri="{FF2B5EF4-FFF2-40B4-BE49-F238E27FC236}">
                <a16:creationId xmlns:a16="http://schemas.microsoft.com/office/drawing/2014/main" id="{55E69425-57EE-4A25-A433-F69EDE7DD488}"/>
              </a:ext>
            </a:extLst>
          </p:cNvPr>
          <p:cNvSpPr/>
          <p:nvPr/>
        </p:nvSpPr>
        <p:spPr>
          <a:xfrm rot="5400000">
            <a:off x="5416849" y="1268269"/>
            <a:ext cx="144000" cy="3597060"/>
          </a:xfrm>
          <a:prstGeom prst="leftBrace">
            <a:avLst>
              <a:gd name="adj1" fmla="val 156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421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2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buffer.extract&lt;T&gt;.2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G.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extract&lt;T&gt;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uint64_t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값을 다시 읽어낸다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929046" y="3270819"/>
            <a:ext cx="5940000" cy="288000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699A5B9-DE44-42AC-9839-8E46F1F36FD2}"/>
              </a:ext>
            </a:extLst>
          </p:cNvPr>
          <p:cNvCxnSpPr>
            <a:cxnSpLocks/>
          </p:cNvCxnSpPr>
          <p:nvPr/>
        </p:nvCxnSpPr>
        <p:spPr>
          <a:xfrm flipV="1">
            <a:off x="5248793" y="3631761"/>
            <a:ext cx="0" cy="344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F6F239-5DF7-4EE7-BF85-91FA0C2D2DD7}"/>
              </a:ext>
            </a:extLst>
          </p:cNvPr>
          <p:cNvSpPr/>
          <p:nvPr/>
        </p:nvSpPr>
        <p:spPr>
          <a:xfrm>
            <a:off x="4821905" y="3954860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data()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2929046" y="3265662"/>
            <a:ext cx="731290" cy="30777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100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552496" y="1089940"/>
            <a:ext cx="45817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 b = temp.extract&lt;</a:t>
            </a:r>
            <a:r>
              <a:rPr lang="en-US" altLang="ko-KR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uint64_t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&gt;();</a:t>
            </a:r>
            <a:endParaRPr lang="ko-KR" altLang="en-US" sz="2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FEC4A9-5166-4304-B4E3-0E677AD3A5B2}"/>
              </a:ext>
            </a:extLst>
          </p:cNvPr>
          <p:cNvSpPr/>
          <p:nvPr/>
        </p:nvSpPr>
        <p:spPr>
          <a:xfrm>
            <a:off x="2770914" y="2474304"/>
            <a:ext cx="236096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solidFill>
                  <a:srgbClr val="4472C4"/>
                </a:solidFill>
                <a:latin typeface="+mn-ea"/>
              </a:rPr>
              <a:t>8byte</a:t>
            </a:r>
          </a:p>
          <a:p>
            <a:pPr algn="ctr"/>
            <a:r>
              <a:rPr lang="ko-KR" altLang="en-US" sz="1200">
                <a:solidFill>
                  <a:srgbClr val="4472C4"/>
                </a:solidFill>
                <a:latin typeface="+mn-ea"/>
              </a:rPr>
              <a:t>추출한 크기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sizeof(uint64_t) </a:t>
            </a:r>
            <a:endParaRPr lang="ko-KR" altLang="en-US" sz="12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C10B1-FF0D-4DCD-8594-EF8FDD6CC588}"/>
              </a:ext>
            </a:extLst>
          </p:cNvPr>
          <p:cNvSpPr/>
          <p:nvPr/>
        </p:nvSpPr>
        <p:spPr>
          <a:xfrm>
            <a:off x="3660335" y="3265662"/>
            <a:ext cx="1564115" cy="298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321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3D031B-7800-4CCE-A1DB-26244D6EE595}"/>
              </a:ext>
            </a:extLst>
          </p:cNvPr>
          <p:cNvSpPr/>
          <p:nvPr/>
        </p:nvSpPr>
        <p:spPr>
          <a:xfrm>
            <a:off x="5224372" y="3265662"/>
            <a:ext cx="731290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8C31770-7000-490B-9F63-D4D151E0C147}"/>
              </a:ext>
            </a:extLst>
          </p:cNvPr>
          <p:cNvSpPr/>
          <p:nvPr/>
        </p:nvSpPr>
        <p:spPr>
          <a:xfrm>
            <a:off x="5958548" y="3265662"/>
            <a:ext cx="267282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817D290-63E9-4E92-9C48-9A89B76C7AC2}"/>
              </a:ext>
            </a:extLst>
          </p:cNvPr>
          <p:cNvSpPr/>
          <p:nvPr/>
        </p:nvSpPr>
        <p:spPr>
          <a:xfrm>
            <a:off x="6224384" y="3265662"/>
            <a:ext cx="267282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6F6470-FCD7-4899-833F-BA05B5A4580C}"/>
              </a:ext>
            </a:extLst>
          </p:cNvPr>
          <p:cNvSpPr/>
          <p:nvPr/>
        </p:nvSpPr>
        <p:spPr>
          <a:xfrm>
            <a:off x="6484068" y="3265662"/>
            <a:ext cx="267282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s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1C10C3E-F1A8-4E3D-9F47-3490A0E65D79}"/>
              </a:ext>
            </a:extLst>
          </p:cNvPr>
          <p:cNvSpPr/>
          <p:nvPr/>
        </p:nvSpPr>
        <p:spPr>
          <a:xfrm>
            <a:off x="6747644" y="3265662"/>
            <a:ext cx="271719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011C7FD-03E0-49A9-B995-13ECB4B559B9}"/>
              </a:ext>
            </a:extLst>
          </p:cNvPr>
          <p:cNvSpPr/>
          <p:nvPr/>
        </p:nvSpPr>
        <p:spPr>
          <a:xfrm>
            <a:off x="7020097" y="3265662"/>
            <a:ext cx="267282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BBEC5F-5095-48B2-AE6E-725E58873C29}"/>
              </a:ext>
            </a:extLst>
          </p:cNvPr>
          <p:cNvSpPr/>
          <p:nvPr/>
        </p:nvSpPr>
        <p:spPr>
          <a:xfrm>
            <a:off x="2833630" y="3568185"/>
            <a:ext cx="18813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data()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값이 추출된 데이터 크기 만큼 더해진다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4" name="왼쪽 중괄호 43">
            <a:extLst>
              <a:ext uri="{FF2B5EF4-FFF2-40B4-BE49-F238E27FC236}">
                <a16:creationId xmlns:a16="http://schemas.microsoft.com/office/drawing/2014/main" id="{CF2BDECD-1227-43D7-A038-AC15D4845E8C}"/>
              </a:ext>
            </a:extLst>
          </p:cNvPr>
          <p:cNvSpPr/>
          <p:nvPr/>
        </p:nvSpPr>
        <p:spPr>
          <a:xfrm rot="5400000">
            <a:off x="4319892" y="2361873"/>
            <a:ext cx="179032" cy="149814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B61933A-3F95-4EA3-A12E-BFF26DC8D554}"/>
              </a:ext>
            </a:extLst>
          </p:cNvPr>
          <p:cNvCxnSpPr>
            <a:cxnSpLocks/>
          </p:cNvCxnSpPr>
          <p:nvPr/>
        </p:nvCxnSpPr>
        <p:spPr>
          <a:xfrm>
            <a:off x="4594852" y="3807070"/>
            <a:ext cx="633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791AF19-D599-498B-97F7-52F21EA55C91}"/>
              </a:ext>
            </a:extLst>
          </p:cNvPr>
          <p:cNvSpPr/>
          <p:nvPr/>
        </p:nvSpPr>
        <p:spPr>
          <a:xfrm>
            <a:off x="5186040" y="2474304"/>
            <a:ext cx="321113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9</a:t>
            </a:r>
          </a:p>
          <a:p>
            <a:r>
              <a:rPr lang="en-US" altLang="ko-KR" sz="1200">
                <a:solidFill>
                  <a:srgbClr val="4472C4"/>
                </a:solidFill>
                <a:latin typeface="+mn-ea"/>
              </a:rPr>
              <a:t>size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는 추출된 크기인 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8 byte</a:t>
            </a:r>
            <a:r>
              <a:rPr lang="ko-KR" altLang="en-US" sz="1200">
                <a:solidFill>
                  <a:srgbClr val="4472C4"/>
                </a:solidFill>
                <a:latin typeface="+mn-ea"/>
              </a:rPr>
              <a:t>만큼 줄어든다</a:t>
            </a:r>
            <a:r>
              <a:rPr lang="en-US" altLang="ko-KR" sz="1200">
                <a:solidFill>
                  <a:srgbClr val="4472C4"/>
                </a:solidFill>
                <a:latin typeface="+mn-ea"/>
              </a:rPr>
              <a:t>.</a:t>
            </a:r>
          </a:p>
          <a:p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3" name="왼쪽 중괄호 32">
            <a:extLst>
              <a:ext uri="{FF2B5EF4-FFF2-40B4-BE49-F238E27FC236}">
                <a16:creationId xmlns:a16="http://schemas.microsoft.com/office/drawing/2014/main" id="{55E69425-57EE-4A25-A433-F69EDE7DD488}"/>
              </a:ext>
            </a:extLst>
          </p:cNvPr>
          <p:cNvSpPr/>
          <p:nvPr/>
        </p:nvSpPr>
        <p:spPr>
          <a:xfrm rot="5400000">
            <a:off x="6188533" y="2103430"/>
            <a:ext cx="144000" cy="1980000"/>
          </a:xfrm>
          <a:prstGeom prst="leftBrace">
            <a:avLst>
              <a:gd name="adj1" fmla="val 156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4DC33C-844E-489B-9CFD-1EE400C26D7F}"/>
              </a:ext>
            </a:extLst>
          </p:cNvPr>
          <p:cNvSpPr txBox="1"/>
          <p:nvPr/>
        </p:nvSpPr>
        <p:spPr>
          <a:xfrm>
            <a:off x="1735567" y="1658931"/>
            <a:ext cx="7708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data()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sizeof(uint64_t)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더해지고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sizeof(uint64_t)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감소한다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321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대입된다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0008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2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buffer.extract&lt;T&gt;.3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H.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extract&lt;std::string_view&gt;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문자열 값을 다시 읽어낸다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929046" y="3018165"/>
            <a:ext cx="5940000" cy="288000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699A5B9-DE44-42AC-9839-8E46F1F36FD2}"/>
              </a:ext>
            </a:extLst>
          </p:cNvPr>
          <p:cNvCxnSpPr>
            <a:cxnSpLocks/>
          </p:cNvCxnSpPr>
          <p:nvPr/>
        </p:nvCxnSpPr>
        <p:spPr>
          <a:xfrm flipV="1">
            <a:off x="7287797" y="3379107"/>
            <a:ext cx="0" cy="344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F6F239-5DF7-4EE7-BF85-91FA0C2D2DD7}"/>
              </a:ext>
            </a:extLst>
          </p:cNvPr>
          <p:cNvSpPr/>
          <p:nvPr/>
        </p:nvSpPr>
        <p:spPr>
          <a:xfrm>
            <a:off x="6913459" y="3702206"/>
            <a:ext cx="7312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data()</a:t>
            </a:r>
            <a:endParaRPr lang="ko-KR" altLang="en-US" sz="1400">
              <a:solidFill>
                <a:srgbClr val="4472C4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2929046" y="3013008"/>
            <a:ext cx="731290" cy="30777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100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552496" y="1089941"/>
            <a:ext cx="5711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 c = temp.extract&lt;</a:t>
            </a:r>
            <a:r>
              <a:rPr lang="en-US" altLang="ko-KR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std::string_view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&gt;();</a:t>
            </a:r>
            <a:endParaRPr lang="ko-KR" altLang="en-US" sz="2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C10B1-FF0D-4DCD-8594-EF8FDD6CC588}"/>
              </a:ext>
            </a:extLst>
          </p:cNvPr>
          <p:cNvSpPr/>
          <p:nvPr/>
        </p:nvSpPr>
        <p:spPr>
          <a:xfrm>
            <a:off x="3660335" y="3013008"/>
            <a:ext cx="1564115" cy="298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1234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3D031B-7800-4CCE-A1DB-26244D6EE595}"/>
              </a:ext>
            </a:extLst>
          </p:cNvPr>
          <p:cNvSpPr/>
          <p:nvPr/>
        </p:nvSpPr>
        <p:spPr>
          <a:xfrm>
            <a:off x="5224372" y="3018165"/>
            <a:ext cx="731290" cy="298800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5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8C31770-7000-490B-9F63-D4D151E0C147}"/>
              </a:ext>
            </a:extLst>
          </p:cNvPr>
          <p:cNvSpPr/>
          <p:nvPr/>
        </p:nvSpPr>
        <p:spPr>
          <a:xfrm>
            <a:off x="5958548" y="3018165"/>
            <a:ext cx="267282" cy="298800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t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817D290-63E9-4E92-9C48-9A89B76C7AC2}"/>
              </a:ext>
            </a:extLst>
          </p:cNvPr>
          <p:cNvSpPr/>
          <p:nvPr/>
        </p:nvSpPr>
        <p:spPr>
          <a:xfrm>
            <a:off x="6224384" y="3018165"/>
            <a:ext cx="267282" cy="298800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e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6F6470-FCD7-4899-833F-BA05B5A4580C}"/>
              </a:ext>
            </a:extLst>
          </p:cNvPr>
          <p:cNvSpPr/>
          <p:nvPr/>
        </p:nvSpPr>
        <p:spPr>
          <a:xfrm>
            <a:off x="6484068" y="3018165"/>
            <a:ext cx="267282" cy="298800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s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1C10C3E-F1A8-4E3D-9F47-3490A0E65D79}"/>
              </a:ext>
            </a:extLst>
          </p:cNvPr>
          <p:cNvSpPr/>
          <p:nvPr/>
        </p:nvSpPr>
        <p:spPr>
          <a:xfrm>
            <a:off x="6747644" y="3018165"/>
            <a:ext cx="271719" cy="298800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t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011C7FD-03E0-49A9-B995-13ECB4B559B9}"/>
              </a:ext>
            </a:extLst>
          </p:cNvPr>
          <p:cNvSpPr/>
          <p:nvPr/>
        </p:nvSpPr>
        <p:spPr>
          <a:xfrm>
            <a:off x="7020097" y="3018165"/>
            <a:ext cx="267282" cy="298800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0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791AF19-D599-498B-97F7-52F21EA55C91}"/>
              </a:ext>
            </a:extLst>
          </p:cNvPr>
          <p:cNvSpPr/>
          <p:nvPr/>
        </p:nvSpPr>
        <p:spPr>
          <a:xfrm>
            <a:off x="6722920" y="2572745"/>
            <a:ext cx="1111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size()</a:t>
            </a:r>
            <a:r>
              <a:rPr lang="en-US" altLang="ko-KR" sz="1400">
                <a:solidFill>
                  <a:srgbClr val="4472C4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= 0</a:t>
            </a:r>
            <a:endParaRPr lang="ko-KR" altLang="en-US" sz="1400">
              <a:solidFill>
                <a:srgbClr val="4472C4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4DC33C-844E-489B-9CFD-1EE400C26D7F}"/>
              </a:ext>
            </a:extLst>
          </p:cNvPr>
          <p:cNvSpPr txBox="1"/>
          <p:nvPr/>
        </p:nvSpPr>
        <p:spPr>
          <a:xfrm>
            <a:off x="1735567" y="1658932"/>
            <a:ext cx="7708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data()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문자열의 길이와 문자열 데이터의 크기인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9 byte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더해지고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그만큼 감소해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0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되고 만다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에는 문자열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“test”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대입된다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7069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82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buffer.example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이런 식으로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append&lt;T&gt;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간단한 메시지를 작성해 보자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1AFF74D-4898-4C7C-9F67-6BA7573B1659}"/>
              </a:ext>
            </a:extLst>
          </p:cNvPr>
          <p:cNvSpPr/>
          <p:nvPr/>
        </p:nvSpPr>
        <p:spPr>
          <a:xfrm>
            <a:off x="1676415" y="1074164"/>
            <a:ext cx="8962098" cy="2210175"/>
          </a:xfrm>
          <a:custGeom>
            <a:avLst/>
            <a:gdLst>
              <a:gd name="connsiteX0" fmla="*/ 0 w 8962098"/>
              <a:gd name="connsiteY0" fmla="*/ 0 h 2210175"/>
              <a:gd name="connsiteX1" fmla="*/ 868634 w 8962098"/>
              <a:gd name="connsiteY1" fmla="*/ 0 h 2210175"/>
              <a:gd name="connsiteX2" fmla="*/ 1468405 w 8962098"/>
              <a:gd name="connsiteY2" fmla="*/ 0 h 2210175"/>
              <a:gd name="connsiteX3" fmla="*/ 1888935 w 8962098"/>
              <a:gd name="connsiteY3" fmla="*/ 0 h 2210175"/>
              <a:gd name="connsiteX4" fmla="*/ 2488706 w 8962098"/>
              <a:gd name="connsiteY4" fmla="*/ 0 h 2210175"/>
              <a:gd name="connsiteX5" fmla="*/ 3088477 w 8962098"/>
              <a:gd name="connsiteY5" fmla="*/ 0 h 2210175"/>
              <a:gd name="connsiteX6" fmla="*/ 3867490 w 8962098"/>
              <a:gd name="connsiteY6" fmla="*/ 0 h 2210175"/>
              <a:gd name="connsiteX7" fmla="*/ 4288019 w 8962098"/>
              <a:gd name="connsiteY7" fmla="*/ 0 h 2210175"/>
              <a:gd name="connsiteX8" fmla="*/ 4977411 w 8962098"/>
              <a:gd name="connsiteY8" fmla="*/ 0 h 2210175"/>
              <a:gd name="connsiteX9" fmla="*/ 5487562 w 8962098"/>
              <a:gd name="connsiteY9" fmla="*/ 0 h 2210175"/>
              <a:gd name="connsiteX10" fmla="*/ 5908091 w 8962098"/>
              <a:gd name="connsiteY10" fmla="*/ 0 h 2210175"/>
              <a:gd name="connsiteX11" fmla="*/ 6776725 w 8962098"/>
              <a:gd name="connsiteY11" fmla="*/ 0 h 2210175"/>
              <a:gd name="connsiteX12" fmla="*/ 7376496 w 8962098"/>
              <a:gd name="connsiteY12" fmla="*/ 0 h 2210175"/>
              <a:gd name="connsiteX13" fmla="*/ 8155509 w 8962098"/>
              <a:gd name="connsiteY13" fmla="*/ 0 h 2210175"/>
              <a:gd name="connsiteX14" fmla="*/ 8962098 w 8962098"/>
              <a:gd name="connsiteY14" fmla="*/ 0 h 2210175"/>
              <a:gd name="connsiteX15" fmla="*/ 8962098 w 8962098"/>
              <a:gd name="connsiteY15" fmla="*/ 508340 h 2210175"/>
              <a:gd name="connsiteX16" fmla="*/ 8962098 w 8962098"/>
              <a:gd name="connsiteY16" fmla="*/ 1038782 h 2210175"/>
              <a:gd name="connsiteX17" fmla="*/ 8962098 w 8962098"/>
              <a:gd name="connsiteY17" fmla="*/ 1547123 h 2210175"/>
              <a:gd name="connsiteX18" fmla="*/ 8962098 w 8962098"/>
              <a:gd name="connsiteY18" fmla="*/ 2210175 h 2210175"/>
              <a:gd name="connsiteX19" fmla="*/ 8362327 w 8962098"/>
              <a:gd name="connsiteY19" fmla="*/ 2210175 h 2210175"/>
              <a:gd name="connsiteX20" fmla="*/ 7762556 w 8962098"/>
              <a:gd name="connsiteY20" fmla="*/ 2210175 h 2210175"/>
              <a:gd name="connsiteX21" fmla="*/ 6983543 w 8962098"/>
              <a:gd name="connsiteY21" fmla="*/ 2210175 h 2210175"/>
              <a:gd name="connsiteX22" fmla="*/ 6383771 w 8962098"/>
              <a:gd name="connsiteY22" fmla="*/ 2210175 h 2210175"/>
              <a:gd name="connsiteX23" fmla="*/ 5604758 w 8962098"/>
              <a:gd name="connsiteY23" fmla="*/ 2210175 h 2210175"/>
              <a:gd name="connsiteX24" fmla="*/ 5094608 w 8962098"/>
              <a:gd name="connsiteY24" fmla="*/ 2210175 h 2210175"/>
              <a:gd name="connsiteX25" fmla="*/ 4584458 w 8962098"/>
              <a:gd name="connsiteY25" fmla="*/ 2210175 h 2210175"/>
              <a:gd name="connsiteX26" fmla="*/ 3805445 w 8962098"/>
              <a:gd name="connsiteY26" fmla="*/ 2210175 h 2210175"/>
              <a:gd name="connsiteX27" fmla="*/ 3205674 w 8962098"/>
              <a:gd name="connsiteY27" fmla="*/ 2210175 h 2210175"/>
              <a:gd name="connsiteX28" fmla="*/ 2516281 w 8962098"/>
              <a:gd name="connsiteY28" fmla="*/ 2210175 h 2210175"/>
              <a:gd name="connsiteX29" fmla="*/ 1916510 w 8962098"/>
              <a:gd name="connsiteY29" fmla="*/ 2210175 h 2210175"/>
              <a:gd name="connsiteX30" fmla="*/ 1495981 w 8962098"/>
              <a:gd name="connsiteY30" fmla="*/ 2210175 h 2210175"/>
              <a:gd name="connsiteX31" fmla="*/ 627347 w 8962098"/>
              <a:gd name="connsiteY31" fmla="*/ 2210175 h 2210175"/>
              <a:gd name="connsiteX32" fmla="*/ 0 w 8962098"/>
              <a:gd name="connsiteY32" fmla="*/ 2210175 h 2210175"/>
              <a:gd name="connsiteX33" fmla="*/ 0 w 8962098"/>
              <a:gd name="connsiteY33" fmla="*/ 1613428 h 2210175"/>
              <a:gd name="connsiteX34" fmla="*/ 0 w 8962098"/>
              <a:gd name="connsiteY34" fmla="*/ 1016680 h 2210175"/>
              <a:gd name="connsiteX35" fmla="*/ 0 w 8962098"/>
              <a:gd name="connsiteY35" fmla="*/ 0 h 221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210175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87340" y="242858"/>
                  <a:pt x="8953974" y="256295"/>
                  <a:pt x="8962098" y="508340"/>
                </a:cubicBezTo>
                <a:cubicBezTo>
                  <a:pt x="8970222" y="760385"/>
                  <a:pt x="8967239" y="806866"/>
                  <a:pt x="8962098" y="1038782"/>
                </a:cubicBezTo>
                <a:cubicBezTo>
                  <a:pt x="8956957" y="1270698"/>
                  <a:pt x="8953652" y="1335448"/>
                  <a:pt x="8962098" y="1547123"/>
                </a:cubicBezTo>
                <a:cubicBezTo>
                  <a:pt x="8970544" y="1758798"/>
                  <a:pt x="8989586" y="2003876"/>
                  <a:pt x="8962098" y="2210175"/>
                </a:cubicBezTo>
                <a:cubicBezTo>
                  <a:pt x="8687274" y="2223384"/>
                  <a:pt x="8494791" y="2208742"/>
                  <a:pt x="8362327" y="2210175"/>
                </a:cubicBezTo>
                <a:cubicBezTo>
                  <a:pt x="8229863" y="2211608"/>
                  <a:pt x="7913777" y="2201557"/>
                  <a:pt x="7762556" y="2210175"/>
                </a:cubicBezTo>
                <a:cubicBezTo>
                  <a:pt x="7611335" y="2218793"/>
                  <a:pt x="7339701" y="2225842"/>
                  <a:pt x="6983543" y="2210175"/>
                </a:cubicBezTo>
                <a:cubicBezTo>
                  <a:pt x="6627385" y="2194508"/>
                  <a:pt x="6543892" y="2180477"/>
                  <a:pt x="6383771" y="2210175"/>
                </a:cubicBezTo>
                <a:cubicBezTo>
                  <a:pt x="6223650" y="2239873"/>
                  <a:pt x="5764514" y="2190886"/>
                  <a:pt x="5604758" y="2210175"/>
                </a:cubicBezTo>
                <a:cubicBezTo>
                  <a:pt x="5445002" y="2229464"/>
                  <a:pt x="5345731" y="2234180"/>
                  <a:pt x="5094608" y="2210175"/>
                </a:cubicBezTo>
                <a:cubicBezTo>
                  <a:pt x="4843485" y="2186171"/>
                  <a:pt x="4833978" y="2220688"/>
                  <a:pt x="4584458" y="2210175"/>
                </a:cubicBezTo>
                <a:cubicBezTo>
                  <a:pt x="4334938" y="2199663"/>
                  <a:pt x="3996796" y="2177719"/>
                  <a:pt x="3805445" y="2210175"/>
                </a:cubicBezTo>
                <a:cubicBezTo>
                  <a:pt x="3614094" y="2242631"/>
                  <a:pt x="3362298" y="2203289"/>
                  <a:pt x="3205674" y="2210175"/>
                </a:cubicBezTo>
                <a:cubicBezTo>
                  <a:pt x="3049050" y="2217061"/>
                  <a:pt x="2714112" y="2193331"/>
                  <a:pt x="2516281" y="2210175"/>
                </a:cubicBezTo>
                <a:cubicBezTo>
                  <a:pt x="2318450" y="2227019"/>
                  <a:pt x="2190500" y="2207902"/>
                  <a:pt x="1916510" y="2210175"/>
                </a:cubicBezTo>
                <a:cubicBezTo>
                  <a:pt x="1642520" y="2212448"/>
                  <a:pt x="1631050" y="2200652"/>
                  <a:pt x="1495981" y="2210175"/>
                </a:cubicBezTo>
                <a:cubicBezTo>
                  <a:pt x="1360912" y="2219698"/>
                  <a:pt x="904943" y="2202851"/>
                  <a:pt x="627347" y="2210175"/>
                </a:cubicBezTo>
                <a:cubicBezTo>
                  <a:pt x="349751" y="2217499"/>
                  <a:pt x="215136" y="2208946"/>
                  <a:pt x="0" y="2210175"/>
                </a:cubicBezTo>
                <a:cubicBezTo>
                  <a:pt x="-19364" y="1929761"/>
                  <a:pt x="-17921" y="1820553"/>
                  <a:pt x="0" y="1613428"/>
                </a:cubicBezTo>
                <a:cubicBezTo>
                  <a:pt x="17921" y="1406303"/>
                  <a:pt x="-21931" y="1182488"/>
                  <a:pt x="0" y="1016680"/>
                </a:cubicBezTo>
                <a:cubicBezTo>
                  <a:pt x="21931" y="850872"/>
                  <a:pt x="-41155" y="299563"/>
                  <a:pt x="0" y="0"/>
                </a:cubicBezTo>
                <a:close/>
              </a:path>
              <a:path w="8962098" h="2210175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3200" y="291418"/>
                  <a:pt x="8988248" y="418289"/>
                  <a:pt x="8962098" y="596747"/>
                </a:cubicBezTo>
                <a:cubicBezTo>
                  <a:pt x="8935948" y="775205"/>
                  <a:pt x="8984933" y="954639"/>
                  <a:pt x="8962098" y="1171393"/>
                </a:cubicBezTo>
                <a:cubicBezTo>
                  <a:pt x="8939263" y="1388147"/>
                  <a:pt x="8974208" y="1518113"/>
                  <a:pt x="8962098" y="1723937"/>
                </a:cubicBezTo>
                <a:cubicBezTo>
                  <a:pt x="8949988" y="1929761"/>
                  <a:pt x="8980252" y="2086439"/>
                  <a:pt x="8962098" y="2210175"/>
                </a:cubicBezTo>
                <a:cubicBezTo>
                  <a:pt x="8798611" y="2218811"/>
                  <a:pt x="8595103" y="2206419"/>
                  <a:pt x="8451948" y="2210175"/>
                </a:cubicBezTo>
                <a:cubicBezTo>
                  <a:pt x="8308793" y="2213932"/>
                  <a:pt x="7904099" y="2167914"/>
                  <a:pt x="7583314" y="2210175"/>
                </a:cubicBezTo>
                <a:cubicBezTo>
                  <a:pt x="7262529" y="2252436"/>
                  <a:pt x="7199930" y="2244004"/>
                  <a:pt x="6893922" y="2210175"/>
                </a:cubicBezTo>
                <a:cubicBezTo>
                  <a:pt x="6587914" y="2176346"/>
                  <a:pt x="6441786" y="2226529"/>
                  <a:pt x="6114908" y="2210175"/>
                </a:cubicBezTo>
                <a:cubicBezTo>
                  <a:pt x="5788030" y="2193821"/>
                  <a:pt x="5709265" y="2205834"/>
                  <a:pt x="5335895" y="2210175"/>
                </a:cubicBezTo>
                <a:cubicBezTo>
                  <a:pt x="4962525" y="2214516"/>
                  <a:pt x="4965753" y="2187109"/>
                  <a:pt x="4736124" y="2210175"/>
                </a:cubicBezTo>
                <a:cubicBezTo>
                  <a:pt x="4506495" y="2233241"/>
                  <a:pt x="4386838" y="2195246"/>
                  <a:pt x="4225974" y="2210175"/>
                </a:cubicBezTo>
                <a:cubicBezTo>
                  <a:pt x="4065110" y="2225105"/>
                  <a:pt x="3752473" y="2174701"/>
                  <a:pt x="3357340" y="2210175"/>
                </a:cubicBezTo>
                <a:cubicBezTo>
                  <a:pt x="2962207" y="2245649"/>
                  <a:pt x="3011953" y="2195722"/>
                  <a:pt x="2667948" y="2210175"/>
                </a:cubicBezTo>
                <a:cubicBezTo>
                  <a:pt x="2323943" y="2224628"/>
                  <a:pt x="2047871" y="2196988"/>
                  <a:pt x="1799314" y="2210175"/>
                </a:cubicBezTo>
                <a:cubicBezTo>
                  <a:pt x="1550757" y="2223362"/>
                  <a:pt x="1180727" y="2201450"/>
                  <a:pt x="1020300" y="2210175"/>
                </a:cubicBezTo>
                <a:cubicBezTo>
                  <a:pt x="859873" y="2218900"/>
                  <a:pt x="498026" y="2260221"/>
                  <a:pt x="0" y="2210175"/>
                </a:cubicBezTo>
                <a:cubicBezTo>
                  <a:pt x="10844" y="2086005"/>
                  <a:pt x="10149" y="1914636"/>
                  <a:pt x="0" y="1657631"/>
                </a:cubicBezTo>
                <a:cubicBezTo>
                  <a:pt x="-10149" y="1400626"/>
                  <a:pt x="-10137" y="1380550"/>
                  <a:pt x="0" y="1171393"/>
                </a:cubicBezTo>
                <a:cubicBezTo>
                  <a:pt x="10137" y="962236"/>
                  <a:pt x="10275" y="863217"/>
                  <a:pt x="0" y="663053"/>
                </a:cubicBezTo>
                <a:cubicBezTo>
                  <a:pt x="-10275" y="462889"/>
                  <a:pt x="-29902" y="32118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1000 byte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버퍼를 할당받는다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 buf_temp = 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alloc_shared_buffer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(1000);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append&lt;T&gt;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사용해서 데이터들을 버퍼에 써넣는다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buf_temp.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append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buf_temp.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append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&lt;eMESSAGE_TYPE&gt;(eMESSAGE_TYPE::REQUEST_LOGIN);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buf_temp.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append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&lt;std::string_view&gt;(“test_id”);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buf_temp.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append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&lt;std::string_view&gt;(“test_password”);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buf_temp.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append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uint64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_t&gt;(0);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front&lt;T&gt;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함수로 버퍼값을 다시 변경한다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buf_temp.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front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&gt;(0) = buf_temp_size();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591DA1-162F-4DEB-8504-A778A3CDF0A0}"/>
              </a:ext>
            </a:extLst>
          </p:cNvPr>
          <p:cNvSpPr txBox="1"/>
          <p:nvPr/>
        </p:nvSpPr>
        <p:spPr>
          <a:xfrm>
            <a:off x="1431816" y="3505796"/>
            <a:ext cx="770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이렇게 작성된 메시지를 전송받은 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extract&lt;T&gt;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함수로 다음과 같이 읽어 낼수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D5BDD77-74C9-4D40-A894-EA8EDC6763F6}"/>
              </a:ext>
            </a:extLst>
          </p:cNvPr>
          <p:cNvSpPr/>
          <p:nvPr/>
        </p:nvSpPr>
        <p:spPr>
          <a:xfrm>
            <a:off x="1652110" y="3896192"/>
            <a:ext cx="8962098" cy="1286845"/>
          </a:xfrm>
          <a:custGeom>
            <a:avLst/>
            <a:gdLst>
              <a:gd name="connsiteX0" fmla="*/ 0 w 8962098"/>
              <a:gd name="connsiteY0" fmla="*/ 0 h 1286845"/>
              <a:gd name="connsiteX1" fmla="*/ 420529 w 8962098"/>
              <a:gd name="connsiteY1" fmla="*/ 0 h 1286845"/>
              <a:gd name="connsiteX2" fmla="*/ 1199542 w 8962098"/>
              <a:gd name="connsiteY2" fmla="*/ 0 h 1286845"/>
              <a:gd name="connsiteX3" fmla="*/ 1620072 w 8962098"/>
              <a:gd name="connsiteY3" fmla="*/ 0 h 1286845"/>
              <a:gd name="connsiteX4" fmla="*/ 2040601 w 8962098"/>
              <a:gd name="connsiteY4" fmla="*/ 0 h 1286845"/>
              <a:gd name="connsiteX5" fmla="*/ 2550751 w 8962098"/>
              <a:gd name="connsiteY5" fmla="*/ 0 h 1286845"/>
              <a:gd name="connsiteX6" fmla="*/ 3150522 w 8962098"/>
              <a:gd name="connsiteY6" fmla="*/ 0 h 1286845"/>
              <a:gd name="connsiteX7" fmla="*/ 3571051 w 8962098"/>
              <a:gd name="connsiteY7" fmla="*/ 0 h 1286845"/>
              <a:gd name="connsiteX8" fmla="*/ 4170823 w 8962098"/>
              <a:gd name="connsiteY8" fmla="*/ 0 h 1286845"/>
              <a:gd name="connsiteX9" fmla="*/ 4770594 w 8962098"/>
              <a:gd name="connsiteY9" fmla="*/ 0 h 1286845"/>
              <a:gd name="connsiteX10" fmla="*/ 5549607 w 8962098"/>
              <a:gd name="connsiteY10" fmla="*/ 0 h 1286845"/>
              <a:gd name="connsiteX11" fmla="*/ 5970136 w 8962098"/>
              <a:gd name="connsiteY11" fmla="*/ 0 h 1286845"/>
              <a:gd name="connsiteX12" fmla="*/ 6659528 w 8962098"/>
              <a:gd name="connsiteY12" fmla="*/ 0 h 1286845"/>
              <a:gd name="connsiteX13" fmla="*/ 7169678 w 8962098"/>
              <a:gd name="connsiteY13" fmla="*/ 0 h 1286845"/>
              <a:gd name="connsiteX14" fmla="*/ 7590208 w 8962098"/>
              <a:gd name="connsiteY14" fmla="*/ 0 h 1286845"/>
              <a:gd name="connsiteX15" fmla="*/ 8962098 w 8962098"/>
              <a:gd name="connsiteY15" fmla="*/ 0 h 1286845"/>
              <a:gd name="connsiteX16" fmla="*/ 8962098 w 8962098"/>
              <a:gd name="connsiteY16" fmla="*/ 630554 h 1286845"/>
              <a:gd name="connsiteX17" fmla="*/ 8962098 w 8962098"/>
              <a:gd name="connsiteY17" fmla="*/ 1286845 h 1286845"/>
              <a:gd name="connsiteX18" fmla="*/ 8541569 w 8962098"/>
              <a:gd name="connsiteY18" fmla="*/ 1286845 h 1286845"/>
              <a:gd name="connsiteX19" fmla="*/ 7672935 w 8962098"/>
              <a:gd name="connsiteY19" fmla="*/ 1286845 h 1286845"/>
              <a:gd name="connsiteX20" fmla="*/ 7252405 w 8962098"/>
              <a:gd name="connsiteY20" fmla="*/ 1286845 h 1286845"/>
              <a:gd name="connsiteX21" fmla="*/ 6473392 w 8962098"/>
              <a:gd name="connsiteY21" fmla="*/ 1286845 h 1286845"/>
              <a:gd name="connsiteX22" fmla="*/ 5784000 w 8962098"/>
              <a:gd name="connsiteY22" fmla="*/ 1286845 h 1286845"/>
              <a:gd name="connsiteX23" fmla="*/ 5094608 w 8962098"/>
              <a:gd name="connsiteY23" fmla="*/ 1286845 h 1286845"/>
              <a:gd name="connsiteX24" fmla="*/ 4494837 w 8962098"/>
              <a:gd name="connsiteY24" fmla="*/ 1286845 h 1286845"/>
              <a:gd name="connsiteX25" fmla="*/ 3715824 w 8962098"/>
              <a:gd name="connsiteY25" fmla="*/ 1286845 h 1286845"/>
              <a:gd name="connsiteX26" fmla="*/ 3116053 w 8962098"/>
              <a:gd name="connsiteY26" fmla="*/ 1286845 h 1286845"/>
              <a:gd name="connsiteX27" fmla="*/ 2337039 w 8962098"/>
              <a:gd name="connsiteY27" fmla="*/ 1286845 h 1286845"/>
              <a:gd name="connsiteX28" fmla="*/ 1826889 w 8962098"/>
              <a:gd name="connsiteY28" fmla="*/ 1286845 h 1286845"/>
              <a:gd name="connsiteX29" fmla="*/ 1316739 w 8962098"/>
              <a:gd name="connsiteY29" fmla="*/ 1286845 h 1286845"/>
              <a:gd name="connsiteX30" fmla="*/ 0 w 8962098"/>
              <a:gd name="connsiteY30" fmla="*/ 1286845 h 1286845"/>
              <a:gd name="connsiteX31" fmla="*/ 0 w 8962098"/>
              <a:gd name="connsiteY31" fmla="*/ 656291 h 1286845"/>
              <a:gd name="connsiteX32" fmla="*/ 0 w 8962098"/>
              <a:gd name="connsiteY32" fmla="*/ 0 h 128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286845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1991" y="314734"/>
                  <a:pt x="8992429" y="323237"/>
                  <a:pt x="8962098" y="630554"/>
                </a:cubicBezTo>
                <a:cubicBezTo>
                  <a:pt x="8931767" y="937871"/>
                  <a:pt x="8970990" y="1029600"/>
                  <a:pt x="8962098" y="1286845"/>
                </a:cubicBezTo>
                <a:cubicBezTo>
                  <a:pt x="8773150" y="1272512"/>
                  <a:pt x="8713881" y="1266531"/>
                  <a:pt x="8541569" y="1286845"/>
                </a:cubicBezTo>
                <a:cubicBezTo>
                  <a:pt x="8369257" y="1307159"/>
                  <a:pt x="7946817" y="1316253"/>
                  <a:pt x="7672935" y="1286845"/>
                </a:cubicBezTo>
                <a:cubicBezTo>
                  <a:pt x="7399053" y="1257437"/>
                  <a:pt x="7433511" y="1276373"/>
                  <a:pt x="7252405" y="1286845"/>
                </a:cubicBezTo>
                <a:cubicBezTo>
                  <a:pt x="7071299" y="1297318"/>
                  <a:pt x="6730593" y="1299059"/>
                  <a:pt x="6473392" y="1286845"/>
                </a:cubicBezTo>
                <a:cubicBezTo>
                  <a:pt x="6216191" y="1274631"/>
                  <a:pt x="5928123" y="1253161"/>
                  <a:pt x="5784000" y="1286845"/>
                </a:cubicBezTo>
                <a:cubicBezTo>
                  <a:pt x="5639877" y="1320529"/>
                  <a:pt x="5290102" y="1281811"/>
                  <a:pt x="5094608" y="1286845"/>
                </a:cubicBezTo>
                <a:cubicBezTo>
                  <a:pt x="4899114" y="1291879"/>
                  <a:pt x="4646058" y="1278227"/>
                  <a:pt x="4494837" y="1286845"/>
                </a:cubicBezTo>
                <a:cubicBezTo>
                  <a:pt x="4343616" y="1295463"/>
                  <a:pt x="4071982" y="1302512"/>
                  <a:pt x="3715824" y="1286845"/>
                </a:cubicBezTo>
                <a:cubicBezTo>
                  <a:pt x="3359666" y="1271178"/>
                  <a:pt x="3269812" y="1315710"/>
                  <a:pt x="3116053" y="1286845"/>
                </a:cubicBezTo>
                <a:cubicBezTo>
                  <a:pt x="2962294" y="1257980"/>
                  <a:pt x="2501003" y="1271224"/>
                  <a:pt x="2337039" y="1286845"/>
                </a:cubicBezTo>
                <a:cubicBezTo>
                  <a:pt x="2173075" y="1302466"/>
                  <a:pt x="2078012" y="1310850"/>
                  <a:pt x="1826889" y="1286845"/>
                </a:cubicBezTo>
                <a:cubicBezTo>
                  <a:pt x="1575766" y="1262841"/>
                  <a:pt x="1566259" y="1297358"/>
                  <a:pt x="1316739" y="1286845"/>
                </a:cubicBezTo>
                <a:cubicBezTo>
                  <a:pt x="1067219" y="1276333"/>
                  <a:pt x="586745" y="1315677"/>
                  <a:pt x="0" y="1286845"/>
                </a:cubicBezTo>
                <a:cubicBezTo>
                  <a:pt x="-12747" y="1027590"/>
                  <a:pt x="-24053" y="943405"/>
                  <a:pt x="0" y="656291"/>
                </a:cubicBezTo>
                <a:cubicBezTo>
                  <a:pt x="24053" y="369177"/>
                  <a:pt x="-10594" y="231224"/>
                  <a:pt x="0" y="0"/>
                </a:cubicBezTo>
                <a:close/>
              </a:path>
              <a:path w="8962098" h="1286845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63239" y="153817"/>
                  <a:pt x="8937810" y="524676"/>
                  <a:pt x="8962098" y="669159"/>
                </a:cubicBezTo>
                <a:cubicBezTo>
                  <a:pt x="8986386" y="813642"/>
                  <a:pt x="8992461" y="1162126"/>
                  <a:pt x="8962098" y="1286845"/>
                </a:cubicBezTo>
                <a:cubicBezTo>
                  <a:pt x="8742154" y="1262191"/>
                  <a:pt x="8448095" y="1265249"/>
                  <a:pt x="8272706" y="1286845"/>
                </a:cubicBezTo>
                <a:cubicBezTo>
                  <a:pt x="8097317" y="1308441"/>
                  <a:pt x="7820885" y="1291306"/>
                  <a:pt x="7583314" y="1286845"/>
                </a:cubicBezTo>
                <a:cubicBezTo>
                  <a:pt x="7345743" y="1282384"/>
                  <a:pt x="7187503" y="1271948"/>
                  <a:pt x="6893922" y="1286845"/>
                </a:cubicBezTo>
                <a:cubicBezTo>
                  <a:pt x="6600341" y="1301742"/>
                  <a:pt x="6348884" y="1246690"/>
                  <a:pt x="6025287" y="1286845"/>
                </a:cubicBezTo>
                <a:cubicBezTo>
                  <a:pt x="5701690" y="1327000"/>
                  <a:pt x="5641903" y="1320674"/>
                  <a:pt x="5335895" y="1286845"/>
                </a:cubicBezTo>
                <a:cubicBezTo>
                  <a:pt x="5029887" y="1253016"/>
                  <a:pt x="4881389" y="1298310"/>
                  <a:pt x="4556882" y="1286845"/>
                </a:cubicBezTo>
                <a:cubicBezTo>
                  <a:pt x="4232375" y="1275380"/>
                  <a:pt x="4151239" y="1282504"/>
                  <a:pt x="3777869" y="1286845"/>
                </a:cubicBezTo>
                <a:cubicBezTo>
                  <a:pt x="3404499" y="1291186"/>
                  <a:pt x="3407727" y="1263779"/>
                  <a:pt x="3178098" y="1286845"/>
                </a:cubicBezTo>
                <a:cubicBezTo>
                  <a:pt x="2948469" y="1309911"/>
                  <a:pt x="2828812" y="1271916"/>
                  <a:pt x="2667948" y="1286845"/>
                </a:cubicBezTo>
                <a:cubicBezTo>
                  <a:pt x="2507084" y="1301775"/>
                  <a:pt x="2194447" y="1251371"/>
                  <a:pt x="1799314" y="1286845"/>
                </a:cubicBezTo>
                <a:cubicBezTo>
                  <a:pt x="1404181" y="1322319"/>
                  <a:pt x="1251049" y="1274826"/>
                  <a:pt x="1109921" y="1286845"/>
                </a:cubicBezTo>
                <a:cubicBezTo>
                  <a:pt x="968793" y="1298864"/>
                  <a:pt x="382880" y="1275449"/>
                  <a:pt x="0" y="1286845"/>
                </a:cubicBezTo>
                <a:cubicBezTo>
                  <a:pt x="11355" y="994974"/>
                  <a:pt x="-23087" y="777100"/>
                  <a:pt x="0" y="630554"/>
                </a:cubicBezTo>
                <a:cubicBezTo>
                  <a:pt x="23087" y="484008"/>
                  <a:pt x="10817" y="26040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extract&lt;T&gt;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사용해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appen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한 순서 그대로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extract&lt;T&gt;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사용해 데이터들을 읽어내면 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ko-KR" altLang="en-US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message_len  = buf_receive.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extract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message_teyp = buf_receive.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extract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&lt;eMESSAGE_TYPE&gt;();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str_id       = buf_receive.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extract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&lt;std::string_view&gt;();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str_pw       = buf_receive.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extract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&lt;std::string_view&gt;();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option       = buf_receive.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extract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uint64_t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1D3DF0-C4B3-403B-BA1F-72812A9BA7CC}"/>
              </a:ext>
            </a:extLst>
          </p:cNvPr>
          <p:cNvSpPr txBox="1"/>
          <p:nvPr/>
        </p:nvSpPr>
        <p:spPr>
          <a:xfrm>
            <a:off x="1479113" y="5392400"/>
            <a:ext cx="7708900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그러면 메번 데이터들을 일일이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append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extract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해줘야 하는가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물론 아니다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구조체 등 다른 방법을 통해 간단히 메시지를 정의하고 작성하고 읽을 수 있도록 지원해준다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2761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060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buffer.operator.+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741868" y="3465776"/>
            <a:ext cx="770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원번 버퍼에서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[SIZE]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extract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한 버퍼를 얻는다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A05E97-0DA3-4D26-937B-D8A7B86C0F08}"/>
              </a:ext>
            </a:extLst>
          </p:cNvPr>
          <p:cNvSpPr txBox="1"/>
          <p:nvPr/>
        </p:nvSpPr>
        <p:spPr>
          <a:xfrm>
            <a:off x="2552496" y="1468621"/>
            <a:ext cx="3365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 z = temp + </a:t>
            </a:r>
            <a:r>
              <a:rPr lang="en-US" altLang="ko-KR" sz="2000">
                <a:latin typeface="HY견명조" panose="02030600000101010101" pitchFamily="18" charset="-127"/>
                <a:ea typeface="HY견명조" panose="02030600000101010101" pitchFamily="18" charset="-127"/>
              </a:rPr>
              <a:t>size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(5);</a:t>
            </a:r>
            <a:endParaRPr lang="ko-KR" altLang="en-US" sz="2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DF5A3C-B490-449C-8EB8-7C02ABCC102B}"/>
              </a:ext>
            </a:extLst>
          </p:cNvPr>
          <p:cNvSpPr txBox="1"/>
          <p:nvPr/>
        </p:nvSpPr>
        <p:spPr>
          <a:xfrm>
            <a:off x="2530600" y="3922788"/>
            <a:ext cx="3714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 w = temp + </a:t>
            </a:r>
            <a:r>
              <a:rPr lang="en-US" altLang="ko-KR" sz="2000">
                <a:latin typeface="HY견명조" panose="02030600000101010101" pitchFamily="18" charset="-127"/>
                <a:ea typeface="HY견명조" panose="02030600000101010101" pitchFamily="18" charset="-127"/>
              </a:rPr>
              <a:t>offset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(5);</a:t>
            </a:r>
            <a:endParaRPr lang="ko-KR" altLang="en-US" sz="2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E18EC3-4649-4DC5-9511-77B9289095E8}"/>
              </a:ext>
            </a:extLst>
          </p:cNvPr>
          <p:cNvSpPr txBox="1"/>
          <p:nvPr/>
        </p:nvSpPr>
        <p:spPr>
          <a:xfrm>
            <a:off x="1741868" y="1014852"/>
            <a:ext cx="7708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원본 버퍼에서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값을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[SIZE]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 늘린 버퍼를 얻는다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늘린 버퍼는 값을 변경하지 않고 그대로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9881DF-8314-407C-AF8A-7092BAAA25D0}"/>
              </a:ext>
            </a:extLst>
          </p:cNvPr>
          <p:cNvSpPr txBox="1"/>
          <p:nvPr/>
        </p:nvSpPr>
        <p:spPr>
          <a:xfrm>
            <a:off x="1741868" y="4520044"/>
            <a:ext cx="770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w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temp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버퍼에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5byte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만큼을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extract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한 것이다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65BF304-4576-4510-8922-6E8B6161F923}"/>
              </a:ext>
            </a:extLst>
          </p:cNvPr>
          <p:cNvSpPr/>
          <p:nvPr/>
        </p:nvSpPr>
        <p:spPr>
          <a:xfrm>
            <a:off x="2744826" y="2113340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633E2FC-98EA-4D56-B527-64FC00D85A60}"/>
              </a:ext>
            </a:extLst>
          </p:cNvPr>
          <p:cNvSpPr/>
          <p:nvPr/>
        </p:nvSpPr>
        <p:spPr>
          <a:xfrm>
            <a:off x="2744826" y="2108183"/>
            <a:ext cx="3734801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795CB7D-7713-45AB-8616-127089376D06}"/>
              </a:ext>
            </a:extLst>
          </p:cNvPr>
          <p:cNvSpPr/>
          <p:nvPr/>
        </p:nvSpPr>
        <p:spPr>
          <a:xfrm>
            <a:off x="6479627" y="2113438"/>
            <a:ext cx="1003739" cy="307778"/>
          </a:xfrm>
          <a:prstGeom prst="rect">
            <a:avLst/>
          </a:prstGeom>
          <a:solidFill>
            <a:srgbClr val="FFFF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15A6521-1BB0-4D01-BDC6-70076944D780}"/>
              </a:ext>
            </a:extLst>
          </p:cNvPr>
          <p:cNvSpPr/>
          <p:nvPr/>
        </p:nvSpPr>
        <p:spPr>
          <a:xfrm>
            <a:off x="6627321" y="2691934"/>
            <a:ext cx="7719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 bytes</a:t>
            </a:r>
            <a:endParaRPr lang="ko-KR" altLang="en-US" sz="1200"/>
          </a:p>
        </p:txBody>
      </p:sp>
      <p:sp>
        <p:nvSpPr>
          <p:cNvPr id="49" name="왼쪽 중괄호 48">
            <a:extLst>
              <a:ext uri="{FF2B5EF4-FFF2-40B4-BE49-F238E27FC236}">
                <a16:creationId xmlns:a16="http://schemas.microsoft.com/office/drawing/2014/main" id="{AB358C3B-9425-4F71-AD61-7B0242E250FB}"/>
              </a:ext>
            </a:extLst>
          </p:cNvPr>
          <p:cNvSpPr/>
          <p:nvPr/>
        </p:nvSpPr>
        <p:spPr>
          <a:xfrm rot="16200000">
            <a:off x="6880692" y="2099767"/>
            <a:ext cx="201612" cy="100374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86A2942-0583-4732-B300-64487F218E9D}"/>
              </a:ext>
            </a:extLst>
          </p:cNvPr>
          <p:cNvSpPr/>
          <p:nvPr/>
        </p:nvSpPr>
        <p:spPr>
          <a:xfrm>
            <a:off x="2750082" y="4966892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064262E-CD03-4255-BF2B-A4A9EA62614C}"/>
              </a:ext>
            </a:extLst>
          </p:cNvPr>
          <p:cNvSpPr/>
          <p:nvPr/>
        </p:nvSpPr>
        <p:spPr>
          <a:xfrm>
            <a:off x="3783724" y="4961735"/>
            <a:ext cx="2701159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B7504A0-D5C6-4B10-A4A4-3C781630EAC6}"/>
              </a:ext>
            </a:extLst>
          </p:cNvPr>
          <p:cNvSpPr/>
          <p:nvPr/>
        </p:nvSpPr>
        <p:spPr>
          <a:xfrm>
            <a:off x="2892519" y="5519704"/>
            <a:ext cx="7719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 bytes</a:t>
            </a:r>
            <a:endParaRPr lang="ko-KR" altLang="en-US" sz="1200"/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FBEE4CEE-78F3-44DF-9E4A-F9979FD01EEE}"/>
              </a:ext>
            </a:extLst>
          </p:cNvPr>
          <p:cNvSpPr/>
          <p:nvPr/>
        </p:nvSpPr>
        <p:spPr>
          <a:xfrm rot="16200000">
            <a:off x="3145890" y="4927537"/>
            <a:ext cx="201612" cy="100374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47974A-195E-4750-B448-0749296B19A8}"/>
              </a:ext>
            </a:extLst>
          </p:cNvPr>
          <p:cNvSpPr txBox="1"/>
          <p:nvPr/>
        </p:nvSpPr>
        <p:spPr>
          <a:xfrm>
            <a:off x="1416050" y="648085"/>
            <a:ext cx="893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2. 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operator +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size([SIZE])</a:t>
            </a:r>
            <a:endParaRPr lang="ko-KR" altLang="en-US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EB3470-7669-4DFF-8DA4-C2F0BA7AFE44}"/>
              </a:ext>
            </a:extLst>
          </p:cNvPr>
          <p:cNvSpPr txBox="1"/>
          <p:nvPr/>
        </p:nvSpPr>
        <p:spPr>
          <a:xfrm>
            <a:off x="1416050" y="3121222"/>
            <a:ext cx="7261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3.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 operator  +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offert([SIZE])</a:t>
            </a:r>
            <a:endParaRPr lang="ko-KR" altLang="en-US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9760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4. 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operator ^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[int]</a:t>
            </a:r>
            <a:endParaRPr lang="ko-KR" altLang="en-US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416050" y="3604697"/>
            <a:ext cx="7261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5.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 operator ^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[buffer_view]</a:t>
            </a:r>
            <a:endParaRPr lang="ko-KR" altLang="en-US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006D0F-F453-4C6D-BBA4-644C87F249E3}"/>
              </a:ext>
            </a:extLst>
          </p:cNvPr>
          <p:cNvSpPr txBox="1"/>
          <p:nvPr/>
        </p:nvSpPr>
        <p:spPr>
          <a:xfrm>
            <a:off x="1250586" y="-12879"/>
            <a:ext cx="2060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buffer.operator.^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3E5B5-3C3E-4C82-9924-A6C717D61565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C89425-E421-4621-A613-A5BCA5C17D23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003A3C-A24C-409D-8EBD-C4ECEFD7F112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7A17BA-F120-482E-AE2B-BE725C9155C3}"/>
              </a:ext>
            </a:extLst>
          </p:cNvPr>
          <p:cNvSpPr txBox="1"/>
          <p:nvPr/>
        </p:nvSpPr>
        <p:spPr>
          <a:xfrm>
            <a:off x="2405352" y="1374029"/>
            <a:ext cx="2692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 b = temp ^ 5;</a:t>
            </a:r>
            <a:endParaRPr lang="ko-KR" altLang="en-US" sz="2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C6BDC-6F29-41FD-8526-59904BEB5DCF}"/>
              </a:ext>
            </a:extLst>
          </p:cNvPr>
          <p:cNvSpPr txBox="1"/>
          <p:nvPr/>
        </p:nvSpPr>
        <p:spPr>
          <a:xfrm>
            <a:off x="2552497" y="4500856"/>
            <a:ext cx="6255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 b = temp ^ buffer_view{x, 5};</a:t>
            </a:r>
            <a:endParaRPr lang="ko-KR" altLang="en-US" sz="2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A11057C-A1B5-4C6E-930D-A5CA342F12B1}"/>
              </a:ext>
            </a:extLst>
          </p:cNvPr>
          <p:cNvSpPr/>
          <p:nvPr/>
        </p:nvSpPr>
        <p:spPr>
          <a:xfrm>
            <a:off x="2744826" y="2449669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746ACCF-58D4-4E52-A01E-CA78FFCA2857}"/>
              </a:ext>
            </a:extLst>
          </p:cNvPr>
          <p:cNvSpPr/>
          <p:nvPr/>
        </p:nvSpPr>
        <p:spPr>
          <a:xfrm>
            <a:off x="2744827" y="2444512"/>
            <a:ext cx="101789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150D1B-83D5-416E-AED5-46BCBD45053C}"/>
              </a:ext>
            </a:extLst>
          </p:cNvPr>
          <p:cNvSpPr/>
          <p:nvPr/>
        </p:nvSpPr>
        <p:spPr>
          <a:xfrm>
            <a:off x="2906668" y="3028263"/>
            <a:ext cx="7719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 bytes</a:t>
            </a:r>
            <a:endParaRPr lang="ko-KR" altLang="en-US" sz="1200"/>
          </a:p>
        </p:txBody>
      </p:sp>
      <p:sp>
        <p:nvSpPr>
          <p:cNvPr id="29" name="왼쪽 중괄호 28">
            <a:extLst>
              <a:ext uri="{FF2B5EF4-FFF2-40B4-BE49-F238E27FC236}">
                <a16:creationId xmlns:a16="http://schemas.microsoft.com/office/drawing/2014/main" id="{1BB64F56-BD3A-40B5-9408-940562D8F0F0}"/>
              </a:ext>
            </a:extLst>
          </p:cNvPr>
          <p:cNvSpPr/>
          <p:nvPr/>
        </p:nvSpPr>
        <p:spPr>
          <a:xfrm rot="16200000">
            <a:off x="3160039" y="2436096"/>
            <a:ext cx="201612" cy="100374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A0E459-0A47-41E8-A8C9-A3D6D19CAA71}"/>
              </a:ext>
            </a:extLst>
          </p:cNvPr>
          <p:cNvSpPr txBox="1"/>
          <p:nvPr/>
        </p:nvSpPr>
        <p:spPr>
          <a:xfrm>
            <a:off x="1757637" y="1925092"/>
            <a:ext cx="8930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temp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다른 모든 값을 그대로 가져오고 길이만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5 byte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설정한다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7E2DFE6-5EBA-4E98-ACC6-918D8367FC25}"/>
              </a:ext>
            </a:extLst>
          </p:cNvPr>
          <p:cNvSpPr/>
          <p:nvPr/>
        </p:nvSpPr>
        <p:spPr>
          <a:xfrm>
            <a:off x="2750082" y="5429344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A01511D-41E8-41D5-A742-A2B19C55C143}"/>
              </a:ext>
            </a:extLst>
          </p:cNvPr>
          <p:cNvSpPr/>
          <p:nvPr/>
        </p:nvSpPr>
        <p:spPr>
          <a:xfrm>
            <a:off x="4578880" y="5424187"/>
            <a:ext cx="101789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A6229D-D382-4AFF-833B-5CDD0919FDB1}"/>
              </a:ext>
            </a:extLst>
          </p:cNvPr>
          <p:cNvSpPr/>
          <p:nvPr/>
        </p:nvSpPr>
        <p:spPr>
          <a:xfrm>
            <a:off x="4740721" y="6007938"/>
            <a:ext cx="7719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 bytes</a:t>
            </a:r>
            <a:endParaRPr lang="ko-KR" altLang="en-US" sz="1200"/>
          </a:p>
        </p:txBody>
      </p:sp>
      <p:sp>
        <p:nvSpPr>
          <p:cNvPr id="34" name="왼쪽 중괄호 33">
            <a:extLst>
              <a:ext uri="{FF2B5EF4-FFF2-40B4-BE49-F238E27FC236}">
                <a16:creationId xmlns:a16="http://schemas.microsoft.com/office/drawing/2014/main" id="{81E082F0-30DE-495C-BEE3-2C5BEC9C45D8}"/>
              </a:ext>
            </a:extLst>
          </p:cNvPr>
          <p:cNvSpPr/>
          <p:nvPr/>
        </p:nvSpPr>
        <p:spPr>
          <a:xfrm rot="16200000">
            <a:off x="4994092" y="5415771"/>
            <a:ext cx="201612" cy="100374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18C9C10-7860-4BCA-9EC3-42DE2AC485A4}"/>
              </a:ext>
            </a:extLst>
          </p:cNvPr>
          <p:cNvCxnSpPr>
            <a:cxnSpLocks/>
          </p:cNvCxnSpPr>
          <p:nvPr/>
        </p:nvCxnSpPr>
        <p:spPr>
          <a:xfrm>
            <a:off x="4574382" y="5210048"/>
            <a:ext cx="0" cy="169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AA29668-25FB-4179-9099-68D367769266}"/>
              </a:ext>
            </a:extLst>
          </p:cNvPr>
          <p:cNvSpPr/>
          <p:nvPr/>
        </p:nvSpPr>
        <p:spPr>
          <a:xfrm>
            <a:off x="4448262" y="4923290"/>
            <a:ext cx="2822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/>
              <a:t>x</a:t>
            </a:r>
            <a:endParaRPr lang="ko-KR" altLang="en-US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139795-7CF4-4A3C-A4EE-A21F0E0DFC43}"/>
              </a:ext>
            </a:extLst>
          </p:cNvPr>
          <p:cNvSpPr txBox="1"/>
          <p:nvPr/>
        </p:nvSpPr>
        <p:spPr>
          <a:xfrm>
            <a:off x="1757637" y="3979024"/>
            <a:ext cx="8930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원본 버퍼를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[buffer_view]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값으로 변경한 버퍼를 얻는다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4672C-3648-4CAD-AA36-3B88E1A78040}"/>
              </a:ext>
            </a:extLst>
          </p:cNvPr>
          <p:cNvSpPr txBox="1"/>
          <p:nvPr/>
        </p:nvSpPr>
        <p:spPr>
          <a:xfrm>
            <a:off x="1757637" y="1019191"/>
            <a:ext cx="8930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원본 버퍼에서 길이 값만 변경한 버퍼를 얻는다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2385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006D0F-F453-4C6D-BBA4-644C87F249E3}"/>
              </a:ext>
            </a:extLst>
          </p:cNvPr>
          <p:cNvSpPr txBox="1"/>
          <p:nvPr/>
        </p:nvSpPr>
        <p:spPr>
          <a:xfrm>
            <a:off x="1250586" y="-12879"/>
            <a:ext cx="2658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buffer.operations.copy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3E5B5-3C3E-4C82-9924-A6C717D61565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C89425-E421-4621-A613-A5BCA5C17D23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003A3C-A24C-409D-8EBD-C4ECEFD7F112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047ACE-D0E0-456B-9D3A-5F7D14D80F73}"/>
              </a:ext>
            </a:extLst>
          </p:cNvPr>
          <p:cNvSpPr txBox="1"/>
          <p:nvPr/>
        </p:nvSpPr>
        <p:spPr>
          <a:xfrm>
            <a:off x="1416050" y="648085"/>
            <a:ext cx="893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1. 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얕은 복사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(swallow copy)</a:t>
            </a:r>
            <a:endParaRPr lang="ko-KR" altLang="en-US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9017F2-7EEB-4E82-808B-D2201865BB12}"/>
              </a:ext>
            </a:extLst>
          </p:cNvPr>
          <p:cNvSpPr txBox="1"/>
          <p:nvPr/>
        </p:nvSpPr>
        <p:spPr>
          <a:xfrm>
            <a:off x="1741868" y="1014852"/>
            <a:ext cx="9787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앝은 복사로 버퍼를 공유하고 버퍼의 포인터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(data()),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길이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(size())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정보를 복사하는 것이다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6CBB83-4FB3-4614-99A0-3EF030A86925}"/>
              </a:ext>
            </a:extLst>
          </p:cNvPr>
          <p:cNvSpPr txBox="1"/>
          <p:nvPr/>
        </p:nvSpPr>
        <p:spPr>
          <a:xfrm>
            <a:off x="1452837" y="2545199"/>
            <a:ext cx="893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2. 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다른 버퍼 타입간 얕은 복사</a:t>
            </a:r>
            <a:endParaRPr lang="ko-KR" altLang="en-US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CEC776-AD20-4DD4-8AAE-70CA55FEC3C5}"/>
              </a:ext>
            </a:extLst>
          </p:cNvPr>
          <p:cNvSpPr txBox="1"/>
          <p:nvPr/>
        </p:nvSpPr>
        <p:spPr>
          <a:xfrm>
            <a:off x="1768147" y="2901459"/>
            <a:ext cx="9787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buffer_view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basic_buffer, shared_buffer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간의 얕은 복사는 기본적으로는 공유되는 크기 는 모두 복사한다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699827" y="994926"/>
            <a:ext cx="8930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clone()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사용해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‘deep copy’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수행하는 것으로 신규 버퍼를 할당받아 리턴하므로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shared_buffer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리턴된다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006D0F-F453-4C6D-BBA4-644C87F249E3}"/>
              </a:ext>
            </a:extLst>
          </p:cNvPr>
          <p:cNvSpPr txBox="1"/>
          <p:nvPr/>
        </p:nvSpPr>
        <p:spPr>
          <a:xfrm>
            <a:off x="1250586" y="-12879"/>
            <a:ext cx="2723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buffer.operations.clone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3E5B5-3C3E-4C82-9924-A6C717D61565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C89425-E421-4621-A613-A5BCA5C17D23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003A3C-A24C-409D-8EBD-C4ECEFD7F112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47644C-4058-456E-8299-74F6D667E898}"/>
              </a:ext>
            </a:extLst>
          </p:cNvPr>
          <p:cNvSpPr txBox="1"/>
          <p:nvPr/>
        </p:nvSpPr>
        <p:spPr>
          <a:xfrm>
            <a:off x="2037491" y="1568472"/>
            <a:ext cx="6255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shared_buffer</a:t>
            </a:r>
            <a:r>
              <a:rPr lang="en-US" altLang="ko-KR" sz="2000">
                <a:latin typeface="HY신명조" panose="02030600000101010101" pitchFamily="18" charset="-127"/>
                <a:ea typeface="HY신명조" panose="02030600000101010101" pitchFamily="18" charset="-127"/>
              </a:rPr>
              <a:t> b = temp.clone();</a:t>
            </a:r>
            <a:endParaRPr lang="ko-KR" altLang="en-US" sz="2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964CA9-0624-4F4F-A535-91EFA1D7D95A}"/>
              </a:ext>
            </a:extLst>
          </p:cNvPr>
          <p:cNvSpPr txBox="1"/>
          <p:nvPr/>
        </p:nvSpPr>
        <p:spPr>
          <a:xfrm>
            <a:off x="1416050" y="648085"/>
            <a:ext cx="893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6. 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deap copy</a:t>
            </a:r>
            <a:endParaRPr lang="ko-KR" altLang="en-US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9068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89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buffer.append&lt;T&gt;.2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C.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다시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uint64_t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 변수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1234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append&lt;uint64_t&gt;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써넣으면 다음과 같이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929046" y="2223368"/>
            <a:ext cx="452880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699A5B9-DE44-42AC-9839-8E46F1F36FD2}"/>
              </a:ext>
            </a:extLst>
          </p:cNvPr>
          <p:cNvCxnSpPr>
            <a:cxnSpLocks/>
          </p:cNvCxnSpPr>
          <p:nvPr/>
        </p:nvCxnSpPr>
        <p:spPr>
          <a:xfrm>
            <a:off x="2930972" y="1863226"/>
            <a:ext cx="0" cy="216000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F6F239-5DF7-4EE7-BF85-91FA0C2D2DD7}"/>
              </a:ext>
            </a:extLst>
          </p:cNvPr>
          <p:cNvSpPr/>
          <p:nvPr/>
        </p:nvSpPr>
        <p:spPr>
          <a:xfrm>
            <a:off x="2622981" y="1580622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data()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2929046" y="2221754"/>
            <a:ext cx="73129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100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CCC79C9-42B0-4F32-AB1E-EC3F851EB8B2}"/>
              </a:ext>
            </a:extLst>
          </p:cNvPr>
          <p:cNvSpPr/>
          <p:nvPr/>
        </p:nvSpPr>
        <p:spPr>
          <a:xfrm>
            <a:off x="3877177" y="1644513"/>
            <a:ext cx="10454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16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9" name="왼쪽 중괄호 38">
            <a:extLst>
              <a:ext uri="{FF2B5EF4-FFF2-40B4-BE49-F238E27FC236}">
                <a16:creationId xmlns:a16="http://schemas.microsoft.com/office/drawing/2014/main" id="{06A1F054-4D88-4E20-AD1B-8D5D8800B8D5}"/>
              </a:ext>
            </a:extLst>
          </p:cNvPr>
          <p:cNvSpPr/>
          <p:nvPr/>
        </p:nvSpPr>
        <p:spPr>
          <a:xfrm rot="5400000">
            <a:off x="4359300" y="568389"/>
            <a:ext cx="193193" cy="3024056"/>
          </a:xfrm>
          <a:prstGeom prst="leftBrace">
            <a:avLst>
              <a:gd name="adj1" fmla="val 15640"/>
              <a:gd name="adj2" fmla="val 50000"/>
            </a:avLst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520B6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12C1D3-D0D8-428E-84B3-70E7E7163EE9}"/>
              </a:ext>
            </a:extLst>
          </p:cNvPr>
          <p:cNvSpPr/>
          <p:nvPr/>
        </p:nvSpPr>
        <p:spPr>
          <a:xfrm>
            <a:off x="3654674" y="2221754"/>
            <a:ext cx="75600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3.14f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C10B1-FF0D-4DCD-8594-EF8FDD6CC588}"/>
              </a:ext>
            </a:extLst>
          </p:cNvPr>
          <p:cNvSpPr/>
          <p:nvPr/>
        </p:nvSpPr>
        <p:spPr>
          <a:xfrm>
            <a:off x="4408412" y="2221754"/>
            <a:ext cx="1564115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1234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73406B-DFA6-48D6-9F48-BFC35DD17AFF}"/>
              </a:ext>
            </a:extLst>
          </p:cNvPr>
          <p:cNvSpPr/>
          <p:nvPr/>
        </p:nvSpPr>
        <p:spPr>
          <a:xfrm>
            <a:off x="2921788" y="4306168"/>
            <a:ext cx="452880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E5F3FAE-2ECB-4A4E-9021-95B78EEBE282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4433580" y="4647001"/>
            <a:ext cx="1" cy="198629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90D5256-3B8E-4F05-BAFA-CB67A9881556}"/>
              </a:ext>
            </a:extLst>
          </p:cNvPr>
          <p:cNvSpPr/>
          <p:nvPr/>
        </p:nvSpPr>
        <p:spPr>
          <a:xfrm>
            <a:off x="4108812" y="4845630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data()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D5404AE-3966-4D49-B125-BC6D6F81926C}"/>
              </a:ext>
            </a:extLst>
          </p:cNvPr>
          <p:cNvSpPr/>
          <p:nvPr/>
        </p:nvSpPr>
        <p:spPr>
          <a:xfrm>
            <a:off x="4726261" y="3727313"/>
            <a:ext cx="9460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8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28" name="왼쪽 중괄호 27">
            <a:extLst>
              <a:ext uri="{FF2B5EF4-FFF2-40B4-BE49-F238E27FC236}">
                <a16:creationId xmlns:a16="http://schemas.microsoft.com/office/drawing/2014/main" id="{83E97457-FA21-4AA5-833D-FFDF363BDCF8}"/>
              </a:ext>
            </a:extLst>
          </p:cNvPr>
          <p:cNvSpPr/>
          <p:nvPr/>
        </p:nvSpPr>
        <p:spPr>
          <a:xfrm rot="5400000">
            <a:off x="5100527" y="3443217"/>
            <a:ext cx="193193" cy="1440000"/>
          </a:xfrm>
          <a:prstGeom prst="leftBrace">
            <a:avLst>
              <a:gd name="adj1" fmla="val 15640"/>
              <a:gd name="adj2" fmla="val 50000"/>
            </a:avLst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520B6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779E05-DE77-4175-B7B5-2107F6758F27}"/>
              </a:ext>
            </a:extLst>
          </p:cNvPr>
          <p:cNvSpPr txBox="1"/>
          <p:nvPr/>
        </p:nvSpPr>
        <p:spPr>
          <a:xfrm>
            <a:off x="1060812" y="302682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auto</a:t>
            </a:r>
            <a:r>
              <a:rPr lang="ko-KR" altLang="en-US" sz="2000">
                <a:latin typeface="HY신명조" panose="02030600000101010101" pitchFamily="18" charset="-127"/>
                <a:ea typeface="HY신명조" panose="02030600000101010101" pitchFamily="18" charset="-127"/>
              </a:rPr>
              <a:t> qux = baz </a:t>
            </a:r>
            <a:r>
              <a:rPr lang="ko-KR" altLang="en-US" sz="2000">
                <a:latin typeface="HY견명조" panose="02030600000101010101" pitchFamily="18" charset="-127"/>
                <a:ea typeface="HY견명조" panose="02030600000101010101" pitchFamily="18" charset="-127"/>
              </a:rPr>
              <a:t>+ offset(8)</a:t>
            </a:r>
            <a:r>
              <a:rPr lang="ko-KR" altLang="en-US" sz="2000">
                <a:latin typeface="HY신명조" panose="02030600000101010101" pitchFamily="18" charset="-127"/>
                <a:ea typeface="HY신명조" panose="02030600000101010101" pitchFamily="18" charset="-127"/>
              </a:rPr>
              <a:t>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DCFCA4-D174-4023-8D93-4C4FA20DCA9C}"/>
              </a:ext>
            </a:extLst>
          </p:cNvPr>
          <p:cNvSpPr txBox="1"/>
          <p:nvPr/>
        </p:nvSpPr>
        <p:spPr>
          <a:xfrm>
            <a:off x="2263813" y="2135944"/>
            <a:ext cx="790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>
                <a:latin typeface="HY신명조" panose="02030600000101010101" pitchFamily="18" charset="-127"/>
                <a:ea typeface="HY신명조" panose="02030600000101010101" pitchFamily="18" charset="-127"/>
              </a:rPr>
              <a:t>baz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3B8735-CBBE-448B-ADD7-64D531CE2F7B}"/>
              </a:ext>
            </a:extLst>
          </p:cNvPr>
          <p:cNvSpPr txBox="1"/>
          <p:nvPr/>
        </p:nvSpPr>
        <p:spPr>
          <a:xfrm>
            <a:off x="2263813" y="4217470"/>
            <a:ext cx="790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>
                <a:latin typeface="HY신명조" panose="02030600000101010101" pitchFamily="18" charset="-127"/>
                <a:ea typeface="HY신명조" panose="02030600000101010101" pitchFamily="18" charset="-127"/>
              </a:rPr>
              <a:t>qux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1631D57-4CC9-436C-971C-62775664FF74}"/>
              </a:ext>
            </a:extLst>
          </p:cNvPr>
          <p:cNvSpPr/>
          <p:nvPr/>
        </p:nvSpPr>
        <p:spPr>
          <a:xfrm>
            <a:off x="2929046" y="4290268"/>
            <a:ext cx="731290" cy="30777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100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08AE4CB-DB25-42D5-AAF6-244A07C55431}"/>
              </a:ext>
            </a:extLst>
          </p:cNvPr>
          <p:cNvSpPr/>
          <p:nvPr/>
        </p:nvSpPr>
        <p:spPr>
          <a:xfrm>
            <a:off x="3647479" y="4312315"/>
            <a:ext cx="756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>
                    <a:lumMod val="75000"/>
                  </a:schemeClr>
                </a:solidFill>
              </a:rPr>
              <a:t>3.14f</a:t>
            </a:r>
            <a:endParaRPr lang="ko-KR" altLang="en-US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3392969-4B3C-4722-84EB-7E1618E58302}"/>
              </a:ext>
            </a:extLst>
          </p:cNvPr>
          <p:cNvSpPr/>
          <p:nvPr/>
        </p:nvSpPr>
        <p:spPr>
          <a:xfrm>
            <a:off x="4401154" y="4304554"/>
            <a:ext cx="1564115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1234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62CA39A-DFF6-48AB-A6DF-83B788FEB5A4}"/>
              </a:ext>
            </a:extLst>
          </p:cNvPr>
          <p:cNvSpPr/>
          <p:nvPr/>
        </p:nvSpPr>
        <p:spPr>
          <a:xfrm>
            <a:off x="3355492" y="3703555"/>
            <a:ext cx="6998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>
                <a:solidFill>
                  <a:srgbClr val="FF0000"/>
                </a:solidFill>
                <a:latin typeface="+mn-ea"/>
              </a:rPr>
              <a:t>8 byte</a:t>
            </a:r>
            <a:endParaRPr lang="ko-KR" altLang="en-US" sz="120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4826318-AB86-4B13-A7A0-68C168E70A36}"/>
              </a:ext>
            </a:extLst>
          </p:cNvPr>
          <p:cNvCxnSpPr/>
          <p:nvPr/>
        </p:nvCxnSpPr>
        <p:spPr>
          <a:xfrm>
            <a:off x="4404680" y="3775292"/>
            <a:ext cx="0" cy="47647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F58EAB63-775A-4908-91F0-9792DA4E318B}"/>
              </a:ext>
            </a:extLst>
          </p:cNvPr>
          <p:cNvCxnSpPr/>
          <p:nvPr/>
        </p:nvCxnSpPr>
        <p:spPr>
          <a:xfrm>
            <a:off x="2913278" y="3791213"/>
            <a:ext cx="0" cy="47647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E2A82652-188B-44C0-97A9-B8B2A5860C93}"/>
              </a:ext>
            </a:extLst>
          </p:cNvPr>
          <p:cNvCxnSpPr>
            <a:cxnSpLocks/>
          </p:cNvCxnSpPr>
          <p:nvPr/>
        </p:nvCxnSpPr>
        <p:spPr>
          <a:xfrm flipV="1">
            <a:off x="2913278" y="4011332"/>
            <a:ext cx="1487876" cy="2197"/>
          </a:xfrm>
          <a:prstGeom prst="straightConnector1">
            <a:avLst/>
          </a:prstGeom>
          <a:ln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DE4A530-2025-4879-9043-CC3336CE2CCF}"/>
              </a:ext>
            </a:extLst>
          </p:cNvPr>
          <p:cNvCxnSpPr>
            <a:cxnSpLocks/>
          </p:cNvCxnSpPr>
          <p:nvPr/>
        </p:nvCxnSpPr>
        <p:spPr>
          <a:xfrm flipH="1">
            <a:off x="3831771" y="3426931"/>
            <a:ext cx="45407" cy="216156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209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389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buffer.append&lt;T&gt;.2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C.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다시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uint64_t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 변수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1234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append&lt;uint64_t&gt;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써넣으면 다음과 같이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4DA7B0-01A2-45EE-BCC9-2590C8AA6878}"/>
              </a:ext>
            </a:extLst>
          </p:cNvPr>
          <p:cNvSpPr/>
          <p:nvPr/>
        </p:nvSpPr>
        <p:spPr>
          <a:xfrm>
            <a:off x="2929046" y="2223368"/>
            <a:ext cx="452880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699A5B9-DE44-42AC-9839-8E46F1F36FD2}"/>
              </a:ext>
            </a:extLst>
          </p:cNvPr>
          <p:cNvCxnSpPr>
            <a:cxnSpLocks/>
          </p:cNvCxnSpPr>
          <p:nvPr/>
        </p:nvCxnSpPr>
        <p:spPr>
          <a:xfrm>
            <a:off x="2930972" y="1819684"/>
            <a:ext cx="0" cy="216000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F6F239-5DF7-4EE7-BF85-91FA0C2D2DD7}"/>
              </a:ext>
            </a:extLst>
          </p:cNvPr>
          <p:cNvSpPr/>
          <p:nvPr/>
        </p:nvSpPr>
        <p:spPr>
          <a:xfrm>
            <a:off x="2622981" y="1537080"/>
            <a:ext cx="649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data()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CCC79C9-42B0-4F32-AB1E-EC3F851EB8B2}"/>
              </a:ext>
            </a:extLst>
          </p:cNvPr>
          <p:cNvSpPr/>
          <p:nvPr/>
        </p:nvSpPr>
        <p:spPr>
          <a:xfrm>
            <a:off x="4994776" y="1644513"/>
            <a:ext cx="10454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size() = 40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9" name="왼쪽 중괄호 38">
            <a:extLst>
              <a:ext uri="{FF2B5EF4-FFF2-40B4-BE49-F238E27FC236}">
                <a16:creationId xmlns:a16="http://schemas.microsoft.com/office/drawing/2014/main" id="{06A1F054-4D88-4E20-AD1B-8D5D8800B8D5}"/>
              </a:ext>
            </a:extLst>
          </p:cNvPr>
          <p:cNvSpPr/>
          <p:nvPr/>
        </p:nvSpPr>
        <p:spPr>
          <a:xfrm rot="5400000">
            <a:off x="5474649" y="-537559"/>
            <a:ext cx="137085" cy="5227674"/>
          </a:xfrm>
          <a:prstGeom prst="leftBrace">
            <a:avLst>
              <a:gd name="adj1" fmla="val 15640"/>
              <a:gd name="adj2" fmla="val 50000"/>
            </a:avLst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520B6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E5F3FAE-2ECB-4A4E-9021-95B78EEBE282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3718243" y="2583158"/>
            <a:ext cx="0" cy="234915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90D5256-3B8E-4F05-BAFA-CB67A9881556}"/>
              </a:ext>
            </a:extLst>
          </p:cNvPr>
          <p:cNvSpPr/>
          <p:nvPr/>
        </p:nvSpPr>
        <p:spPr>
          <a:xfrm>
            <a:off x="3464808" y="2818073"/>
            <a:ext cx="5068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472C4"/>
                </a:solidFill>
                <a:latin typeface="+mn-ea"/>
              </a:rPr>
              <a:t>goo</a:t>
            </a:r>
            <a:endParaRPr lang="ko-KR" altLang="en-US" sz="1400">
              <a:solidFill>
                <a:srgbClr val="4472C4"/>
              </a:solidFill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DCFCA4-D174-4023-8D93-4C4FA20DCA9C}"/>
              </a:ext>
            </a:extLst>
          </p:cNvPr>
          <p:cNvSpPr txBox="1"/>
          <p:nvPr/>
        </p:nvSpPr>
        <p:spPr>
          <a:xfrm>
            <a:off x="2263813" y="2135944"/>
            <a:ext cx="790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>
                <a:latin typeface="HY신명조" panose="02030600000101010101" pitchFamily="18" charset="-127"/>
                <a:ea typeface="HY신명조" panose="02030600000101010101" pitchFamily="18" charset="-127"/>
              </a:rPr>
              <a:t>baz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21C12F1-22BD-4BB0-92CE-72C96AC84DFC}"/>
              </a:ext>
            </a:extLst>
          </p:cNvPr>
          <p:cNvSpPr/>
          <p:nvPr/>
        </p:nvSpPr>
        <p:spPr>
          <a:xfrm>
            <a:off x="2926124" y="2213762"/>
            <a:ext cx="75600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100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194981-7C4D-4E44-B4F5-36F514D4AB23}"/>
              </a:ext>
            </a:extLst>
          </p:cNvPr>
          <p:cNvSpPr/>
          <p:nvPr/>
        </p:nvSpPr>
        <p:spPr>
          <a:xfrm>
            <a:off x="3698305" y="2213762"/>
            <a:ext cx="1800000" cy="318246"/>
          </a:xfrm>
          <a:prstGeom prst="rect">
            <a:avLst/>
          </a:prstGeom>
          <a:noFill/>
          <a:ln w="25400"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12C1D3-D0D8-428E-84B3-70E7E7163EE9}"/>
              </a:ext>
            </a:extLst>
          </p:cNvPr>
          <p:cNvSpPr/>
          <p:nvPr/>
        </p:nvSpPr>
        <p:spPr>
          <a:xfrm>
            <a:off x="5512507" y="2213762"/>
            <a:ext cx="75600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C10B1-FF0D-4DCD-8594-EF8FDD6CC588}"/>
              </a:ext>
            </a:extLst>
          </p:cNvPr>
          <p:cNvSpPr/>
          <p:nvPr/>
        </p:nvSpPr>
        <p:spPr>
          <a:xfrm>
            <a:off x="6266244" y="2213762"/>
            <a:ext cx="1926000" cy="3077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“test_string”</a:t>
            </a:r>
            <a:endParaRPr lang="ko-KR" alt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631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250406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E1E4EB-2CF1-4DBC-9CE3-9BECDFECECCB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FBB6FB-9184-4FAE-A952-8ACF6BFDE79D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C153B9-805B-489B-8741-4B5D93C359DA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16586</TotalTime>
  <Words>3053</Words>
  <Application>Microsoft Office PowerPoint</Application>
  <PresentationFormat>와이드스크린</PresentationFormat>
  <Paragraphs>516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HY견명조</vt:lpstr>
      <vt:lpstr>HY신명조</vt:lpstr>
      <vt:lpstr>돋움체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774</cp:revision>
  <dcterms:created xsi:type="dcterms:W3CDTF">2019-08-08T18:29:33Z</dcterms:created>
  <dcterms:modified xsi:type="dcterms:W3CDTF">2021-12-17T16:59:16Z</dcterms:modified>
</cp:coreProperties>
</file>