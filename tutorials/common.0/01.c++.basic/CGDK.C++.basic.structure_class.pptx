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63" r:id="rId4"/>
    <p:sldId id="264" r:id="rId5"/>
    <p:sldId id="259" r:id="rId6"/>
    <p:sldId id="265" r:id="rId7"/>
    <p:sldId id="260" r:id="rId8"/>
    <p:sldId id="266" r:id="rId9"/>
    <p:sldId id="261" r:id="rId10"/>
    <p:sldId id="262" r:id="rId11"/>
    <p:sldId id="267" r:id="rId12"/>
    <p:sldId id="268" r:id="rId1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91" userDrawn="1">
          <p15:clr>
            <a:srgbClr val="A4A3A4"/>
          </p15:clr>
        </p15:guide>
        <p15:guide id="2" pos="89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92" autoAdjust="0"/>
    <p:restoredTop sz="94660"/>
  </p:normalViewPr>
  <p:slideViewPr>
    <p:cSldViewPr snapToGrid="0">
      <p:cViewPr varScale="1">
        <p:scale>
          <a:sx n="74" d="100"/>
          <a:sy n="74" d="100"/>
        </p:scale>
        <p:origin x="54" y="1260"/>
      </p:cViewPr>
      <p:guideLst>
        <p:guide orient="horz" pos="391"/>
        <p:guide pos="89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22A7E5-9D6C-4D49-9F84-6FD5581D59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1DF23D0-ACA9-4109-859D-3ECB447A1C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9C36A17-8D0E-4BD4-9D11-B7A7E9E9AA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B7EA6-29B8-4261-8591-86CDF1CF1D8C}" type="datetimeFigureOut">
              <a:rPr lang="ko-KR" altLang="en-US" smtClean="0"/>
              <a:t>2019-08-09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BD2E944-0ED1-4607-A36C-5BB69830A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5B9B9D4-8BBC-476D-8064-35CFCD6B7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8037E-C6F5-4F1F-8BC6-9FCD4A222D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98821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419A54-E745-4CC6-BB95-027B312153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B527CD9-8FD6-41DB-92D5-543810226B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4C1E69F-6A0C-4988-A80C-D9E079982C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B7EA6-29B8-4261-8591-86CDF1CF1D8C}" type="datetimeFigureOut">
              <a:rPr lang="ko-KR" altLang="en-US" smtClean="0"/>
              <a:t>2019-08-09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FA0A22F-E157-407D-9059-6BA690D7D5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125A3EE-62DB-427A-BC57-1105595DDE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8037E-C6F5-4F1F-8BC6-9FCD4A222D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39827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F69695-5C44-4966-9A13-1C984D9865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8BB4F0D-22E9-4085-831F-FD98A827D8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2A917BF-93D8-4FAE-9057-B5DC34BF0E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B7EA6-29B8-4261-8591-86CDF1CF1D8C}" type="datetimeFigureOut">
              <a:rPr lang="ko-KR" altLang="en-US" smtClean="0"/>
              <a:t>2019-08-09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B4F97A2-C5F5-4A31-8A8E-9DB0E5BF06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48D523A-5E78-4084-9250-EA62E800AB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8037E-C6F5-4F1F-8BC6-9FCD4A222D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634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C4C6390-10D0-4FD4-A9C5-512525EC4C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36AF698-79AC-473D-91BE-2AC4B6A9AE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547004C-44EF-4C97-90AD-CEC005B133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92DA3BB-F86B-423B-ADF0-0C45FFA7F2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B7EA6-29B8-4261-8591-86CDF1CF1D8C}" type="datetimeFigureOut">
              <a:rPr lang="ko-KR" altLang="en-US" smtClean="0"/>
              <a:t>2019-08-09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7ABA172-663F-4746-A340-81A5A245EF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78ECEE4-F0CB-4000-8737-D35FA8E9B5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8037E-C6F5-4F1F-8BC6-9FCD4A222D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00857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133FDE-6868-41BC-989B-C7995DAAB9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42CE7D6-2226-4B65-8C8E-7CC6A6A5AB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2092D66-1FD3-41EB-97C7-DE6FA7F9FC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8733F04-26EC-425A-A594-4302ABE0AB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AAB9B29-E3A0-4BA3-A785-C6DCCEF71C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AC93CB7F-B41A-4C1B-ABF3-7333EA9C93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B7EA6-29B8-4261-8591-86CDF1CF1D8C}" type="datetimeFigureOut">
              <a:rPr lang="ko-KR" altLang="en-US" smtClean="0"/>
              <a:t>2019-08-09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24B76826-AE98-4493-AE44-3F7ACB5BD3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3249C020-97C1-43ED-95BF-408B8BF825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8037E-C6F5-4F1F-8BC6-9FCD4A222D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29089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1FE3F6-CD7E-4531-9825-DA1294BB77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A364A65-7602-4E2F-AB3A-1DB84F3C25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B7EA6-29B8-4261-8591-86CDF1CF1D8C}" type="datetimeFigureOut">
              <a:rPr lang="ko-KR" altLang="en-US" smtClean="0"/>
              <a:t>2019-08-09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B370FC8-7EFF-42A1-A3DD-2E35F1F49E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5EA32FA-FEE4-4DBD-930C-A337BE210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8037E-C6F5-4F1F-8BC6-9FCD4A222D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26377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D4FEF22-CFFB-471E-8960-DC35A80D05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B7EA6-29B8-4261-8591-86CDF1CF1D8C}" type="datetimeFigureOut">
              <a:rPr lang="ko-KR" altLang="en-US" smtClean="0"/>
              <a:t>2019-08-09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98E9B52-4735-4887-B334-2DAF94848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D849622-257C-4566-88C3-8C0E40D10F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8037E-C6F5-4F1F-8BC6-9FCD4A222D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97118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914B03-A7BA-4811-B9E6-F4B68F5076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1AABAA1-C57E-4FE1-B2AD-CB2F1C6B57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71A1A2C-F9BA-416A-BBF9-D65DDE0427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A0EEA2E-4425-4FB2-B940-D630ECB662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B7EA6-29B8-4261-8591-86CDF1CF1D8C}" type="datetimeFigureOut">
              <a:rPr lang="ko-KR" altLang="en-US" smtClean="0"/>
              <a:t>2019-08-09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15F14BC-4609-49B0-B88F-71ED21D8B7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4B2F4A1-01AF-4213-B737-2A01F210C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8037E-C6F5-4F1F-8BC6-9FCD4A222D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65820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543167-4408-4C58-ADD5-FC60A11ED2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7678274A-E2D6-47D8-8667-1D77CFAB27F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B29D13A-7EED-4A00-A107-5A9D6EE834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E2886C8-A6B0-4365-8DF4-783E162744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B7EA6-29B8-4261-8591-86CDF1CF1D8C}" type="datetimeFigureOut">
              <a:rPr lang="ko-KR" altLang="en-US" smtClean="0"/>
              <a:t>2019-08-09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7C8015C-9296-41FD-8594-A6F545A4CA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E82F2D0-7A4D-4569-A726-EFB2F9A6D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8037E-C6F5-4F1F-8BC6-9FCD4A222D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46203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8FE90C-3B64-42E6-831B-DF1AF8BE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CF9955E-804B-4847-A548-B8FAB8A8F1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0016D88-EA8C-4E33-9AA0-265D828D18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B7EA6-29B8-4261-8591-86CDF1CF1D8C}" type="datetimeFigureOut">
              <a:rPr lang="ko-KR" altLang="en-US" smtClean="0"/>
              <a:t>2019-08-09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E26A646-1DCD-47EA-9189-479181E55F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740B22C-804C-4B5E-BC7E-9728A7D229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8037E-C6F5-4F1F-8BC6-9FCD4A222D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80357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00C339A3-C568-40CC-80EA-0D67438C8E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70BA901-4156-43E5-997D-B97D552566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65A3A72-6D07-48D1-A145-8C8FC73BFA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B7EA6-29B8-4261-8591-86CDF1CF1D8C}" type="datetimeFigureOut">
              <a:rPr lang="ko-KR" altLang="en-US" smtClean="0"/>
              <a:t>2019-08-09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D5FE233-6062-4295-98E2-CDA8399D82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6A950D5-233D-4487-955B-863FE15EDE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8037E-C6F5-4F1F-8BC6-9FCD4A222D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52468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A959FC0F-2DDD-468F-8DBD-6A2807FE1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5676674-756A-42FE-BD0C-C3CECBFD80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46A869F-4294-4684-B447-EA0E579528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2B7EA6-29B8-4261-8591-86CDF1CF1D8C}" type="datetimeFigureOut">
              <a:rPr lang="ko-KR" altLang="en-US" smtClean="0"/>
              <a:t>2019-08-09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DC5D8D2-D0ED-4DCE-B1CA-EB46F385A5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22C4440-5EEA-42C9-BA7E-B3A419EF5D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48037E-C6F5-4F1F-8BC6-9FCD4A222D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23750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A844EEB-D581-472B-8D50-6E9E9AB439CE}"/>
              </a:ext>
            </a:extLst>
          </p:cNvPr>
          <p:cNvSpPr txBox="1"/>
          <p:nvPr/>
        </p:nvSpPr>
        <p:spPr>
          <a:xfrm>
            <a:off x="1416050" y="1016000"/>
            <a:ext cx="505093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/>
              <a:t>1. CGD::</a:t>
            </a:r>
            <a:r>
              <a:rPr lang="en-US" altLang="ko-KR" sz="1600" dirty="0" err="1"/>
              <a:t>object_ptr</a:t>
            </a:r>
            <a:r>
              <a:rPr lang="en-US" altLang="ko-KR" sz="1600" dirty="0"/>
              <a:t>&lt;T&gt;</a:t>
            </a:r>
            <a:r>
              <a:rPr lang="ko-KR" altLang="en-US" sz="1600" dirty="0"/>
              <a:t>와 </a:t>
            </a:r>
            <a:r>
              <a:rPr lang="en-US" altLang="ko-KR" sz="1600" dirty="0" err="1"/>
              <a:t>Ireferenceable</a:t>
            </a:r>
            <a:r>
              <a:rPr lang="en-US" altLang="ko-KR" sz="1600" dirty="0"/>
              <a:t> </a:t>
            </a:r>
            <a:r>
              <a:rPr lang="ko-KR" altLang="en-US" sz="1600" dirty="0"/>
              <a:t>인터페이스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5D1A0A4-3BBF-473D-B6F6-765C2E02345A}"/>
              </a:ext>
            </a:extLst>
          </p:cNvPr>
          <p:cNvSpPr txBox="1"/>
          <p:nvPr/>
        </p:nvSpPr>
        <p:spPr>
          <a:xfrm>
            <a:off x="1416050" y="1376938"/>
            <a:ext cx="468993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/>
              <a:t>2. CGD::</a:t>
            </a:r>
            <a:r>
              <a:rPr lang="en-US" altLang="ko-KR" sz="1600" dirty="0" err="1"/>
              <a:t>own_ptr</a:t>
            </a:r>
            <a:r>
              <a:rPr lang="en-US" altLang="ko-KR" sz="1600" dirty="0"/>
              <a:t>&lt;T&gt;</a:t>
            </a:r>
            <a:r>
              <a:rPr lang="ko-KR" altLang="en-US" sz="1600" dirty="0"/>
              <a:t>와 </a:t>
            </a:r>
            <a:r>
              <a:rPr lang="en-US" altLang="ko-KR" sz="1600" dirty="0" err="1"/>
              <a:t>Idestroyable</a:t>
            </a:r>
            <a:r>
              <a:rPr lang="en-US" altLang="ko-KR" sz="1600" dirty="0"/>
              <a:t> </a:t>
            </a:r>
            <a:r>
              <a:rPr lang="ko-KR" altLang="en-US" sz="1600" dirty="0"/>
              <a:t>인터페이스</a:t>
            </a:r>
          </a:p>
        </p:txBody>
      </p:sp>
      <p:sp>
        <p:nvSpPr>
          <p:cNvPr id="8" name="부제목 2">
            <a:extLst>
              <a:ext uri="{FF2B5EF4-FFF2-40B4-BE49-F238E27FC236}">
                <a16:creationId xmlns:a16="http://schemas.microsoft.com/office/drawing/2014/main" id="{E5A044BC-98F9-4389-A756-1BDDB9FE8F2E}"/>
              </a:ext>
            </a:extLst>
          </p:cNvPr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1B666A0-A1E1-4CF4-B6F8-1F3A627915EB}"/>
              </a:ext>
            </a:extLst>
          </p:cNvPr>
          <p:cNvSpPr txBox="1"/>
          <p:nvPr/>
        </p:nvSpPr>
        <p:spPr>
          <a:xfrm>
            <a:off x="1416050" y="1737876"/>
            <a:ext cx="229902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/>
              <a:t>3. </a:t>
            </a:r>
            <a:r>
              <a:rPr lang="ko-KR" altLang="en-US" sz="1600" dirty="0"/>
              <a:t>객체 풀</a:t>
            </a:r>
            <a:r>
              <a:rPr lang="en-US" altLang="ko-KR" sz="1600" dirty="0"/>
              <a:t>(object</a:t>
            </a:r>
            <a:r>
              <a:rPr lang="ko-KR" altLang="en-US" sz="1600" dirty="0"/>
              <a:t> </a:t>
            </a:r>
            <a:r>
              <a:rPr lang="en-US" altLang="ko-KR" sz="1600" dirty="0"/>
              <a:t>pool)</a:t>
            </a:r>
            <a:endParaRPr lang="ko-KR" altLang="en-US" sz="1600" dirty="0"/>
          </a:p>
        </p:txBody>
      </p:sp>
      <p:sp>
        <p:nvSpPr>
          <p:cNvPr id="10" name="제목 1">
            <a:extLst>
              <a:ext uri="{FF2B5EF4-FFF2-40B4-BE49-F238E27FC236}">
                <a16:creationId xmlns:a16="http://schemas.microsoft.com/office/drawing/2014/main" id="{63D706D0-7F00-44B7-8338-DA6DCD0C282B}"/>
              </a:ext>
            </a:extLst>
          </p:cNvPr>
          <p:cNvSpPr txBox="1">
            <a:spLocks/>
          </p:cNvSpPr>
          <p:nvPr/>
        </p:nvSpPr>
        <p:spPr>
          <a:xfrm>
            <a:off x="368300" y="347663"/>
            <a:ext cx="5207000" cy="668337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3200" b="1" dirty="0"/>
              <a:t>CGC.II..OBJECT SYSTEM</a:t>
            </a:r>
            <a:endParaRPr lang="ko-KR" alt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4972558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153380F-604A-4BE4-9131-DE014DE13812}"/>
              </a:ext>
            </a:extLst>
          </p:cNvPr>
          <p:cNvSpPr txBox="1"/>
          <p:nvPr/>
        </p:nvSpPr>
        <p:spPr>
          <a:xfrm>
            <a:off x="1868592" y="12700"/>
            <a:ext cx="18822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/>
              <a:t>스마트 포인터란</a:t>
            </a:r>
          </a:p>
        </p:txBody>
      </p:sp>
      <p:sp>
        <p:nvSpPr>
          <p:cNvPr id="8" name="부제목 2">
            <a:extLst>
              <a:ext uri="{FF2B5EF4-FFF2-40B4-BE49-F238E27FC236}">
                <a16:creationId xmlns:a16="http://schemas.microsoft.com/office/drawing/2014/main" id="{E5A044BC-98F9-4389-A756-1BDDB9FE8F2E}"/>
              </a:ext>
            </a:extLst>
          </p:cNvPr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B41559A-5E11-489D-B6E7-E148AE194F6F}"/>
              </a:ext>
            </a:extLst>
          </p:cNvPr>
          <p:cNvSpPr txBox="1"/>
          <p:nvPr/>
        </p:nvSpPr>
        <p:spPr>
          <a:xfrm>
            <a:off x="538480" y="15240"/>
            <a:ext cx="13174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OBJECT SYSTEM</a:t>
            </a:r>
            <a:endParaRPr lang="ko-KR" altLang="en-US" sz="1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99C0DE9-69B7-4522-B2E0-91D250B29BFB}"/>
              </a:ext>
            </a:extLst>
          </p:cNvPr>
          <p:cNvSpPr txBox="1"/>
          <p:nvPr/>
        </p:nvSpPr>
        <p:spPr>
          <a:xfrm>
            <a:off x="18926" y="15240"/>
            <a:ext cx="7023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/>
              <a:t>CGC.II..</a:t>
            </a:r>
            <a:endParaRPr lang="ko-KR" altLang="en-US" sz="12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D0B553-F867-44B3-8AF8-73DBC6B43E34}"/>
              </a:ext>
            </a:extLst>
          </p:cNvPr>
          <p:cNvSpPr txBox="1"/>
          <p:nvPr/>
        </p:nvSpPr>
        <p:spPr>
          <a:xfrm>
            <a:off x="1868592" y="635000"/>
            <a:ext cx="9977968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C </a:t>
            </a:r>
            <a:r>
              <a:rPr lang="ko-KR" altLang="en-US" sz="1400" dirty="0"/>
              <a:t>언어의 가장 강력한 도구 포인터</a:t>
            </a:r>
            <a:br>
              <a:rPr lang="en-US" altLang="ko-KR" sz="1400" dirty="0"/>
            </a:br>
            <a:r>
              <a:rPr lang="ko-KR" altLang="en-US" sz="1400" dirty="0"/>
              <a:t>하지만 잘못 사용할 경우 불안정성의 가장 원인</a:t>
            </a:r>
            <a:br>
              <a:rPr lang="en-US" altLang="ko-KR" sz="1400" dirty="0"/>
            </a:br>
            <a:r>
              <a:rPr lang="ko-KR" altLang="en-US" sz="1400" dirty="0"/>
              <a:t>메모리 릭</a:t>
            </a:r>
            <a:r>
              <a:rPr lang="en-US" altLang="ko-KR" sz="1400" dirty="0"/>
              <a:t>(memory leak), </a:t>
            </a:r>
            <a:r>
              <a:rPr lang="ko-KR" altLang="en-US" sz="1400" dirty="0" err="1"/>
              <a:t>댕글링</a:t>
            </a:r>
            <a:r>
              <a:rPr lang="ko-KR" altLang="en-US" sz="1400" dirty="0"/>
              <a:t> 포인터</a:t>
            </a:r>
            <a:r>
              <a:rPr lang="en-US" altLang="ko-KR" sz="1400" dirty="0"/>
              <a:t>(dangling pointer) </a:t>
            </a:r>
            <a:r>
              <a:rPr lang="ko-KR" altLang="en-US" sz="1400" dirty="0"/>
              <a:t>등 포인터를 잘못 사용한 것으로 인한 </a:t>
            </a:r>
            <a:r>
              <a:rPr lang="ko-KR" altLang="en-US" sz="1400" dirty="0" err="1"/>
              <a:t>크래시나</a:t>
            </a:r>
            <a:r>
              <a:rPr lang="ko-KR" altLang="en-US" sz="1400" dirty="0"/>
              <a:t> 오류는 디버깅하기도 매우 </a:t>
            </a:r>
            <a:r>
              <a:rPr lang="ko-KR" altLang="en-US" sz="1400" dirty="0" err="1"/>
              <a:t>힘듬</a:t>
            </a:r>
            <a:r>
              <a:rPr lang="en-US" altLang="ko-KR" sz="1400" dirty="0"/>
              <a:t>.</a:t>
            </a:r>
          </a:p>
          <a:p>
            <a:r>
              <a:rPr lang="ko-KR" altLang="en-US" sz="1400" dirty="0"/>
              <a:t>또 포인터의 남용은 코드를 난해하게 하고 컴파일러에 의한 오류 발견 가능성도 낮추는 문제점도 있음</a:t>
            </a:r>
            <a:r>
              <a:rPr lang="en-US" altLang="ko-KR" sz="1400" dirty="0"/>
              <a:t>.</a:t>
            </a:r>
            <a:br>
              <a:rPr lang="en-US" altLang="ko-KR" sz="1400" dirty="0"/>
            </a:br>
            <a:r>
              <a:rPr lang="ko-KR" altLang="en-US" sz="1400" dirty="0"/>
              <a:t>이런 문제의 해결을 위해</a:t>
            </a:r>
            <a:r>
              <a:rPr lang="en-US" altLang="ko-KR" sz="1400" dirty="0"/>
              <a:t>…</a:t>
            </a:r>
            <a:br>
              <a:rPr lang="en-US" altLang="ko-KR" sz="1400" dirty="0"/>
            </a:br>
            <a:br>
              <a:rPr lang="en-US" altLang="ko-KR" sz="1400" dirty="0"/>
            </a:br>
            <a:r>
              <a:rPr lang="en-US" altLang="ko-KR" sz="1400" dirty="0"/>
              <a:t>JAVA, C#</a:t>
            </a:r>
            <a:r>
              <a:rPr lang="ko-KR" altLang="en-US" sz="1400" dirty="0"/>
              <a:t>등의 많은 언어들이 포인터를 </a:t>
            </a:r>
            <a:r>
              <a:rPr lang="ko-KR" altLang="en-US" sz="1400" dirty="0" err="1"/>
              <a:t>앗사리</a:t>
            </a:r>
            <a:r>
              <a:rPr lang="ko-KR" altLang="en-US" sz="1400" dirty="0"/>
              <a:t> 없애 버리고 </a:t>
            </a:r>
            <a:r>
              <a:rPr lang="ko-KR" altLang="en-US" sz="1400" dirty="0" err="1"/>
              <a:t>가비지</a:t>
            </a:r>
            <a:r>
              <a:rPr lang="ko-KR" altLang="en-US" sz="1400" dirty="0"/>
              <a:t> 컬렉션을 통해 동적할당과 해제를 </a:t>
            </a:r>
            <a:r>
              <a:rPr lang="ko-KR" altLang="en-US" sz="1400" dirty="0" err="1"/>
              <a:t>자동처리하는</a:t>
            </a:r>
            <a:r>
              <a:rPr lang="ko-KR" altLang="en-US" sz="1400" dirty="0"/>
              <a:t> 방법을 채택하기로 함</a:t>
            </a:r>
            <a:r>
              <a:rPr lang="en-US" altLang="ko-KR" sz="1400" dirty="0"/>
              <a:t>.</a:t>
            </a:r>
            <a:br>
              <a:rPr lang="en-US" altLang="ko-KR" sz="1400" dirty="0"/>
            </a:br>
            <a:r>
              <a:rPr lang="en-US" altLang="ko-KR" sz="1400" dirty="0"/>
              <a:t>-&gt; </a:t>
            </a:r>
            <a:r>
              <a:rPr lang="ko-KR" altLang="en-US" sz="1400" dirty="0"/>
              <a:t>포인터 오남용으로 인한 문제를 근본적으로 제거함</a:t>
            </a:r>
            <a:r>
              <a:rPr lang="en-US" altLang="ko-KR" sz="1400" dirty="0"/>
              <a:t>. </a:t>
            </a:r>
            <a:r>
              <a:rPr lang="ko-KR" altLang="en-US" sz="1400" dirty="0"/>
              <a:t>동적 할당 </a:t>
            </a:r>
            <a:r>
              <a:rPr lang="ko-KR" altLang="en-US" sz="1400" dirty="0" err="1"/>
              <a:t>신경쓸</a:t>
            </a:r>
            <a:r>
              <a:rPr lang="ko-KR" altLang="en-US" sz="1400" dirty="0"/>
              <a:t> 필요 없음</a:t>
            </a:r>
            <a:r>
              <a:rPr lang="en-US" altLang="ko-KR" sz="1400" dirty="0"/>
              <a:t>.</a:t>
            </a:r>
            <a:br>
              <a:rPr lang="en-US" altLang="ko-KR" sz="1400" dirty="0"/>
            </a:br>
            <a:r>
              <a:rPr lang="en-US" altLang="ko-KR" sz="1400" dirty="0"/>
              <a:t>-&gt; </a:t>
            </a:r>
            <a:r>
              <a:rPr lang="ko-KR" altLang="en-US" sz="1400" dirty="0"/>
              <a:t>하지만 </a:t>
            </a:r>
            <a:r>
              <a:rPr lang="ko-KR" altLang="en-US" sz="1400" dirty="0" err="1"/>
              <a:t>가비지</a:t>
            </a:r>
            <a:r>
              <a:rPr lang="ko-KR" altLang="en-US" sz="1400" dirty="0"/>
              <a:t> 컬렉션의 비용이 상당히 큼</a:t>
            </a:r>
            <a:r>
              <a:rPr lang="en-US" altLang="ko-KR" sz="1400" dirty="0"/>
              <a:t>. </a:t>
            </a:r>
            <a:r>
              <a:rPr lang="ko-KR" altLang="en-US" sz="1400" dirty="0"/>
              <a:t>동작이 복잡해지고 고성능과 대형 소프트웨어에는 문제가 극심해짐</a:t>
            </a:r>
            <a:r>
              <a:rPr lang="en-US" altLang="ko-KR" sz="1400" dirty="0"/>
              <a:t>.</a:t>
            </a:r>
            <a:br>
              <a:rPr lang="en-US" altLang="ko-KR" sz="1400" dirty="0"/>
            </a:br>
            <a:r>
              <a:rPr lang="en-US" altLang="ko-KR" sz="1400" dirty="0"/>
              <a:t>-&gt; </a:t>
            </a:r>
            <a:r>
              <a:rPr lang="ko-KR" altLang="en-US" sz="1400" dirty="0"/>
              <a:t>포인터의 </a:t>
            </a:r>
            <a:r>
              <a:rPr lang="ko-KR" altLang="en-US" sz="1400" dirty="0" err="1"/>
              <a:t>장점마져</a:t>
            </a:r>
            <a:r>
              <a:rPr lang="ko-KR" altLang="en-US" sz="1400" dirty="0"/>
              <a:t> 포기하는 문제가 있음</a:t>
            </a:r>
            <a:r>
              <a:rPr lang="en-US" altLang="ko-KR" sz="1400" dirty="0"/>
              <a:t>.</a:t>
            </a:r>
          </a:p>
          <a:p>
            <a:br>
              <a:rPr lang="en-US" altLang="ko-KR" sz="1400" dirty="0"/>
            </a:br>
            <a:r>
              <a:rPr lang="en-US" altLang="ko-KR" sz="1400" dirty="0"/>
              <a:t>C++</a:t>
            </a:r>
            <a:r>
              <a:rPr lang="ko-KR" altLang="en-US" sz="1400" dirty="0"/>
              <a:t>은 참조계수</a:t>
            </a:r>
            <a:r>
              <a:rPr lang="en-US" altLang="ko-KR" sz="1400" dirty="0"/>
              <a:t>(reference </a:t>
            </a:r>
            <a:r>
              <a:rPr lang="en-US" altLang="ko-KR" sz="1400" dirty="0" err="1"/>
              <a:t>cout</a:t>
            </a:r>
            <a:r>
              <a:rPr lang="en-US" altLang="ko-KR" sz="1400" dirty="0"/>
              <a:t>)</a:t>
            </a:r>
            <a:r>
              <a:rPr lang="ko-KR" altLang="en-US" sz="1400" dirty="0"/>
              <a:t>와 </a:t>
            </a:r>
            <a:r>
              <a:rPr lang="en-US" altLang="ko-KR" sz="1400" dirty="0"/>
              <a:t>RAII</a:t>
            </a:r>
            <a:r>
              <a:rPr lang="ko-KR" altLang="en-US" sz="1400" dirty="0"/>
              <a:t>를 사용한 </a:t>
            </a:r>
            <a:r>
              <a:rPr lang="en-US" altLang="ko-KR" sz="1400" dirty="0" err="1"/>
              <a:t>smart_ptr</a:t>
            </a:r>
            <a:r>
              <a:rPr lang="en-US" altLang="ko-KR" sz="1400" dirty="0"/>
              <a:t>&lt;T&gt;</a:t>
            </a:r>
            <a:r>
              <a:rPr lang="ko-KR" altLang="en-US" sz="1400" dirty="0"/>
              <a:t>을 사용하며 이런 문제 상당수 해결</a:t>
            </a:r>
            <a:r>
              <a:rPr lang="en-US" altLang="ko-KR" sz="1400" dirty="0"/>
              <a:t>.</a:t>
            </a:r>
            <a:br>
              <a:rPr lang="en-US" altLang="ko-KR" sz="1400" dirty="0"/>
            </a:br>
            <a:r>
              <a:rPr lang="ko-KR" altLang="en-US" sz="1400" dirty="0" err="1"/>
              <a:t>스마트포인터에</a:t>
            </a:r>
            <a:r>
              <a:rPr lang="ko-KR" altLang="en-US" sz="1400" dirty="0"/>
              <a:t> 대한 개념은 </a:t>
            </a:r>
            <a:r>
              <a:rPr lang="en-US" altLang="ko-KR" sz="1400" dirty="0"/>
              <a:t>More Effective C++</a:t>
            </a:r>
            <a:r>
              <a:rPr lang="ko-KR" altLang="en-US" sz="1400" dirty="0"/>
              <a:t>에 자세히 소개 됨</a:t>
            </a:r>
            <a:r>
              <a:rPr lang="en-US" altLang="ko-KR" sz="1400" dirty="0"/>
              <a:t>.</a:t>
            </a:r>
            <a:endParaRPr lang="ko-KR" altLang="en-US" sz="1400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AF655FDC-197F-49B2-B79A-EAFB94A12428}"/>
              </a:ext>
            </a:extLst>
          </p:cNvPr>
          <p:cNvSpPr/>
          <p:nvPr/>
        </p:nvSpPr>
        <p:spPr>
          <a:xfrm>
            <a:off x="1822873" y="14197"/>
            <a:ext cx="45719" cy="2769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19210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153380F-604A-4BE4-9131-DE014DE13812}"/>
              </a:ext>
            </a:extLst>
          </p:cNvPr>
          <p:cNvSpPr txBox="1"/>
          <p:nvPr/>
        </p:nvSpPr>
        <p:spPr>
          <a:xfrm>
            <a:off x="1829955" y="12700"/>
            <a:ext cx="18822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/>
              <a:t>스마트 포인터란</a:t>
            </a:r>
          </a:p>
        </p:txBody>
      </p:sp>
      <p:sp>
        <p:nvSpPr>
          <p:cNvPr id="8" name="부제목 2">
            <a:extLst>
              <a:ext uri="{FF2B5EF4-FFF2-40B4-BE49-F238E27FC236}">
                <a16:creationId xmlns:a16="http://schemas.microsoft.com/office/drawing/2014/main" id="{E5A044BC-98F9-4389-A756-1BDDB9FE8F2E}"/>
              </a:ext>
            </a:extLst>
          </p:cNvPr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D0B553-F867-44B3-8AF8-73DBC6B43E34}"/>
              </a:ext>
            </a:extLst>
          </p:cNvPr>
          <p:cNvSpPr txBox="1"/>
          <p:nvPr/>
        </p:nvSpPr>
        <p:spPr>
          <a:xfrm>
            <a:off x="1416050" y="4526689"/>
            <a:ext cx="67228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하지만 </a:t>
            </a:r>
            <a:r>
              <a:rPr lang="ko-KR" altLang="en-US" sz="1400" dirty="0" err="1"/>
              <a:t>스마트포인터도</a:t>
            </a:r>
            <a:r>
              <a:rPr lang="ko-KR" altLang="en-US" sz="1400" dirty="0"/>
              <a:t> 완벽하지 않음</a:t>
            </a:r>
            <a:r>
              <a:rPr lang="en-US" altLang="ko-KR" sz="1400" dirty="0"/>
              <a:t>.</a:t>
            </a:r>
            <a:br>
              <a:rPr lang="en-US" altLang="ko-KR" sz="1400" dirty="0"/>
            </a:br>
            <a:r>
              <a:rPr lang="ko-KR" altLang="en-US" sz="1400" dirty="0"/>
              <a:t>순환 참조로 인한 문제</a:t>
            </a:r>
            <a:r>
              <a:rPr lang="en-US" altLang="ko-KR" sz="1400" dirty="0"/>
              <a:t>.</a:t>
            </a:r>
            <a:endParaRPr lang="ko-KR" altLang="en-US" sz="1400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C2E61142-E1A8-41CB-8B55-58932287535C}"/>
              </a:ext>
            </a:extLst>
          </p:cNvPr>
          <p:cNvSpPr/>
          <p:nvPr/>
        </p:nvSpPr>
        <p:spPr>
          <a:xfrm>
            <a:off x="1416050" y="549275"/>
            <a:ext cx="6096000" cy="30777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ko-KR" altLang="en-US" sz="1400" dirty="0"/>
              <a:t>참조계수와 </a:t>
            </a:r>
            <a:r>
              <a:rPr lang="en-US" altLang="ko-KR" sz="1400" dirty="0"/>
              <a:t>RAII</a:t>
            </a:r>
            <a:r>
              <a:rPr lang="ko-KR" altLang="en-US" sz="1400" dirty="0"/>
              <a:t>를 통한 자동 할당해제 시스템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16650C1-C0CD-4EAD-9638-48B4E5BCF9E4}"/>
              </a:ext>
            </a:extLst>
          </p:cNvPr>
          <p:cNvSpPr/>
          <p:nvPr/>
        </p:nvSpPr>
        <p:spPr>
          <a:xfrm>
            <a:off x="1416050" y="1363621"/>
            <a:ext cx="7891278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dirty="0"/>
              <a:t>객체가 마다 참조 계수를 부여하여 참조할 때마다 </a:t>
            </a:r>
            <a:r>
              <a:rPr lang="en-US" altLang="ko-KR" sz="1400" dirty="0"/>
              <a:t>1</a:t>
            </a:r>
            <a:r>
              <a:rPr lang="ko-KR" altLang="en-US" sz="1400" dirty="0"/>
              <a:t>씩 증가하고 참조 해제할 때마다 </a:t>
            </a:r>
            <a:r>
              <a:rPr lang="en-US" altLang="ko-KR" sz="1400" dirty="0"/>
              <a:t>1</a:t>
            </a:r>
            <a:r>
              <a:rPr lang="ko-KR" altLang="en-US" sz="1400" dirty="0"/>
              <a:t>씩 감소하여 참조계수가 </a:t>
            </a:r>
            <a:r>
              <a:rPr lang="en-US" altLang="ko-KR" sz="1400" dirty="0"/>
              <a:t>0</a:t>
            </a:r>
            <a:r>
              <a:rPr lang="ko-KR" altLang="en-US" sz="1400" dirty="0"/>
              <a:t>이 되는 순간 자동으로 객체를 </a:t>
            </a:r>
            <a:r>
              <a:rPr lang="en-US" altLang="ko-KR" sz="1400" dirty="0" err="1"/>
              <a:t>delet</a:t>
            </a:r>
            <a:r>
              <a:rPr lang="ko-KR" altLang="en-US" sz="1400" dirty="0"/>
              <a:t>준다</a:t>
            </a:r>
            <a:r>
              <a:rPr lang="en-US" altLang="ko-KR" sz="1400" dirty="0"/>
              <a:t>.</a:t>
            </a:r>
            <a:br>
              <a:rPr lang="en-US" altLang="ko-KR" sz="1400" dirty="0"/>
            </a:br>
            <a:r>
              <a:rPr lang="ko-KR" altLang="en-US" sz="1400" dirty="0"/>
              <a:t>스마트 포인터를 쓰면 직접 </a:t>
            </a:r>
            <a:r>
              <a:rPr lang="en-US" altLang="ko-KR" sz="1400" dirty="0" err="1"/>
              <a:t>delet</a:t>
            </a:r>
            <a:r>
              <a:rPr lang="ko-KR" altLang="en-US" sz="1400" dirty="0"/>
              <a:t>를 호출하지 않게 되고 할당해제에 </a:t>
            </a:r>
            <a:r>
              <a:rPr lang="ko-KR" altLang="en-US" sz="1400" dirty="0" err="1"/>
              <a:t>신경쓸</a:t>
            </a:r>
            <a:r>
              <a:rPr lang="ko-KR" altLang="en-US" sz="1400" dirty="0"/>
              <a:t> 필요가 없다</a:t>
            </a:r>
            <a:r>
              <a:rPr lang="en-US" altLang="ko-KR" sz="1400" dirty="0"/>
              <a:t>.</a:t>
            </a:r>
            <a:endParaRPr lang="ko-KR" altLang="en-US" sz="1400" dirty="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1BF029BA-E6E9-47CD-A86A-81ADEE804CA9}"/>
              </a:ext>
            </a:extLst>
          </p:cNvPr>
          <p:cNvSpPr/>
          <p:nvPr/>
        </p:nvSpPr>
        <p:spPr>
          <a:xfrm>
            <a:off x="1416050" y="2854157"/>
            <a:ext cx="8246878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dirty="0"/>
              <a:t> 특히 다중 쓰레드 비동기 처리 실행이 많은 서버 개발에는 </a:t>
            </a:r>
            <a:r>
              <a:rPr lang="ko-KR" altLang="en-US" sz="1400" dirty="0" err="1"/>
              <a:t>스마트포인터를</a:t>
            </a:r>
            <a:r>
              <a:rPr lang="ko-KR" altLang="en-US" sz="1400" dirty="0"/>
              <a:t> 사용하지 않으면 프로그래밍이 거의 불가능할 정도로 필수 불가결한 요소다</a:t>
            </a:r>
            <a:r>
              <a:rPr lang="en-US" altLang="ko-KR" sz="1400" dirty="0"/>
              <a:t>.</a:t>
            </a:r>
            <a:br>
              <a:rPr lang="en-US" altLang="ko-KR" sz="1400" dirty="0"/>
            </a:br>
            <a:r>
              <a:rPr lang="en-US" altLang="ko-KR" sz="1400" dirty="0"/>
              <a:t> </a:t>
            </a:r>
            <a:endParaRPr lang="ko-KR" altLang="en-US" sz="14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FFE39B0-F919-4EF6-AAE3-D6BAB8395496}"/>
              </a:ext>
            </a:extLst>
          </p:cNvPr>
          <p:cNvSpPr txBox="1"/>
          <p:nvPr/>
        </p:nvSpPr>
        <p:spPr>
          <a:xfrm>
            <a:off x="512722" y="15240"/>
            <a:ext cx="13174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OBJECT SYSTEM</a:t>
            </a:r>
            <a:endParaRPr lang="ko-KR" altLang="en-US" sz="12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E22C83E-85ED-4EB8-AC2E-EC19F7EAC0A5}"/>
              </a:ext>
            </a:extLst>
          </p:cNvPr>
          <p:cNvSpPr txBox="1"/>
          <p:nvPr/>
        </p:nvSpPr>
        <p:spPr>
          <a:xfrm>
            <a:off x="-6832" y="15240"/>
            <a:ext cx="7023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/>
              <a:t>CGC.II..</a:t>
            </a:r>
            <a:endParaRPr lang="ko-KR" altLang="en-US" sz="1200" b="1" dirty="0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84E15E08-E60A-4E32-9961-628D86DE9F71}"/>
              </a:ext>
            </a:extLst>
          </p:cNvPr>
          <p:cNvSpPr/>
          <p:nvPr/>
        </p:nvSpPr>
        <p:spPr>
          <a:xfrm>
            <a:off x="1784236" y="14197"/>
            <a:ext cx="45719" cy="2769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094071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153380F-604A-4BE4-9131-DE014DE13812}"/>
              </a:ext>
            </a:extLst>
          </p:cNvPr>
          <p:cNvSpPr txBox="1"/>
          <p:nvPr/>
        </p:nvSpPr>
        <p:spPr>
          <a:xfrm>
            <a:off x="1868592" y="14197"/>
            <a:ext cx="21948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/>
              <a:t>스마트 포인터 한계</a:t>
            </a:r>
          </a:p>
        </p:txBody>
      </p:sp>
      <p:sp>
        <p:nvSpPr>
          <p:cNvPr id="8" name="부제목 2">
            <a:extLst>
              <a:ext uri="{FF2B5EF4-FFF2-40B4-BE49-F238E27FC236}">
                <a16:creationId xmlns:a16="http://schemas.microsoft.com/office/drawing/2014/main" id="{E5A044BC-98F9-4389-A756-1BDDB9FE8F2E}"/>
              </a:ext>
            </a:extLst>
          </p:cNvPr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16650C1-C0CD-4EAD-9638-48B4E5BCF9E4}"/>
              </a:ext>
            </a:extLst>
          </p:cNvPr>
          <p:cNvSpPr/>
          <p:nvPr/>
        </p:nvSpPr>
        <p:spPr>
          <a:xfrm>
            <a:off x="1822873" y="657092"/>
            <a:ext cx="691846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dirty="0"/>
              <a:t>스마트 포인터는 순환 참조와 같은 문제가 발생할 수 있음</a:t>
            </a:r>
            <a:r>
              <a:rPr lang="en-US" altLang="ko-KR" sz="1400" dirty="0"/>
              <a:t>.</a:t>
            </a:r>
          </a:p>
          <a:p>
            <a:r>
              <a:rPr lang="ko-KR" altLang="en-US" sz="1400" dirty="0"/>
              <a:t>이 문제는 생각보다 심각한 문제임</a:t>
            </a:r>
            <a:r>
              <a:rPr lang="en-US" altLang="ko-KR" sz="1400" dirty="0"/>
              <a:t>.</a:t>
            </a:r>
            <a:endParaRPr lang="ko-KR" altLang="en-US" sz="1400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B1DEF649-9EC2-48E7-9903-FD45A90B1889}"/>
              </a:ext>
            </a:extLst>
          </p:cNvPr>
          <p:cNvSpPr/>
          <p:nvPr/>
        </p:nvSpPr>
        <p:spPr>
          <a:xfrm>
            <a:off x="1822873" y="14197"/>
            <a:ext cx="45719" cy="2769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45497D5-2445-44FD-B689-E996204413E5}"/>
              </a:ext>
            </a:extLst>
          </p:cNvPr>
          <p:cNvSpPr txBox="1"/>
          <p:nvPr/>
        </p:nvSpPr>
        <p:spPr>
          <a:xfrm>
            <a:off x="538480" y="15240"/>
            <a:ext cx="13174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OBJECT SYSTEM</a:t>
            </a:r>
            <a:endParaRPr lang="ko-KR" altLang="en-US" sz="12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BDBB28A-FE66-40D6-ADD3-BA0D3F2D384D}"/>
              </a:ext>
            </a:extLst>
          </p:cNvPr>
          <p:cNvSpPr txBox="1"/>
          <p:nvPr/>
        </p:nvSpPr>
        <p:spPr>
          <a:xfrm>
            <a:off x="18926" y="15240"/>
            <a:ext cx="7023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/>
              <a:t>CGC.II..</a:t>
            </a:r>
            <a:endParaRPr lang="ko-KR" altLang="en-US" sz="1200" b="1" dirty="0"/>
          </a:p>
        </p:txBody>
      </p:sp>
    </p:spTree>
    <p:extLst>
      <p:ext uri="{BB962C8B-B14F-4D97-AF65-F5344CB8AC3E}">
        <p14:creationId xmlns:p14="http://schemas.microsoft.com/office/powerpoint/2010/main" val="2177437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4F7C334-9554-4284-A2F8-C61A8050FDAA}"/>
              </a:ext>
            </a:extLst>
          </p:cNvPr>
          <p:cNvSpPr txBox="1"/>
          <p:nvPr/>
        </p:nvSpPr>
        <p:spPr>
          <a:xfrm>
            <a:off x="1855892" y="12104"/>
            <a:ext cx="21130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/>
              <a:t>표준 </a:t>
            </a:r>
            <a:r>
              <a:rPr lang="ko-KR" altLang="en-US" b="1" dirty="0" err="1"/>
              <a:t>스마트포인터</a:t>
            </a:r>
            <a:endParaRPr lang="ko-KR" altLang="en-US" b="1" dirty="0"/>
          </a:p>
        </p:txBody>
      </p:sp>
      <p:sp>
        <p:nvSpPr>
          <p:cNvPr id="8" name="부제목 2">
            <a:extLst>
              <a:ext uri="{FF2B5EF4-FFF2-40B4-BE49-F238E27FC236}">
                <a16:creationId xmlns:a16="http://schemas.microsoft.com/office/drawing/2014/main" id="{E5A044BC-98F9-4389-A756-1BDDB9FE8F2E}"/>
              </a:ext>
            </a:extLst>
          </p:cNvPr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0FD8C50-8ED0-4D24-AEB3-A26C7B5B3376}"/>
              </a:ext>
            </a:extLst>
          </p:cNvPr>
          <p:cNvSpPr txBox="1"/>
          <p:nvPr/>
        </p:nvSpPr>
        <p:spPr>
          <a:xfrm>
            <a:off x="1822873" y="657020"/>
            <a:ext cx="819404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스마트 포인터가 </a:t>
            </a:r>
            <a:r>
              <a:rPr lang="en-US" altLang="ko-KR" sz="1400" dirty="0"/>
              <a:t>C++</a:t>
            </a:r>
            <a:r>
              <a:rPr lang="ko-KR" altLang="en-US" sz="1400" dirty="0"/>
              <a:t>의 표준 템플릿으로 채택됨</a:t>
            </a:r>
            <a:r>
              <a:rPr lang="en-US" altLang="ko-KR" sz="1400" dirty="0"/>
              <a:t>.</a:t>
            </a:r>
            <a:br>
              <a:rPr lang="en-US" altLang="ko-KR" sz="1400" dirty="0"/>
            </a:br>
            <a:r>
              <a:rPr lang="ko-KR" altLang="en-US" sz="1400" dirty="0"/>
              <a:t>이래서 나온 것이 </a:t>
            </a:r>
            <a:r>
              <a:rPr lang="en-US" altLang="ko-KR" sz="1400" dirty="0"/>
              <a:t>std::</a:t>
            </a:r>
            <a:r>
              <a:rPr lang="en-US" altLang="ko-KR" sz="1400" dirty="0" err="1"/>
              <a:t>shared_ptr</a:t>
            </a:r>
            <a:r>
              <a:rPr lang="en-US" altLang="ko-KR" sz="1400" dirty="0"/>
              <a:t>&lt;T&gt;, std::</a:t>
            </a:r>
            <a:r>
              <a:rPr lang="en-US" altLang="ko-KR" sz="1400" dirty="0" err="1"/>
              <a:t>weak_ptr</a:t>
            </a:r>
            <a:r>
              <a:rPr lang="en-US" altLang="ko-KR" sz="1400" dirty="0"/>
              <a:t>&lt;T&gt;, </a:t>
            </a:r>
            <a:r>
              <a:rPr lang="en-US" altLang="ko-KR" sz="1400" dirty="0" err="1"/>
              <a:t>unique_ptr</a:t>
            </a:r>
            <a:r>
              <a:rPr lang="en-US" altLang="ko-KR" sz="1400" dirty="0"/>
              <a:t>&lt;T&gt; </a:t>
            </a:r>
            <a:r>
              <a:rPr lang="ko-KR" altLang="en-US" sz="1400" dirty="0"/>
              <a:t>스마트 포인터 삼형제</a:t>
            </a:r>
            <a:endParaRPr lang="en-US" altLang="ko-KR" sz="1400" dirty="0"/>
          </a:p>
          <a:p>
            <a:endParaRPr lang="ko-KR" altLang="en-US" sz="14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4FF5054-516B-41DC-A86A-29098C336E00}"/>
              </a:ext>
            </a:extLst>
          </p:cNvPr>
          <p:cNvSpPr txBox="1"/>
          <p:nvPr/>
        </p:nvSpPr>
        <p:spPr>
          <a:xfrm>
            <a:off x="1822873" y="4923413"/>
            <a:ext cx="64897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 err="1"/>
              <a:t>순환참조는</a:t>
            </a:r>
            <a:r>
              <a:rPr lang="ko-KR" altLang="en-US" sz="1400" dirty="0"/>
              <a:t> </a:t>
            </a:r>
            <a:r>
              <a:rPr lang="en-US" altLang="ko-KR" sz="1400" dirty="0"/>
              <a:t>std::</a:t>
            </a:r>
            <a:r>
              <a:rPr lang="en-US" altLang="ko-KR" sz="1400" dirty="0" err="1"/>
              <a:t>weak_ptr</a:t>
            </a:r>
            <a:r>
              <a:rPr lang="en-US" altLang="ko-KR" sz="1400" dirty="0"/>
              <a:t>&lt;T&gt;</a:t>
            </a:r>
            <a:r>
              <a:rPr lang="ko-KR" altLang="en-US" sz="1400" dirty="0"/>
              <a:t>를 통해 제한적으로 해결은 가능</a:t>
            </a:r>
            <a:r>
              <a:rPr lang="en-US" altLang="ko-KR" sz="1400" dirty="0"/>
              <a:t>.</a:t>
            </a:r>
            <a:endParaRPr lang="ko-KR" altLang="en-US" sz="14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4E4B161-9464-46BF-9644-B79CEEF63601}"/>
              </a:ext>
            </a:extLst>
          </p:cNvPr>
          <p:cNvSpPr txBox="1"/>
          <p:nvPr/>
        </p:nvSpPr>
        <p:spPr>
          <a:xfrm>
            <a:off x="1822873" y="2714436"/>
            <a:ext cx="80416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std::</a:t>
            </a:r>
            <a:r>
              <a:rPr lang="en-US" altLang="ko-KR" sz="1400" dirty="0" err="1"/>
              <a:t>make_shared</a:t>
            </a:r>
            <a:r>
              <a:rPr lang="en-US" altLang="ko-KR" sz="1400" dirty="0"/>
              <a:t>&lt;T&gt;(), </a:t>
            </a:r>
            <a:r>
              <a:rPr lang="en-US" altLang="ko-KR" sz="1400" dirty="0" err="1"/>
              <a:t>make_unique</a:t>
            </a:r>
            <a:r>
              <a:rPr lang="en-US" altLang="ko-KR" sz="1400" dirty="0"/>
              <a:t>&lt;T&gt; </a:t>
            </a:r>
            <a:r>
              <a:rPr lang="ko-KR" altLang="en-US" sz="1400" dirty="0"/>
              <a:t>함수를 통해 할당과 동시에 스마트 포인터 생성함</a:t>
            </a:r>
            <a:r>
              <a:rPr lang="en-US" altLang="ko-KR" sz="1400" dirty="0"/>
              <a:t>.</a:t>
            </a:r>
            <a:endParaRPr lang="ko-KR" altLang="en-US" sz="14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004D5B5-A71F-447B-BFA0-835046A1CA56}"/>
              </a:ext>
            </a:extLst>
          </p:cNvPr>
          <p:cNvSpPr txBox="1"/>
          <p:nvPr/>
        </p:nvSpPr>
        <p:spPr>
          <a:xfrm>
            <a:off x="538480" y="15240"/>
            <a:ext cx="13174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OBJECT SYSTEM</a:t>
            </a:r>
            <a:endParaRPr lang="ko-KR" altLang="en-US" sz="12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00F22D4-0AA2-4D95-A040-2DA6EFCDE820}"/>
              </a:ext>
            </a:extLst>
          </p:cNvPr>
          <p:cNvSpPr txBox="1"/>
          <p:nvPr/>
        </p:nvSpPr>
        <p:spPr>
          <a:xfrm>
            <a:off x="18926" y="15240"/>
            <a:ext cx="7023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/>
              <a:t>CGC.II..</a:t>
            </a:r>
            <a:endParaRPr lang="ko-KR" altLang="en-US" sz="1200" b="1" dirty="0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6CA38B02-6168-4908-9698-3E3189293EE2}"/>
              </a:ext>
            </a:extLst>
          </p:cNvPr>
          <p:cNvSpPr/>
          <p:nvPr/>
        </p:nvSpPr>
        <p:spPr>
          <a:xfrm>
            <a:off x="1822873" y="14197"/>
            <a:ext cx="45719" cy="2769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98013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4F7C334-9554-4284-A2F8-C61A8050FDAA}"/>
              </a:ext>
            </a:extLst>
          </p:cNvPr>
          <p:cNvSpPr txBox="1"/>
          <p:nvPr/>
        </p:nvSpPr>
        <p:spPr>
          <a:xfrm>
            <a:off x="1855892" y="18044"/>
            <a:ext cx="21130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/>
              <a:t>표준 </a:t>
            </a:r>
            <a:r>
              <a:rPr lang="ko-KR" altLang="en-US" b="1" dirty="0" err="1"/>
              <a:t>스마트포인터</a:t>
            </a:r>
            <a:endParaRPr lang="ko-KR" altLang="en-US" b="1" dirty="0"/>
          </a:p>
        </p:txBody>
      </p:sp>
      <p:sp>
        <p:nvSpPr>
          <p:cNvPr id="8" name="부제목 2">
            <a:extLst>
              <a:ext uri="{FF2B5EF4-FFF2-40B4-BE49-F238E27FC236}">
                <a16:creationId xmlns:a16="http://schemas.microsoft.com/office/drawing/2014/main" id="{E5A044BC-98F9-4389-A756-1BDDB9FE8F2E}"/>
              </a:ext>
            </a:extLst>
          </p:cNvPr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0FD8C50-8ED0-4D24-AEB3-A26C7B5B3376}"/>
              </a:ext>
            </a:extLst>
          </p:cNvPr>
          <p:cNvSpPr txBox="1"/>
          <p:nvPr/>
        </p:nvSpPr>
        <p:spPr>
          <a:xfrm>
            <a:off x="1822873" y="659090"/>
            <a:ext cx="80035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함수 </a:t>
            </a:r>
            <a:r>
              <a:rPr lang="ko-KR" altLang="en-US" sz="1400" dirty="0" err="1"/>
              <a:t>호출시</a:t>
            </a:r>
            <a:r>
              <a:rPr lang="ko-KR" altLang="en-US" sz="1400" dirty="0"/>
              <a:t> 인자</a:t>
            </a:r>
            <a:r>
              <a:rPr lang="en-US" altLang="ko-KR" sz="1400" dirty="0"/>
              <a:t>(parameter)</a:t>
            </a:r>
            <a:r>
              <a:rPr lang="ko-KR" altLang="en-US" sz="1400" dirty="0"/>
              <a:t>로 </a:t>
            </a:r>
            <a:r>
              <a:rPr lang="ko-KR" altLang="en-US" sz="1400" dirty="0" err="1"/>
              <a:t>전달시</a:t>
            </a:r>
            <a:r>
              <a:rPr lang="ko-KR" altLang="en-US" sz="1400" dirty="0"/>
              <a:t> 반드시 </a:t>
            </a:r>
            <a:r>
              <a:rPr lang="en-US" altLang="ko-KR" sz="1400" dirty="0" err="1"/>
              <a:t>shared_ptr</a:t>
            </a:r>
            <a:r>
              <a:rPr lang="en-US" altLang="ko-KR" sz="1400" dirty="0"/>
              <a:t>&lt;T&gt;&amp;</a:t>
            </a:r>
            <a:r>
              <a:rPr lang="ko-KR" altLang="en-US" sz="1400" dirty="0"/>
              <a:t>의 형태로 전달해야 함</a:t>
            </a:r>
            <a:r>
              <a:rPr lang="en-US" altLang="ko-KR" sz="1400" dirty="0"/>
              <a:t>.</a:t>
            </a:r>
            <a:br>
              <a:rPr lang="en-US" altLang="ko-KR" sz="1400" dirty="0"/>
            </a:br>
            <a:endParaRPr lang="ko-KR" altLang="en-US" sz="14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4FF5054-516B-41DC-A86A-29098C336E00}"/>
              </a:ext>
            </a:extLst>
          </p:cNvPr>
          <p:cNvSpPr txBox="1"/>
          <p:nvPr/>
        </p:nvSpPr>
        <p:spPr>
          <a:xfrm>
            <a:off x="1822873" y="4018758"/>
            <a:ext cx="6400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 err="1"/>
              <a:t>순환참조는</a:t>
            </a:r>
            <a:r>
              <a:rPr lang="ko-KR" altLang="en-US" sz="1400" dirty="0"/>
              <a:t> </a:t>
            </a:r>
            <a:r>
              <a:rPr lang="en-US" altLang="ko-KR" sz="1400" dirty="0"/>
              <a:t>std::</a:t>
            </a:r>
            <a:r>
              <a:rPr lang="en-US" altLang="ko-KR" sz="1400" dirty="0" err="1"/>
              <a:t>weak_ptr</a:t>
            </a:r>
            <a:r>
              <a:rPr lang="en-US" altLang="ko-KR" sz="1400" dirty="0"/>
              <a:t>&lt;T&gt;</a:t>
            </a:r>
            <a:r>
              <a:rPr lang="ko-KR" altLang="en-US" sz="1400" dirty="0"/>
              <a:t>를 통해 제한적으로 해결은 가능</a:t>
            </a:r>
            <a:r>
              <a:rPr lang="en-US" altLang="ko-KR" sz="1400" dirty="0"/>
              <a:t>.</a:t>
            </a:r>
            <a:endParaRPr lang="ko-KR" altLang="en-US" sz="14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4E4B161-9464-46BF-9644-B79CEEF63601}"/>
              </a:ext>
            </a:extLst>
          </p:cNvPr>
          <p:cNvSpPr txBox="1"/>
          <p:nvPr/>
        </p:nvSpPr>
        <p:spPr>
          <a:xfrm>
            <a:off x="1822873" y="2377577"/>
            <a:ext cx="83591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std::</a:t>
            </a:r>
            <a:r>
              <a:rPr lang="en-US" altLang="ko-KR" sz="1400" dirty="0" err="1"/>
              <a:t>make_shared</a:t>
            </a:r>
            <a:r>
              <a:rPr lang="en-US" altLang="ko-KR" sz="1400" dirty="0"/>
              <a:t>&lt;T&gt;(), </a:t>
            </a:r>
            <a:r>
              <a:rPr lang="en-US" altLang="ko-KR" sz="1400" dirty="0" err="1"/>
              <a:t>make_unique</a:t>
            </a:r>
            <a:r>
              <a:rPr lang="en-US" altLang="ko-KR" sz="1400" dirty="0"/>
              <a:t>&lt;T&gt; </a:t>
            </a:r>
            <a:r>
              <a:rPr lang="ko-KR" altLang="en-US" sz="1400" dirty="0"/>
              <a:t>함수를 통해 할당과 동시에 스마트 포인터 생성함</a:t>
            </a:r>
            <a:r>
              <a:rPr lang="en-US" altLang="ko-KR" sz="1400" dirty="0"/>
              <a:t>.</a:t>
            </a:r>
            <a:endParaRPr lang="ko-KR" altLang="en-US" sz="1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D999BA9-FA44-42CE-B8B2-8AA4D621B8FB}"/>
              </a:ext>
            </a:extLst>
          </p:cNvPr>
          <p:cNvSpPr txBox="1"/>
          <p:nvPr/>
        </p:nvSpPr>
        <p:spPr>
          <a:xfrm>
            <a:off x="538480" y="15240"/>
            <a:ext cx="13174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OBJECT SYSTEM</a:t>
            </a:r>
            <a:endParaRPr lang="ko-KR" altLang="en-US" sz="12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E57DCBC-299F-4005-804C-CE20BC3798A9}"/>
              </a:ext>
            </a:extLst>
          </p:cNvPr>
          <p:cNvSpPr txBox="1"/>
          <p:nvPr/>
        </p:nvSpPr>
        <p:spPr>
          <a:xfrm>
            <a:off x="18926" y="15240"/>
            <a:ext cx="7023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/>
              <a:t>CGC.II..</a:t>
            </a:r>
            <a:endParaRPr lang="ko-KR" altLang="en-US" sz="1200" b="1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0C00CB4E-B394-480C-B8D4-92C58F288865}"/>
              </a:ext>
            </a:extLst>
          </p:cNvPr>
          <p:cNvSpPr/>
          <p:nvPr/>
        </p:nvSpPr>
        <p:spPr>
          <a:xfrm>
            <a:off x="1822873" y="14197"/>
            <a:ext cx="45719" cy="2769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905770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A844EEB-D581-472B-8D50-6E9E9AB439CE}"/>
              </a:ext>
            </a:extLst>
          </p:cNvPr>
          <p:cNvSpPr txBox="1"/>
          <p:nvPr/>
        </p:nvSpPr>
        <p:spPr>
          <a:xfrm>
            <a:off x="1855892" y="0"/>
            <a:ext cx="38042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CGD::</a:t>
            </a:r>
            <a:r>
              <a:rPr lang="en-US" altLang="ko-KR" b="1" dirty="0" err="1"/>
              <a:t>object_ptr</a:t>
            </a:r>
            <a:r>
              <a:rPr lang="en-US" altLang="ko-KR" b="1" dirty="0"/>
              <a:t> &amp;</a:t>
            </a:r>
            <a:r>
              <a:rPr lang="ko-KR" altLang="en-US" b="1" dirty="0"/>
              <a:t> </a:t>
            </a:r>
            <a:r>
              <a:rPr lang="en-US" altLang="ko-KR" b="1" dirty="0" err="1"/>
              <a:t>Ireferenceable</a:t>
            </a:r>
            <a:endParaRPr lang="ko-KR" altLang="en-US" b="1" dirty="0"/>
          </a:p>
        </p:txBody>
      </p:sp>
      <p:sp>
        <p:nvSpPr>
          <p:cNvPr id="8" name="부제목 2">
            <a:extLst>
              <a:ext uri="{FF2B5EF4-FFF2-40B4-BE49-F238E27FC236}">
                <a16:creationId xmlns:a16="http://schemas.microsoft.com/office/drawing/2014/main" id="{E5A044BC-98F9-4389-A756-1BDDB9FE8F2E}"/>
              </a:ext>
            </a:extLst>
          </p:cNvPr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78AAE6A-E161-4680-A41E-C84804B8053E}"/>
              </a:ext>
            </a:extLst>
          </p:cNvPr>
          <p:cNvSpPr txBox="1"/>
          <p:nvPr/>
        </p:nvSpPr>
        <p:spPr>
          <a:xfrm>
            <a:off x="1822873" y="660400"/>
            <a:ext cx="77089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err="1"/>
              <a:t>Object_ptr</a:t>
            </a:r>
            <a:r>
              <a:rPr lang="ko-KR" altLang="en-US" sz="1400" dirty="0"/>
              <a:t>은 표준 </a:t>
            </a:r>
            <a:r>
              <a:rPr lang="ko-KR" altLang="en-US" sz="1400" dirty="0" err="1"/>
              <a:t>스마트포인터와</a:t>
            </a:r>
            <a:r>
              <a:rPr lang="ko-KR" altLang="en-US" sz="1400" dirty="0"/>
              <a:t> 다르게 객체 자체가 </a:t>
            </a:r>
            <a:r>
              <a:rPr lang="ko-KR" altLang="en-US" sz="1400" dirty="0" err="1"/>
              <a:t>참조계수르르</a:t>
            </a:r>
            <a:r>
              <a:rPr lang="ko-KR" altLang="en-US" sz="1400" dirty="0"/>
              <a:t> 가짐</a:t>
            </a:r>
            <a:r>
              <a:rPr lang="en-US" altLang="ko-KR" sz="1400" dirty="0"/>
              <a:t>.</a:t>
            </a:r>
          </a:p>
          <a:p>
            <a:r>
              <a:rPr lang="ko-KR" altLang="en-US" sz="1400" dirty="0"/>
              <a:t>따라서 </a:t>
            </a:r>
            <a:r>
              <a:rPr lang="en-US" altLang="ko-KR" sz="1400" dirty="0" err="1"/>
              <a:t>Ireferenceable</a:t>
            </a:r>
            <a:r>
              <a:rPr lang="ko-KR" altLang="en-US" sz="1400" dirty="0"/>
              <a:t>을 상속받은 객체를 대상으로만 처리를 함</a:t>
            </a:r>
            <a:r>
              <a:rPr lang="en-US" altLang="ko-KR" sz="1400" dirty="0"/>
              <a:t>.</a:t>
            </a:r>
            <a:br>
              <a:rPr lang="en-US" altLang="ko-KR" sz="1400" dirty="0"/>
            </a:br>
            <a:endParaRPr lang="ko-KR" altLang="en-US" sz="14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D16B627-B0A0-40AA-B3F1-143A5BBBD840}"/>
              </a:ext>
            </a:extLst>
          </p:cNvPr>
          <p:cNvSpPr txBox="1"/>
          <p:nvPr/>
        </p:nvSpPr>
        <p:spPr>
          <a:xfrm>
            <a:off x="538480" y="15240"/>
            <a:ext cx="13174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OBJECT SYSTEM</a:t>
            </a:r>
            <a:endParaRPr lang="ko-KR" altLang="en-US" sz="12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AFF3B4D-F082-4DC2-AFB1-F9A04176DE90}"/>
              </a:ext>
            </a:extLst>
          </p:cNvPr>
          <p:cNvSpPr txBox="1"/>
          <p:nvPr/>
        </p:nvSpPr>
        <p:spPr>
          <a:xfrm>
            <a:off x="18926" y="15240"/>
            <a:ext cx="7023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/>
              <a:t>CGC.II..</a:t>
            </a:r>
            <a:endParaRPr lang="ko-KR" altLang="en-US" sz="1200" b="1" dirty="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F79D42E0-7B2D-4648-B67E-2BFBE5814C23}"/>
              </a:ext>
            </a:extLst>
          </p:cNvPr>
          <p:cNvSpPr/>
          <p:nvPr/>
        </p:nvSpPr>
        <p:spPr>
          <a:xfrm>
            <a:off x="1822873" y="14197"/>
            <a:ext cx="45719" cy="2769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82454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A844EEB-D581-472B-8D50-6E9E9AB439CE}"/>
              </a:ext>
            </a:extLst>
          </p:cNvPr>
          <p:cNvSpPr txBox="1"/>
          <p:nvPr/>
        </p:nvSpPr>
        <p:spPr>
          <a:xfrm>
            <a:off x="1855892" y="0"/>
            <a:ext cx="38042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CGD::</a:t>
            </a:r>
            <a:r>
              <a:rPr lang="en-US" altLang="ko-KR" b="1" dirty="0" err="1"/>
              <a:t>object_ptr</a:t>
            </a:r>
            <a:r>
              <a:rPr lang="en-US" altLang="ko-KR" b="1" dirty="0"/>
              <a:t> &amp;</a:t>
            </a:r>
            <a:r>
              <a:rPr lang="ko-KR" altLang="en-US" b="1" dirty="0"/>
              <a:t> </a:t>
            </a:r>
            <a:r>
              <a:rPr lang="en-US" altLang="ko-KR" b="1" dirty="0" err="1"/>
              <a:t>Ireferenceable</a:t>
            </a:r>
            <a:endParaRPr lang="ko-KR" altLang="en-US" b="1" dirty="0"/>
          </a:p>
        </p:txBody>
      </p:sp>
      <p:sp>
        <p:nvSpPr>
          <p:cNvPr id="8" name="부제목 2">
            <a:extLst>
              <a:ext uri="{FF2B5EF4-FFF2-40B4-BE49-F238E27FC236}">
                <a16:creationId xmlns:a16="http://schemas.microsoft.com/office/drawing/2014/main" id="{E5A044BC-98F9-4389-A756-1BDDB9FE8F2E}"/>
              </a:ext>
            </a:extLst>
          </p:cNvPr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78AAE6A-E161-4680-A41E-C84804B8053E}"/>
              </a:ext>
            </a:extLst>
          </p:cNvPr>
          <p:cNvSpPr txBox="1"/>
          <p:nvPr/>
        </p:nvSpPr>
        <p:spPr>
          <a:xfrm>
            <a:off x="1822873" y="660924"/>
            <a:ext cx="893095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err="1"/>
              <a:t>Object_ptr</a:t>
            </a:r>
            <a:r>
              <a:rPr lang="en-US" altLang="ko-KR" sz="1400" dirty="0"/>
              <a:t>&lt;T&gt;</a:t>
            </a:r>
            <a:r>
              <a:rPr lang="ko-KR" altLang="en-US" sz="1400" dirty="0"/>
              <a:t>의 동적 할당은 </a:t>
            </a:r>
            <a:r>
              <a:rPr lang="en-US" altLang="ko-KR" sz="1400" dirty="0" err="1"/>
              <a:t>make_object</a:t>
            </a:r>
            <a:r>
              <a:rPr lang="en-US" altLang="ko-KR" sz="1400" dirty="0"/>
              <a:t>&lt;T&gt;()</a:t>
            </a:r>
            <a:r>
              <a:rPr lang="ko-KR" altLang="en-US" sz="1400" dirty="0"/>
              <a:t>함수 혹은 </a:t>
            </a:r>
            <a:r>
              <a:rPr lang="en-US" altLang="ko-KR" sz="1400" dirty="0"/>
              <a:t>NEW&lt;T&gt;() </a:t>
            </a:r>
            <a:r>
              <a:rPr lang="ko-KR" altLang="en-US" sz="1400" dirty="0"/>
              <a:t>함수로 원하는 객체 동적 할당 가능</a:t>
            </a:r>
            <a:r>
              <a:rPr lang="en-US" altLang="ko-KR" sz="1400" dirty="0"/>
              <a:t>.</a:t>
            </a:r>
            <a:endParaRPr lang="ko-KR" altLang="en-US" sz="1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0BDBE5E-E08F-4485-A0A1-8C1E0028A631}"/>
              </a:ext>
            </a:extLst>
          </p:cNvPr>
          <p:cNvSpPr txBox="1"/>
          <p:nvPr/>
        </p:nvSpPr>
        <p:spPr>
          <a:xfrm>
            <a:off x="1822873" y="3134062"/>
            <a:ext cx="72618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err="1"/>
              <a:t>own_ptr</a:t>
            </a:r>
            <a:r>
              <a:rPr lang="en-US" altLang="ko-KR" sz="1400" dirty="0"/>
              <a:t>&lt;T&gt;</a:t>
            </a:r>
            <a:r>
              <a:rPr lang="ko-KR" altLang="en-US" sz="1400" dirty="0"/>
              <a:t>의 동적 할당은 </a:t>
            </a:r>
            <a:r>
              <a:rPr lang="en-US" altLang="ko-KR" sz="1400" dirty="0" err="1"/>
              <a:t>make_own</a:t>
            </a:r>
            <a:r>
              <a:rPr lang="en-US" altLang="ko-KR" sz="1400" dirty="0"/>
              <a:t>&lt;T&gt;()</a:t>
            </a:r>
            <a:r>
              <a:rPr lang="ko-KR" altLang="en-US" sz="1400" dirty="0"/>
              <a:t>로 가능</a:t>
            </a:r>
            <a:r>
              <a:rPr lang="en-US" altLang="ko-KR" sz="1400" dirty="0"/>
              <a:t>.</a:t>
            </a:r>
            <a:endParaRPr lang="ko-KR" altLang="en-US" sz="1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79376CD-1029-457C-9A3E-FFC2A5AE1BD6}"/>
              </a:ext>
            </a:extLst>
          </p:cNvPr>
          <p:cNvSpPr txBox="1"/>
          <p:nvPr/>
        </p:nvSpPr>
        <p:spPr>
          <a:xfrm>
            <a:off x="538480" y="15240"/>
            <a:ext cx="13174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OBJECT SYSTEM</a:t>
            </a:r>
            <a:endParaRPr lang="ko-KR" altLang="en-US" sz="12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CE18FB9-9089-4DEC-B4E4-2F41FA93DD7B}"/>
              </a:ext>
            </a:extLst>
          </p:cNvPr>
          <p:cNvSpPr txBox="1"/>
          <p:nvPr/>
        </p:nvSpPr>
        <p:spPr>
          <a:xfrm>
            <a:off x="18926" y="15240"/>
            <a:ext cx="7023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/>
              <a:t>CGC.II..</a:t>
            </a:r>
            <a:endParaRPr lang="ko-KR" altLang="en-US" sz="1200" b="1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5AEE7E7A-C3F9-4BDA-8CEF-1B975D0C3A74}"/>
              </a:ext>
            </a:extLst>
          </p:cNvPr>
          <p:cNvSpPr/>
          <p:nvPr/>
        </p:nvSpPr>
        <p:spPr>
          <a:xfrm>
            <a:off x="1822873" y="14197"/>
            <a:ext cx="45719" cy="2769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891355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5D1A0A4-3BBF-473D-B6F6-765C2E02345A}"/>
              </a:ext>
            </a:extLst>
          </p:cNvPr>
          <p:cNvSpPr txBox="1"/>
          <p:nvPr/>
        </p:nvSpPr>
        <p:spPr>
          <a:xfrm>
            <a:off x="1855892" y="1497"/>
            <a:ext cx="33902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CGD::</a:t>
            </a:r>
            <a:r>
              <a:rPr lang="en-US" altLang="ko-KR" b="1" dirty="0" err="1"/>
              <a:t>own_ptr</a:t>
            </a:r>
            <a:r>
              <a:rPr lang="en-US" altLang="ko-KR" b="1" dirty="0"/>
              <a:t> &amp;</a:t>
            </a:r>
            <a:r>
              <a:rPr lang="ko-KR" altLang="en-US" b="1" dirty="0"/>
              <a:t> </a:t>
            </a:r>
            <a:r>
              <a:rPr lang="en-US" altLang="ko-KR" b="1" dirty="0" err="1"/>
              <a:t>Idestroyable</a:t>
            </a:r>
            <a:endParaRPr lang="ko-KR" altLang="en-US" b="1" dirty="0"/>
          </a:p>
        </p:txBody>
      </p:sp>
      <p:sp>
        <p:nvSpPr>
          <p:cNvPr id="8" name="부제목 2">
            <a:extLst>
              <a:ext uri="{FF2B5EF4-FFF2-40B4-BE49-F238E27FC236}">
                <a16:creationId xmlns:a16="http://schemas.microsoft.com/office/drawing/2014/main" id="{E5A044BC-98F9-4389-A756-1BDDB9FE8F2E}"/>
              </a:ext>
            </a:extLst>
          </p:cNvPr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5A2105E-14D1-4432-8536-C8D29B2DD845}"/>
              </a:ext>
            </a:extLst>
          </p:cNvPr>
          <p:cNvSpPr txBox="1"/>
          <p:nvPr/>
        </p:nvSpPr>
        <p:spPr>
          <a:xfrm>
            <a:off x="1822873" y="660400"/>
            <a:ext cx="71628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유일하게 하나만 존재하는 동적 객체를 위한 것</a:t>
            </a:r>
            <a:endParaRPr lang="en-US" altLang="ko-KR" sz="1400" dirty="0"/>
          </a:p>
          <a:p>
            <a:r>
              <a:rPr lang="ko-KR" altLang="en-US" sz="1400" dirty="0"/>
              <a:t>소멸될 때 </a:t>
            </a:r>
            <a:r>
              <a:rPr lang="en-US" altLang="ko-KR" sz="1400" dirty="0"/>
              <a:t>destroy()</a:t>
            </a:r>
            <a:r>
              <a:rPr lang="ko-KR" altLang="en-US" sz="1400" dirty="0"/>
              <a:t>함수를 호출해준다</a:t>
            </a:r>
            <a:r>
              <a:rPr lang="en-US" altLang="ko-KR" sz="1400" dirty="0"/>
              <a:t>.</a:t>
            </a:r>
          </a:p>
          <a:p>
            <a:r>
              <a:rPr lang="ko-KR" altLang="en-US" sz="1400" dirty="0" err="1"/>
              <a:t>순환참조</a:t>
            </a:r>
            <a:r>
              <a:rPr lang="ko-KR" altLang="en-US" sz="1400" dirty="0"/>
              <a:t> 문제를 해결하기 위해서도 사용</a:t>
            </a:r>
            <a:r>
              <a:rPr lang="en-US" altLang="ko-KR" sz="1400" dirty="0"/>
              <a:t>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586ADFB-B5C7-4BD5-BE49-926036824C84}"/>
              </a:ext>
            </a:extLst>
          </p:cNvPr>
          <p:cNvSpPr txBox="1"/>
          <p:nvPr/>
        </p:nvSpPr>
        <p:spPr>
          <a:xfrm>
            <a:off x="538480" y="15240"/>
            <a:ext cx="13174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OBJECT SYSTEM</a:t>
            </a:r>
            <a:endParaRPr lang="ko-KR" altLang="en-US" sz="12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2B93640-ABDC-4F42-9C1A-02ED41CAF266}"/>
              </a:ext>
            </a:extLst>
          </p:cNvPr>
          <p:cNvSpPr txBox="1"/>
          <p:nvPr/>
        </p:nvSpPr>
        <p:spPr>
          <a:xfrm>
            <a:off x="18926" y="15240"/>
            <a:ext cx="7023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/>
              <a:t>CGC.II..</a:t>
            </a:r>
            <a:endParaRPr lang="ko-KR" altLang="en-US" sz="1200" b="1" dirty="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7884537C-C1C2-4B0D-8697-8217999CE1CD}"/>
              </a:ext>
            </a:extLst>
          </p:cNvPr>
          <p:cNvSpPr/>
          <p:nvPr/>
        </p:nvSpPr>
        <p:spPr>
          <a:xfrm>
            <a:off x="1822873" y="14197"/>
            <a:ext cx="45719" cy="2769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24083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부제목 2">
            <a:extLst>
              <a:ext uri="{FF2B5EF4-FFF2-40B4-BE49-F238E27FC236}">
                <a16:creationId xmlns:a16="http://schemas.microsoft.com/office/drawing/2014/main" id="{E5A044BC-98F9-4389-A756-1BDDB9FE8F2E}"/>
              </a:ext>
            </a:extLst>
          </p:cNvPr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F8096BE-5EB3-479C-A55F-F6BF55CD54B4}"/>
              </a:ext>
            </a:extLst>
          </p:cNvPr>
          <p:cNvSpPr txBox="1"/>
          <p:nvPr/>
        </p:nvSpPr>
        <p:spPr>
          <a:xfrm>
            <a:off x="1868592" y="14197"/>
            <a:ext cx="22733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/>
              <a:t>객체 풀</a:t>
            </a:r>
            <a:r>
              <a:rPr lang="en-US" altLang="ko-KR" b="1" dirty="0"/>
              <a:t>.object</a:t>
            </a:r>
            <a:r>
              <a:rPr lang="ko-KR" altLang="en-US" b="1" dirty="0"/>
              <a:t> </a:t>
            </a:r>
            <a:r>
              <a:rPr lang="en-US" altLang="ko-KR" b="1" dirty="0"/>
              <a:t>pool</a:t>
            </a:r>
            <a:endParaRPr lang="ko-KR" altLang="en-US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E854FC3-83B1-4810-845D-2E245C8938C1}"/>
              </a:ext>
            </a:extLst>
          </p:cNvPr>
          <p:cNvSpPr txBox="1"/>
          <p:nvPr/>
        </p:nvSpPr>
        <p:spPr>
          <a:xfrm>
            <a:off x="1822873" y="660400"/>
            <a:ext cx="904832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err="1"/>
              <a:t>Ireferenceable</a:t>
            </a:r>
            <a:r>
              <a:rPr lang="en-US" altLang="ko-KR" sz="1400" dirty="0"/>
              <a:t> </a:t>
            </a:r>
            <a:r>
              <a:rPr lang="ko-KR" altLang="en-US" sz="1400" dirty="0"/>
              <a:t>대신 </a:t>
            </a:r>
            <a:r>
              <a:rPr lang="en-US" altLang="ko-KR" sz="1400" dirty="0" err="1"/>
              <a:t>Ipoolable</a:t>
            </a:r>
            <a:r>
              <a:rPr lang="ko-KR" altLang="en-US" sz="1400" dirty="0"/>
              <a:t>을 상속받으면 </a:t>
            </a:r>
            <a:r>
              <a:rPr lang="en-US" altLang="ko-KR" sz="1400" dirty="0" err="1"/>
              <a:t>make_object</a:t>
            </a:r>
            <a:r>
              <a:rPr lang="en-US" altLang="ko-KR" sz="1400" dirty="0"/>
              <a:t>&lt;T&gt;()</a:t>
            </a:r>
            <a:r>
              <a:rPr lang="ko-KR" altLang="en-US" sz="1400" dirty="0"/>
              <a:t>함수 호출 시 자동으로 풀에서 할당을 받음</a:t>
            </a:r>
            <a:r>
              <a:rPr lang="en-US" altLang="ko-KR" sz="1400" dirty="0"/>
              <a:t>.</a:t>
            </a:r>
            <a:br>
              <a:rPr lang="en-US" altLang="ko-KR" sz="1400" dirty="0"/>
            </a:br>
            <a:r>
              <a:rPr lang="ko-KR" altLang="en-US" sz="1400" dirty="0"/>
              <a:t>할당해제시 자동으로 풀로 다시 </a:t>
            </a:r>
            <a:r>
              <a:rPr lang="ko-KR" altLang="en-US" sz="1400" dirty="0" err="1"/>
              <a:t>돌아감</a:t>
            </a:r>
            <a:r>
              <a:rPr lang="en-US" altLang="ko-KR" sz="1400" dirty="0"/>
              <a:t>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E644326-5966-4BE8-B87A-BAF4B480482E}"/>
              </a:ext>
            </a:extLst>
          </p:cNvPr>
          <p:cNvSpPr txBox="1"/>
          <p:nvPr/>
        </p:nvSpPr>
        <p:spPr>
          <a:xfrm>
            <a:off x="538480" y="15240"/>
            <a:ext cx="13174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OBJECT SYSTEM</a:t>
            </a:r>
            <a:endParaRPr lang="ko-KR" altLang="en-US" sz="12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34D35E4-88F9-42B2-83DD-0AA65C4AFBC9}"/>
              </a:ext>
            </a:extLst>
          </p:cNvPr>
          <p:cNvSpPr txBox="1"/>
          <p:nvPr/>
        </p:nvSpPr>
        <p:spPr>
          <a:xfrm>
            <a:off x="18926" y="15240"/>
            <a:ext cx="7023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/>
              <a:t>CGC.II..</a:t>
            </a:r>
            <a:endParaRPr lang="ko-KR" altLang="en-US" sz="1200" b="1" dirty="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8B6DA0D3-AF9C-43E0-B610-D245889D9F47}"/>
              </a:ext>
            </a:extLst>
          </p:cNvPr>
          <p:cNvSpPr/>
          <p:nvPr/>
        </p:nvSpPr>
        <p:spPr>
          <a:xfrm>
            <a:off x="1822873" y="14197"/>
            <a:ext cx="45719" cy="2769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700038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부제목 2">
            <a:extLst>
              <a:ext uri="{FF2B5EF4-FFF2-40B4-BE49-F238E27FC236}">
                <a16:creationId xmlns:a16="http://schemas.microsoft.com/office/drawing/2014/main" id="{E5A044BC-98F9-4389-A756-1BDDB9FE8F2E}"/>
              </a:ext>
            </a:extLst>
          </p:cNvPr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F8096BE-5EB3-479C-A55F-F6BF55CD54B4}"/>
              </a:ext>
            </a:extLst>
          </p:cNvPr>
          <p:cNvSpPr txBox="1"/>
          <p:nvPr/>
        </p:nvSpPr>
        <p:spPr>
          <a:xfrm>
            <a:off x="1868592" y="12700"/>
            <a:ext cx="11897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/>
              <a:t>객체 관리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E854FC3-83B1-4810-845D-2E245C8938C1}"/>
              </a:ext>
            </a:extLst>
          </p:cNvPr>
          <p:cNvSpPr txBox="1"/>
          <p:nvPr/>
        </p:nvSpPr>
        <p:spPr>
          <a:xfrm>
            <a:off x="1822873" y="660400"/>
            <a:ext cx="975190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err="1"/>
              <a:t>Ireferenceable</a:t>
            </a:r>
            <a:r>
              <a:rPr lang="ko-KR" altLang="en-US" sz="1400" dirty="0"/>
              <a:t>을 상속받아 </a:t>
            </a:r>
            <a:r>
              <a:rPr lang="en-US" altLang="ko-KR" sz="1400" dirty="0" err="1"/>
              <a:t>make_object</a:t>
            </a:r>
            <a:r>
              <a:rPr lang="en-US" altLang="ko-KR" sz="1400" dirty="0"/>
              <a:t>&lt;T&gt;()</a:t>
            </a:r>
            <a:r>
              <a:rPr lang="ko-KR" altLang="en-US" sz="1400" dirty="0"/>
              <a:t>로 할당 받은 모든 객체는 내부적으로 통계를 냄</a:t>
            </a:r>
            <a:r>
              <a:rPr lang="en-US" altLang="ko-KR" sz="1400" dirty="0"/>
              <a:t>.</a:t>
            </a:r>
          </a:p>
          <a:p>
            <a:endParaRPr lang="en-US" altLang="ko-KR" sz="1400" dirty="0"/>
          </a:p>
          <a:p>
            <a:r>
              <a:rPr lang="ko-KR" altLang="en-US" sz="1400" dirty="0" err="1"/>
              <a:t>메모리릭</a:t>
            </a:r>
            <a:r>
              <a:rPr lang="ko-KR" altLang="en-US" sz="1400" dirty="0"/>
              <a:t> 등과 같은 문제가 발생시 확인 가능</a:t>
            </a:r>
            <a:r>
              <a:rPr lang="en-US" altLang="ko-KR" sz="1400" dirty="0"/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D98BA61-B650-4A92-BD27-814B7E1E2E78}"/>
              </a:ext>
            </a:extLst>
          </p:cNvPr>
          <p:cNvSpPr txBox="1"/>
          <p:nvPr/>
        </p:nvSpPr>
        <p:spPr>
          <a:xfrm>
            <a:off x="538480" y="15240"/>
            <a:ext cx="13174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OBJECT SYSTEM</a:t>
            </a:r>
            <a:endParaRPr lang="ko-KR" altLang="en-US" sz="12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1C1650E-1B67-421A-BF6A-1BF89648C6CE}"/>
              </a:ext>
            </a:extLst>
          </p:cNvPr>
          <p:cNvSpPr txBox="1"/>
          <p:nvPr/>
        </p:nvSpPr>
        <p:spPr>
          <a:xfrm>
            <a:off x="18926" y="15240"/>
            <a:ext cx="7023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/>
              <a:t>CGC.II..</a:t>
            </a:r>
            <a:endParaRPr lang="ko-KR" altLang="en-US" sz="1200" b="1" dirty="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C93BAF40-511F-4280-9B0F-3DA111408462}"/>
              </a:ext>
            </a:extLst>
          </p:cNvPr>
          <p:cNvSpPr/>
          <p:nvPr/>
        </p:nvSpPr>
        <p:spPr>
          <a:xfrm>
            <a:off x="1822873" y="14197"/>
            <a:ext cx="45719" cy="2769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23807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부제목 2">
            <a:extLst>
              <a:ext uri="{FF2B5EF4-FFF2-40B4-BE49-F238E27FC236}">
                <a16:creationId xmlns:a16="http://schemas.microsoft.com/office/drawing/2014/main" id="{E5A044BC-98F9-4389-A756-1BDDB9FE8F2E}"/>
              </a:ext>
            </a:extLst>
          </p:cNvPr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F8096BE-5EB3-479C-A55F-F6BF55CD54B4}"/>
              </a:ext>
            </a:extLst>
          </p:cNvPr>
          <p:cNvSpPr txBox="1"/>
          <p:nvPr/>
        </p:nvSpPr>
        <p:spPr>
          <a:xfrm>
            <a:off x="1868592" y="0"/>
            <a:ext cx="6340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FAQ</a:t>
            </a:r>
            <a:endParaRPr lang="ko-KR" altLang="en-US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D98BA61-B650-4A92-BD27-814B7E1E2E78}"/>
              </a:ext>
            </a:extLst>
          </p:cNvPr>
          <p:cNvSpPr txBox="1"/>
          <p:nvPr/>
        </p:nvSpPr>
        <p:spPr>
          <a:xfrm>
            <a:off x="538480" y="15240"/>
            <a:ext cx="13174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OBJECT SYSTEM</a:t>
            </a:r>
            <a:endParaRPr lang="ko-KR" altLang="en-US" sz="12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1C1650E-1B67-421A-BF6A-1BF89648C6CE}"/>
              </a:ext>
            </a:extLst>
          </p:cNvPr>
          <p:cNvSpPr txBox="1"/>
          <p:nvPr/>
        </p:nvSpPr>
        <p:spPr>
          <a:xfrm>
            <a:off x="18926" y="15240"/>
            <a:ext cx="7023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/>
              <a:t>CGC.II..</a:t>
            </a:r>
            <a:endParaRPr lang="ko-KR" altLang="en-US" sz="1200" b="1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DB362E6D-A6B2-4CDD-A469-E33822357EB6}"/>
              </a:ext>
            </a:extLst>
          </p:cNvPr>
          <p:cNvSpPr/>
          <p:nvPr/>
        </p:nvSpPr>
        <p:spPr>
          <a:xfrm>
            <a:off x="1822873" y="14197"/>
            <a:ext cx="45719" cy="2769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32632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205</TotalTime>
  <Words>558</Words>
  <Application>Microsoft Office PowerPoint</Application>
  <PresentationFormat>와이드스크린</PresentationFormat>
  <Paragraphs>75</Paragraphs>
  <Slides>12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5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상현 조</dc:creator>
  <cp:lastModifiedBy>상현 조</cp:lastModifiedBy>
  <cp:revision>114</cp:revision>
  <dcterms:created xsi:type="dcterms:W3CDTF">2019-08-08T18:29:33Z</dcterms:created>
  <dcterms:modified xsi:type="dcterms:W3CDTF">2019-08-09T06:52:27Z</dcterms:modified>
</cp:coreProperties>
</file>