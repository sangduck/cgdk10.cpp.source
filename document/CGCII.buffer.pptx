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07" r:id="rId2"/>
    <p:sldId id="396" r:id="rId3"/>
    <p:sldId id="415" r:id="rId4"/>
    <p:sldId id="428" r:id="rId5"/>
    <p:sldId id="427" r:id="rId6"/>
    <p:sldId id="430" r:id="rId7"/>
    <p:sldId id="431" r:id="rId8"/>
    <p:sldId id="432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CCFF"/>
    <a:srgbClr val="FFFFCC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39" autoAdjust="0"/>
    <p:restoredTop sz="94906" autoAdjust="0"/>
  </p:normalViewPr>
  <p:slideViewPr>
    <p:cSldViewPr snapToGrid="0">
      <p:cViewPr>
        <p:scale>
          <a:sx n="200" d="100"/>
          <a:sy n="200" d="100"/>
        </p:scale>
        <p:origin x="-2598" y="-7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0778DE-9D94-4E5D-91B3-7EC0AD5E216C}" type="datetimeFigureOut">
              <a:rPr lang="ko-KR" altLang="en-US" smtClean="0"/>
              <a:t>2021-12-11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0D906-180E-40CD-8333-E002C5FAAA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751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060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0132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916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782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198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5079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4807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982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736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801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659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061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492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8996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548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4494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419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643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9A752-C760-47B0-9E93-7E995F39D971}" type="datetimeFigureOut">
              <a:rPr lang="ko-KR" altLang="en-US" smtClean="0"/>
              <a:t>2021-12-11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879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angduck@cgcii.co.k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/>
              <a:t>© 2016. </a:t>
            </a:r>
            <a:r>
              <a:rPr lang="en-US" altLang="ko-KR" sz="700" b="1"/>
              <a:t>CGCII</a:t>
            </a:r>
            <a:r>
              <a:rPr lang="en-US" altLang="ko-KR" sz="700"/>
              <a:t> all rights reserved.</a:t>
            </a:r>
            <a:endParaRPr lang="ko-KR" altLang="en-US" sz="700"/>
          </a:p>
        </p:txBody>
      </p:sp>
      <p:sp>
        <p:nvSpPr>
          <p:cNvPr id="5" name="TextBox 4"/>
          <p:cNvSpPr txBox="1"/>
          <p:nvPr/>
        </p:nvSpPr>
        <p:spPr>
          <a:xfrm>
            <a:off x="9971612" y="956773"/>
            <a:ext cx="1830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/>
              <a:t>CGC.II.</a:t>
            </a:r>
            <a:endParaRPr lang="ko-KR" altLang="en-US" sz="440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8FDF70C-B021-404D-BCC9-6804D0FC60AF}"/>
              </a:ext>
            </a:extLst>
          </p:cNvPr>
          <p:cNvCxnSpPr>
            <a:cxnSpLocks/>
          </p:cNvCxnSpPr>
          <p:nvPr/>
        </p:nvCxnSpPr>
        <p:spPr>
          <a:xfrm>
            <a:off x="10839450" y="5366421"/>
            <a:ext cx="0" cy="4714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4B20AC2-C96D-4DB1-B3F8-1F0E715D1643}"/>
              </a:ext>
            </a:extLst>
          </p:cNvPr>
          <p:cNvSpPr txBox="1"/>
          <p:nvPr/>
        </p:nvSpPr>
        <p:spPr>
          <a:xfrm>
            <a:off x="9810512" y="5366421"/>
            <a:ext cx="8066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/>
              <a:t>2021.11.19</a:t>
            </a:r>
            <a:endParaRPr lang="ko-KR" altLang="en-US" sz="100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9572559-C5DA-471E-A8D0-A16578C0ED0B}"/>
              </a:ext>
            </a:extLst>
          </p:cNvPr>
          <p:cNvCxnSpPr>
            <a:cxnSpLocks/>
          </p:cNvCxnSpPr>
          <p:nvPr/>
        </p:nvCxnSpPr>
        <p:spPr>
          <a:xfrm>
            <a:off x="9467850" y="5366421"/>
            <a:ext cx="0" cy="4714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5C48886-2E41-4631-9EED-E5C14FA70D33}"/>
              </a:ext>
            </a:extLst>
          </p:cNvPr>
          <p:cNvSpPr txBox="1"/>
          <p:nvPr/>
        </p:nvSpPr>
        <p:spPr>
          <a:xfrm>
            <a:off x="10984213" y="5366421"/>
            <a:ext cx="10327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/>
              <a:t>Cho </a:t>
            </a:r>
            <a:r>
              <a:rPr lang="en-US" altLang="ko-KR" sz="1000" err="1"/>
              <a:t>Sanghyun</a:t>
            </a:r>
            <a:endParaRPr lang="en-US" altLang="ko-KR" sz="1000"/>
          </a:p>
          <a:p>
            <a:pPr algn="r"/>
            <a:r>
              <a:rPr lang="ko-KR" altLang="en-US" sz="1000"/>
              <a:t>조상현</a:t>
            </a:r>
            <a:endParaRPr lang="en-US" altLang="ko-KR" sz="1000"/>
          </a:p>
          <a:p>
            <a:pPr algn="r"/>
            <a:r>
              <a:rPr lang="ko-KR" altLang="en-US" sz="1000"/>
              <a:t>曺尙鉉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5E2340-EDC1-4DA3-BF9E-02AD0D0065F8}"/>
              </a:ext>
            </a:extLst>
          </p:cNvPr>
          <p:cNvSpPr txBox="1"/>
          <p:nvPr/>
        </p:nvSpPr>
        <p:spPr>
          <a:xfrm>
            <a:off x="7669780" y="5366421"/>
            <a:ext cx="1564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/>
              <a:t>CGCII.</a:t>
            </a:r>
          </a:p>
          <a:p>
            <a:pPr algn="r"/>
            <a:r>
              <a:rPr lang="en-US" altLang="ko-KR" sz="1000"/>
              <a:t>version 10.0</a:t>
            </a:r>
            <a:endParaRPr lang="ko-KR" altLang="en-US" sz="1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1766A6-09A0-4715-80F8-6831D5E15679}"/>
              </a:ext>
            </a:extLst>
          </p:cNvPr>
          <p:cNvSpPr txBox="1"/>
          <p:nvPr/>
        </p:nvSpPr>
        <p:spPr>
          <a:xfrm>
            <a:off x="9897762" y="5987660"/>
            <a:ext cx="20847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/>
              <a:t>TEL. 010-2914-1628</a:t>
            </a:r>
          </a:p>
          <a:p>
            <a:pPr algn="r"/>
            <a:r>
              <a:rPr lang="en-US" altLang="ko-KR" sz="1000">
                <a:hlinkClick r:id="rId2"/>
              </a:rPr>
              <a:t>sangduck@cgcii.co.kr</a:t>
            </a:r>
            <a:endParaRPr lang="en-US" altLang="ko-KR" sz="1000"/>
          </a:p>
          <a:p>
            <a:pPr algn="r"/>
            <a:r>
              <a:rPr lang="en-US" altLang="ko-KR" sz="1000"/>
              <a:t>cgciisangduck@gmail.com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2303567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/>
              <a:t>© 2016. </a:t>
            </a:r>
            <a:r>
              <a:rPr lang="en-US" altLang="ko-KR" sz="700" b="1"/>
              <a:t>CGCII</a:t>
            </a:r>
            <a:r>
              <a:rPr lang="en-US" altLang="ko-KR" sz="700"/>
              <a:t> all rights reserved.</a:t>
            </a:r>
            <a:endParaRPr lang="ko-KR" altLang="en-US" sz="70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8182CDA-BD26-4323-AB69-56559F41F23A}"/>
              </a:ext>
            </a:extLst>
          </p:cNvPr>
          <p:cNvSpPr/>
          <p:nvPr/>
        </p:nvSpPr>
        <p:spPr>
          <a:xfrm>
            <a:off x="7516465" y="2865487"/>
            <a:ext cx="1589167" cy="2433551"/>
          </a:xfrm>
          <a:prstGeom prst="roundRect">
            <a:avLst>
              <a:gd name="adj" fmla="val 5618"/>
            </a:avLst>
          </a:prstGeom>
          <a:solidFill>
            <a:schemeClr val="accent4"/>
          </a:solidFill>
          <a:ln>
            <a:solidFill>
              <a:schemeClr val="accent1">
                <a:shade val="50000"/>
                <a:alpha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D87396-7E38-4459-8386-A43CDEA91BB0}"/>
              </a:ext>
            </a:extLst>
          </p:cNvPr>
          <p:cNvSpPr txBox="1"/>
          <p:nvPr/>
        </p:nvSpPr>
        <p:spPr>
          <a:xfrm>
            <a:off x="3525586" y="1099674"/>
            <a:ext cx="4064495" cy="81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NATIVE API level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특정 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OS/</a:t>
            </a: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플랫폼 전용 함수들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(</a:t>
            </a:r>
            <a:r>
              <a:rPr lang="en-US" altLang="ko-KR" sz="900" err="1">
                <a:latin typeface="나눔명조" panose="02020603020101020101" pitchFamily="18" charset="-127"/>
                <a:ea typeface="나눔명조" panose="02020603020101020101" pitchFamily="18" charset="-127"/>
              </a:rPr>
              <a:t>api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) 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플랫폼 고유 기능을 사용하여 </a:t>
            </a:r>
            <a:r>
              <a:rPr lang="ko-KR" altLang="en-US" sz="900" b="1">
                <a:latin typeface="나눔명조" panose="02020603020101020101" pitchFamily="18" charset="-127"/>
                <a:ea typeface="나눔명조" panose="02020603020101020101" pitchFamily="18" charset="-127"/>
              </a:rPr>
              <a:t>최적화된 구현이 가능</a:t>
            </a:r>
            <a:endParaRPr lang="en-US" altLang="ko-KR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하지만 </a:t>
            </a:r>
            <a:r>
              <a:rPr lang="ko-KR" altLang="en-US" sz="900" err="1">
                <a:latin typeface="나눔명조" panose="02020603020101020101" pitchFamily="18" charset="-127"/>
                <a:ea typeface="나눔명조" panose="02020603020101020101" pitchFamily="18" charset="-127"/>
              </a:rPr>
              <a:t>플래폼마다</a:t>
            </a: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 다른 </a:t>
            </a:r>
            <a:r>
              <a:rPr lang="en-US" altLang="ko-KR" sz="900" err="1">
                <a:latin typeface="나눔명조" panose="02020603020101020101" pitchFamily="18" charset="-127"/>
                <a:ea typeface="나눔명조" panose="02020603020101020101" pitchFamily="18" charset="-127"/>
              </a:rPr>
              <a:t>api</a:t>
            </a: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에 맞춰 직접 </a:t>
            </a:r>
            <a:r>
              <a:rPr lang="ko-KR" altLang="en-US" sz="900" err="1">
                <a:latin typeface="나눔명조" panose="02020603020101020101" pitchFamily="18" charset="-127"/>
                <a:ea typeface="나눔명조" panose="02020603020101020101" pitchFamily="18" charset="-127"/>
              </a:rPr>
              <a:t>구현해야하는</a:t>
            </a: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 어려움이 있음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CC54502-DE88-4F8A-8089-1ED964270728}"/>
              </a:ext>
            </a:extLst>
          </p:cNvPr>
          <p:cNvSpPr/>
          <p:nvPr/>
        </p:nvSpPr>
        <p:spPr>
          <a:xfrm>
            <a:off x="7545370" y="1370408"/>
            <a:ext cx="949958" cy="230466"/>
          </a:xfrm>
          <a:prstGeom prst="roundRect">
            <a:avLst/>
          </a:prstGeom>
          <a:solidFill>
            <a:schemeClr val="bg1"/>
          </a:solidFill>
          <a:ln>
            <a:prstDash val="sysDot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socket </a:t>
            </a:r>
            <a:r>
              <a:rPr lang="en-US" altLang="ko-KR" sz="800" err="1">
                <a:solidFill>
                  <a:schemeClr val="tx1"/>
                </a:solidFill>
              </a:rPr>
              <a:t>api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81DB042-8347-41CF-AB25-EC35FC6EF510}"/>
              </a:ext>
            </a:extLst>
          </p:cNvPr>
          <p:cNvSpPr/>
          <p:nvPr/>
        </p:nvSpPr>
        <p:spPr>
          <a:xfrm>
            <a:off x="7551991" y="2187269"/>
            <a:ext cx="949958" cy="230466"/>
          </a:xfrm>
          <a:prstGeom prst="roundRect">
            <a:avLst/>
          </a:prstGeom>
          <a:solidFill>
            <a:schemeClr val="bg1"/>
          </a:solidFill>
          <a:ln>
            <a:prstDash val="soli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boost:asio</a:t>
            </a:r>
            <a:endParaRPr lang="ko-KR" altLang="en-US" sz="800">
              <a:solidFill>
                <a:schemeClr val="tx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C0E5D14-DC44-45BD-9055-87DEA6BCAD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2767" y="4794216"/>
            <a:ext cx="415031" cy="8754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C1CC46C-2598-4D0B-BCF8-AC8D9F8BB0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304" y="4694108"/>
            <a:ext cx="473776" cy="23688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2326941-5FE2-449F-92FB-43417FFA51EF}"/>
              </a:ext>
            </a:extLst>
          </p:cNvPr>
          <p:cNvSpPr txBox="1"/>
          <p:nvPr/>
        </p:nvSpPr>
        <p:spPr>
          <a:xfrm>
            <a:off x="3525586" y="1892473"/>
            <a:ext cx="2979862" cy="81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STANDARD API level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 err="1">
                <a:latin typeface="나눔명조" panose="02020603020101020101" pitchFamily="18" charset="-127"/>
                <a:ea typeface="나눔명조" panose="02020603020101020101" pitchFamily="18" charset="-127"/>
              </a:rPr>
              <a:t>저수준</a:t>
            </a: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 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socket </a:t>
            </a:r>
            <a:r>
              <a:rPr lang="en-US" altLang="ko-KR" sz="900" err="1">
                <a:latin typeface="나눔명조" panose="02020603020101020101" pitchFamily="18" charset="-127"/>
                <a:ea typeface="나눔명조" panose="02020603020101020101" pitchFamily="18" charset="-127"/>
              </a:rPr>
              <a:t>api</a:t>
            </a:r>
            <a:r>
              <a:rPr lang="ko-KR" altLang="en-US" sz="900" err="1">
                <a:latin typeface="나눔명조" panose="02020603020101020101" pitchFamily="18" charset="-127"/>
                <a:ea typeface="나눔명조" panose="02020603020101020101" pitchFamily="18" charset="-127"/>
              </a:rPr>
              <a:t>를</a:t>
            </a: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 표준화한 레벨</a:t>
            </a:r>
            <a:endParaRPr lang="en-US" altLang="ko-KR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서버 플랫폼에 관계없이 동일한 구현 가능</a:t>
            </a:r>
            <a:endParaRPr lang="en-US" altLang="ko-KR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최적화는 일부 희생</a:t>
            </a:r>
            <a:endParaRPr lang="en-US" altLang="ko-KR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E0907F-AF45-4F92-A2FB-8A89A846CA6F}"/>
              </a:ext>
            </a:extLst>
          </p:cNvPr>
          <p:cNvSpPr txBox="1"/>
          <p:nvPr/>
        </p:nvSpPr>
        <p:spPr>
          <a:xfrm>
            <a:off x="3525586" y="2789566"/>
            <a:ext cx="2979862" cy="635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ENGINE Level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핵심 기능을 구현해 놓은 모듈</a:t>
            </a:r>
            <a:endParaRPr lang="en-US" altLang="ko-KR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자동차의 엔진과 같은 개념</a:t>
            </a:r>
            <a:endParaRPr lang="en-US" altLang="ko-KR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0FBA1E-27BD-4C1B-A8BE-96A2646D241A}"/>
              </a:ext>
            </a:extLst>
          </p:cNvPr>
          <p:cNvSpPr txBox="1"/>
          <p:nvPr/>
        </p:nvSpPr>
        <p:spPr>
          <a:xfrm>
            <a:off x="3562628" y="5533854"/>
            <a:ext cx="2979862" cy="43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SERVICE Level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실제 서비스되는 서버를 구현하는 레벨</a:t>
            </a:r>
            <a:endParaRPr lang="en-US" altLang="ko-KR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8EEFD50-E911-4A68-81BE-CD6C3204047A}"/>
              </a:ext>
            </a:extLst>
          </p:cNvPr>
          <p:cNvSpPr/>
          <p:nvPr/>
        </p:nvSpPr>
        <p:spPr>
          <a:xfrm>
            <a:off x="8564114" y="2185647"/>
            <a:ext cx="1088931" cy="230466"/>
          </a:xfrm>
          <a:prstGeom prst="roundRect">
            <a:avLst/>
          </a:prstGeom>
          <a:solidFill>
            <a:schemeClr val="bg1"/>
          </a:solidFill>
          <a:ln>
            <a:prstDash val="soli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C++ Network.TS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0A203EB-FFE9-412C-B025-BEF14D5DBEE4}"/>
              </a:ext>
            </a:extLst>
          </p:cNvPr>
          <p:cNvSpPr/>
          <p:nvPr/>
        </p:nvSpPr>
        <p:spPr>
          <a:xfrm>
            <a:off x="9632520" y="5589121"/>
            <a:ext cx="920354" cy="346375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Web Service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4A1459F-6CFA-4F79-8E54-EA05CEA6E137}"/>
              </a:ext>
            </a:extLst>
          </p:cNvPr>
          <p:cNvSpPr/>
          <p:nvPr/>
        </p:nvSpPr>
        <p:spPr>
          <a:xfrm>
            <a:off x="7630523" y="5608170"/>
            <a:ext cx="920354" cy="346375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Game server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B9B354A-F5BD-4594-B6A9-7956C37B6F59}"/>
              </a:ext>
            </a:extLst>
          </p:cNvPr>
          <p:cNvSpPr/>
          <p:nvPr/>
        </p:nvSpPr>
        <p:spPr>
          <a:xfrm>
            <a:off x="8635567" y="5599414"/>
            <a:ext cx="920354" cy="346375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Game server</a:t>
            </a:r>
            <a:endParaRPr lang="ko-KR" altLang="en-US" sz="800">
              <a:solidFill>
                <a:schemeClr val="tx1"/>
              </a:solidFill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9424B91-D80C-490A-AA8E-AD0CA0874C56}"/>
              </a:ext>
            </a:extLst>
          </p:cNvPr>
          <p:cNvCxnSpPr>
            <a:cxnSpLocks/>
          </p:cNvCxnSpPr>
          <p:nvPr/>
        </p:nvCxnSpPr>
        <p:spPr>
          <a:xfrm>
            <a:off x="3397522" y="2759935"/>
            <a:ext cx="762056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6F1E0811-4AB3-45AF-BD22-FF1A71690551}"/>
              </a:ext>
            </a:extLst>
          </p:cNvPr>
          <p:cNvCxnSpPr>
            <a:cxnSpLocks/>
          </p:cNvCxnSpPr>
          <p:nvPr/>
        </p:nvCxnSpPr>
        <p:spPr>
          <a:xfrm flipH="1" flipV="1">
            <a:off x="3397522" y="1902364"/>
            <a:ext cx="7620559" cy="2991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6A4C9B-E083-4AC8-952D-E327717C0902}"/>
              </a:ext>
            </a:extLst>
          </p:cNvPr>
          <p:cNvSpPr/>
          <p:nvPr/>
        </p:nvSpPr>
        <p:spPr>
          <a:xfrm>
            <a:off x="9959448" y="4590968"/>
            <a:ext cx="35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…</a:t>
            </a:r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0C9F34-A373-40AC-8DEF-658A09F7C00F}"/>
              </a:ext>
            </a:extLst>
          </p:cNvPr>
          <p:cNvSpPr txBox="1"/>
          <p:nvPr/>
        </p:nvSpPr>
        <p:spPr>
          <a:xfrm>
            <a:off x="3525585" y="4343192"/>
            <a:ext cx="3418911" cy="97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SOLUTION Level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특정 서비스에 특화해 필요한 기능들을 통합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/</a:t>
            </a: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구현해 간단한 구현만으로 서비스를 구성할 수 있도록 한 것</a:t>
            </a:r>
            <a:endParaRPr lang="en-US" altLang="ko-KR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대상 서비스에 구체적 특화</a:t>
            </a:r>
            <a:endParaRPr lang="en-US" altLang="ko-KR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주식거래 시스템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웹솔루션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채팅 시스템 </a:t>
            </a:r>
            <a:r>
              <a:rPr lang="en-US" altLang="ko-KR" sz="900">
                <a:latin typeface="나눔명조" panose="02020603020101020101" pitchFamily="18" charset="-127"/>
                <a:ea typeface="나눔명조" panose="02020603020101020101" pitchFamily="18" charset="-127"/>
              </a:rPr>
              <a:t>…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8350F846-2D8E-4995-B7A7-04CB2FECB79B}"/>
              </a:ext>
            </a:extLst>
          </p:cNvPr>
          <p:cNvCxnSpPr>
            <a:cxnSpLocks/>
          </p:cNvCxnSpPr>
          <p:nvPr/>
        </p:nvCxnSpPr>
        <p:spPr>
          <a:xfrm>
            <a:off x="3397522" y="5537389"/>
            <a:ext cx="762056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A77BABE-5784-4C7B-8144-1C5C9E310048}"/>
              </a:ext>
            </a:extLst>
          </p:cNvPr>
          <p:cNvSpPr/>
          <p:nvPr/>
        </p:nvSpPr>
        <p:spPr>
          <a:xfrm>
            <a:off x="9635877" y="2047155"/>
            <a:ext cx="35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…</a:t>
            </a:r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12A25E5A-B0CD-4BF9-AE72-1BA9F71B3426}"/>
              </a:ext>
            </a:extLst>
          </p:cNvPr>
          <p:cNvSpPr/>
          <p:nvPr/>
        </p:nvSpPr>
        <p:spPr>
          <a:xfrm>
            <a:off x="10674355" y="5365398"/>
            <a:ext cx="666333" cy="346375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paas</a:t>
            </a:r>
            <a:endParaRPr lang="ko-KR" altLang="en-US" sz="1200">
              <a:solidFill>
                <a:schemeClr val="tx1"/>
              </a:solidFill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C9BF0565-5665-4D18-8FE0-00EB0F69364A}"/>
              </a:ext>
            </a:extLst>
          </p:cNvPr>
          <p:cNvCxnSpPr>
            <a:cxnSpLocks/>
          </p:cNvCxnSpPr>
          <p:nvPr/>
        </p:nvCxnSpPr>
        <p:spPr>
          <a:xfrm flipH="1" flipV="1">
            <a:off x="3397522" y="4313452"/>
            <a:ext cx="7620559" cy="2991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DCB6C4C-5D2B-4821-A9BE-4B5BD5E1A069}"/>
              </a:ext>
            </a:extLst>
          </p:cNvPr>
          <p:cNvCxnSpPr>
            <a:cxnSpLocks/>
          </p:cNvCxnSpPr>
          <p:nvPr/>
        </p:nvCxnSpPr>
        <p:spPr>
          <a:xfrm flipH="1" flipV="1">
            <a:off x="3397522" y="3608602"/>
            <a:ext cx="7620559" cy="2991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9258C0A-A457-4BE3-B52B-4D78FFBED20E}"/>
              </a:ext>
            </a:extLst>
          </p:cNvPr>
          <p:cNvSpPr txBox="1"/>
          <p:nvPr/>
        </p:nvSpPr>
        <p:spPr>
          <a:xfrm>
            <a:off x="3525586" y="3622241"/>
            <a:ext cx="3746708" cy="43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FRAMEWORK Level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>
                <a:latin typeface="나눔명조" panose="02020603020101020101" pitchFamily="18" charset="-127"/>
                <a:ea typeface="나눔명조" panose="02020603020101020101" pitchFamily="18" charset="-127"/>
              </a:rPr>
              <a:t>구조까지 제공해 일부만 제정의 혹은 설정하여 서비스 제작</a:t>
            </a:r>
            <a:endParaRPr lang="en-US" altLang="ko-KR" sz="90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95A3DC-90C1-4A6D-A5B9-B6813935CE11}"/>
              </a:ext>
            </a:extLst>
          </p:cNvPr>
          <p:cNvSpPr txBox="1"/>
          <p:nvPr/>
        </p:nvSpPr>
        <p:spPr>
          <a:xfrm>
            <a:off x="7523325" y="2849963"/>
            <a:ext cx="902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CGC.II.</a:t>
            </a:r>
            <a:endParaRPr lang="ko-KR" altLang="en-US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07CE019C-2BCE-4AF8-A5E5-E00EF2C9B68E}"/>
              </a:ext>
            </a:extLst>
          </p:cNvPr>
          <p:cNvSpPr/>
          <p:nvPr/>
        </p:nvSpPr>
        <p:spPr>
          <a:xfrm>
            <a:off x="8620331" y="1370408"/>
            <a:ext cx="949958" cy="230466"/>
          </a:xfrm>
          <a:prstGeom prst="roundRect">
            <a:avLst/>
          </a:prstGeom>
          <a:solidFill>
            <a:schemeClr val="bg1"/>
          </a:solidFill>
          <a:ln>
            <a:prstDash val="sysDot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err="1">
                <a:solidFill>
                  <a:schemeClr val="tx1"/>
                </a:solidFill>
              </a:rPr>
              <a:t>winsock</a:t>
            </a:r>
            <a:r>
              <a:rPr lang="en-US" altLang="ko-KR" sz="800">
                <a:solidFill>
                  <a:schemeClr val="tx1"/>
                </a:solidFill>
              </a:rPr>
              <a:t> </a:t>
            </a:r>
            <a:r>
              <a:rPr lang="en-US" altLang="ko-KR" sz="800" err="1">
                <a:solidFill>
                  <a:schemeClr val="tx1"/>
                </a:solidFill>
              </a:rPr>
              <a:t>api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2D2C180-47F5-486C-96DA-4B5DE53D4930}"/>
              </a:ext>
            </a:extLst>
          </p:cNvPr>
          <p:cNvSpPr/>
          <p:nvPr/>
        </p:nvSpPr>
        <p:spPr>
          <a:xfrm>
            <a:off x="7590081" y="3163850"/>
            <a:ext cx="10583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CGDK.system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CGDK.net.socket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CGDK.server.log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C4F9C41-515B-456B-A263-807391362ED6}"/>
              </a:ext>
            </a:extLst>
          </p:cNvPr>
          <p:cNvSpPr/>
          <p:nvPr/>
        </p:nvSpPr>
        <p:spPr>
          <a:xfrm>
            <a:off x="7590081" y="3680876"/>
            <a:ext cx="11977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CGDK.net.p2p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CGDK.server.group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CGDK.server.service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A57DB02-6327-4184-93C7-6923C62BB48B}"/>
              </a:ext>
            </a:extLst>
          </p:cNvPr>
          <p:cNvSpPr/>
          <p:nvPr/>
        </p:nvSpPr>
        <p:spPr>
          <a:xfrm>
            <a:off x="7590081" y="4398737"/>
            <a:ext cx="13773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CGDK.server.doss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CGDK.server.time_event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CGDK.server.admin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12FCA8B-A33E-4E89-8064-209158D751F4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>
                <a:latin typeface="HY신명조" panose="02030600000101010101" pitchFamily="18" charset="-127"/>
                <a:ea typeface="HY신명조" panose="02030600000101010101" pitchFamily="18" charset="-127"/>
              </a:rPr>
              <a:t>About CGCII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828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/>
              <a:t>© 2016. </a:t>
            </a:r>
            <a:r>
              <a:rPr lang="en-US" altLang="ko-KR" sz="700" b="1"/>
              <a:t>CGCII</a:t>
            </a:r>
            <a:r>
              <a:rPr lang="en-US" altLang="ko-KR" sz="700"/>
              <a:t> all rights reserved.</a:t>
            </a:r>
            <a:endParaRPr lang="ko-KR" altLang="en-US" sz="70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EECA7-FA4E-4060-B5EA-20A6EB7963A5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err="1">
                <a:latin typeface="HY신명조" panose="02030600000101010101" pitchFamily="18" charset="-127"/>
                <a:ea typeface="HY신명조" panose="02030600000101010101" pitchFamily="18" charset="-127"/>
              </a:rPr>
              <a:t>CGDK.buffer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5682F-C015-4494-A741-C0D6A6144FFE}"/>
              </a:ext>
            </a:extLst>
          </p:cNvPr>
          <p:cNvSpPr txBox="1"/>
          <p:nvPr/>
        </p:nvSpPr>
        <p:spPr>
          <a:xfrm>
            <a:off x="1287160" y="1706623"/>
            <a:ext cx="10167553" cy="365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err="1">
                <a:latin typeface="HY신명조" panose="02030600000101010101" pitchFamily="18" charset="-127"/>
                <a:ea typeface="HY신명조" panose="02030600000101010101" pitchFamily="18" charset="-127"/>
              </a:rPr>
              <a:t>CGDK.buffe</a:t>
            </a:r>
            <a:r>
              <a:rPr lang="ko-KR" altLang="en-US" sz="1400">
                <a:latin typeface="HY신명조" panose="02030600000101010101" pitchFamily="18" charset="-127"/>
                <a:ea typeface="HY신명조" panose="02030600000101010101" pitchFamily="18" charset="-127"/>
              </a:rPr>
              <a:t>는 작고 가볍고 편리하며 빠른 데이터를 직렬화 라이브러리입니다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8B1F27-413F-455F-9D52-5F3A52DB334B}"/>
              </a:ext>
            </a:extLst>
          </p:cNvPr>
          <p:cNvSpPr txBox="1"/>
          <p:nvPr/>
        </p:nvSpPr>
        <p:spPr>
          <a:xfrm>
            <a:off x="880509" y="1218971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>
                <a:latin typeface="HY신명조" panose="02030600000101010101" pitchFamily="18" charset="-127"/>
                <a:ea typeface="HY신명조" panose="02030600000101010101" pitchFamily="18" charset="-127"/>
              </a:rPr>
              <a:t>What is </a:t>
            </a:r>
            <a:r>
              <a:rPr lang="en-US" altLang="ko-KR" err="1">
                <a:latin typeface="HY신명조" panose="02030600000101010101" pitchFamily="18" charset="-127"/>
                <a:ea typeface="HY신명조" panose="02030600000101010101" pitchFamily="18" charset="-127"/>
              </a:rPr>
              <a:t>CGDK.buffer</a:t>
            </a:r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8AF17C-B6E3-4EB6-A1D6-529E8CEA9F53}"/>
              </a:ext>
            </a:extLst>
          </p:cNvPr>
          <p:cNvSpPr txBox="1"/>
          <p:nvPr/>
        </p:nvSpPr>
        <p:spPr>
          <a:xfrm>
            <a:off x="1287160" y="2235539"/>
            <a:ext cx="10167553" cy="365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>
                <a:latin typeface="HY신명조" panose="02030600000101010101" pitchFamily="18" charset="-127"/>
                <a:ea typeface="HY신명조" panose="02030600000101010101" pitchFamily="18" charset="-127"/>
              </a:rPr>
              <a:t>메시지 정의나 컴파일 혹은 설정은 필요이 단지 구조체만 정의만으로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400">
                <a:latin typeface="HY신명조" panose="02030600000101010101" pitchFamily="18" charset="-127"/>
                <a:ea typeface="HY신명조" panose="02030600000101010101" pitchFamily="18" charset="-127"/>
              </a:rPr>
              <a:t>마법같은 직렬화가 가능합니다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4C5D24-F4A4-4531-9127-D864C5FA6151}"/>
              </a:ext>
            </a:extLst>
          </p:cNvPr>
          <p:cNvSpPr txBox="1"/>
          <p:nvPr/>
        </p:nvSpPr>
        <p:spPr>
          <a:xfrm>
            <a:off x="1304304" y="2782213"/>
            <a:ext cx="10167553" cy="365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C++ C#</a:t>
            </a:r>
            <a:r>
              <a:rPr lang="ko-KR" altLang="en-US" sz="1400">
                <a:latin typeface="HY신명조" panose="02030600000101010101" pitchFamily="18" charset="-127"/>
                <a:ea typeface="HY신명조" panose="02030600000101010101" pitchFamily="18" charset="-127"/>
              </a:rPr>
              <a:t>만 지원된다면 어떤 서버 어떤 클라이언트에서도 사용 가능합니다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3528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/>
              <a:t>© 2016. </a:t>
            </a:r>
            <a:r>
              <a:rPr lang="en-US" altLang="ko-KR" sz="700" b="1"/>
              <a:t>CGCII</a:t>
            </a:r>
            <a:r>
              <a:rPr lang="en-US" altLang="ko-KR" sz="700"/>
              <a:t> all rights reserved.</a:t>
            </a:r>
            <a:endParaRPr lang="ko-KR" altLang="en-US" sz="70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BABE22-9047-48FA-8BA8-6A9C3FE9B7A2}"/>
              </a:ext>
            </a:extLst>
          </p:cNvPr>
          <p:cNvSpPr txBox="1"/>
          <p:nvPr/>
        </p:nvSpPr>
        <p:spPr>
          <a:xfrm>
            <a:off x="1287160" y="635339"/>
            <a:ext cx="10167553" cy="1334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4</a:t>
            </a:r>
            <a:r>
              <a:rPr lang="ko-KR" altLang="en-US" sz="1400">
                <a:latin typeface="HY신명조" panose="02030600000101010101" pitchFamily="18" charset="-127"/>
                <a:ea typeface="HY신명조" panose="02030600000101010101" pitchFamily="18" charset="-127"/>
              </a:rPr>
              <a:t>개의 함수만 기억하십시요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400" b="1">
                <a:latin typeface="HY신명조" panose="02030600000101010101" pitchFamily="18" charset="-127"/>
                <a:ea typeface="HY신명조" panose="02030600000101010101" pitchFamily="18" charset="-127"/>
              </a:rPr>
              <a:t>append&lt;T&gt;()</a:t>
            </a:r>
            <a:r>
              <a:rPr lang="ko-KR" altLang="en-US" sz="1400">
                <a:latin typeface="HY신명조" panose="02030600000101010101" pitchFamily="18" charset="-127"/>
                <a:ea typeface="HY신명조" panose="02030600000101010101" pitchFamily="18" charset="-127"/>
              </a:rPr>
              <a:t>함수로 직렬화를 </a:t>
            </a:r>
            <a:r>
              <a:rPr lang="en-US" altLang="ko-KR" sz="1400" b="1">
                <a:latin typeface="HY신명조" panose="02030600000101010101" pitchFamily="18" charset="-127"/>
                <a:ea typeface="HY신명조" panose="02030600000101010101" pitchFamily="18" charset="-127"/>
              </a:rPr>
              <a:t>extract&lt;T&gt;()</a:t>
            </a:r>
            <a:r>
              <a:rPr lang="ko-KR" altLang="en-US" sz="1400">
                <a:latin typeface="HY신명조" panose="02030600000101010101" pitchFamily="18" charset="-127"/>
                <a:ea typeface="HY신명조" panose="02030600000101010101" pitchFamily="18" charset="-127"/>
              </a:rPr>
              <a:t>로 역직렬화를 </a:t>
            </a:r>
            <a:r>
              <a:rPr lang="en-US" altLang="ko-KR" sz="1400" b="1">
                <a:latin typeface="HY신명조" panose="02030600000101010101" pitchFamily="18" charset="-127"/>
                <a:ea typeface="HY신명조" panose="02030600000101010101" pitchFamily="18" charset="-127"/>
              </a:rPr>
              <a:t>front&lt;T&gt;()</a:t>
            </a:r>
            <a:r>
              <a:rPr lang="ko-KR" altLang="en-US" sz="1400">
                <a:latin typeface="HY신명조" panose="02030600000101010101" pitchFamily="18" charset="-127"/>
                <a:ea typeface="HY신명조" panose="02030600000101010101" pitchFamily="18" charset="-127"/>
              </a:rPr>
              <a:t>로 읽기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(peek)</a:t>
            </a:r>
            <a:r>
              <a:rPr lang="ko-KR" altLang="en-US" sz="1400">
                <a:latin typeface="HY신명조" panose="02030600000101010101" pitchFamily="18" charset="-127"/>
                <a:ea typeface="HY신명조" panose="02030600000101010101" pitchFamily="18" charset="-127"/>
              </a:rPr>
              <a:t>가 가능합니다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400" b="1">
                <a:latin typeface="HY신명조" panose="02030600000101010101" pitchFamily="18" charset="-127"/>
                <a:ea typeface="HY신명조" panose="02030600000101010101" pitchFamily="18" charset="-127"/>
              </a:rPr>
              <a:t>get_size_of&lt;T&gt;()</a:t>
            </a:r>
            <a:r>
              <a:rPr lang="ko-KR" altLang="en-US" sz="1400">
                <a:latin typeface="HY신명조" panose="02030600000101010101" pitchFamily="18" charset="-127"/>
                <a:ea typeface="HY신명조" panose="02030600000101010101" pitchFamily="18" charset="-127"/>
              </a:rPr>
              <a:t>로 직렬화 크기도 구할 수 있습니다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reflection</a:t>
            </a:r>
            <a:r>
              <a:rPr lang="ko-KR" altLang="en-US" sz="1400">
                <a:latin typeface="HY신명조" panose="02030600000101010101" pitchFamily="18" charset="-127"/>
                <a:ea typeface="HY신명조" panose="02030600000101010101" pitchFamily="18" charset="-127"/>
              </a:rPr>
              <a:t>을 사용해 특별한 컴파일 과정없이 단지 구조체 정의만으로 직렬화합니다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E4F9E8-EC02-4B78-AA93-0FE01D9C47B7}"/>
              </a:ext>
            </a:extLst>
          </p:cNvPr>
          <p:cNvSpPr txBox="1"/>
          <p:nvPr/>
        </p:nvSpPr>
        <p:spPr>
          <a:xfrm>
            <a:off x="1340500" y="2383806"/>
            <a:ext cx="339463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000"/>
            <a:r>
              <a:rPr lang="en-US" altLang="ko-KR" sz="800">
                <a:solidFill>
                  <a:srgbClr val="0000FF"/>
                </a:solidFill>
                <a:latin typeface="나눔명조" panose="02020603020101020101"/>
                <a:ea typeface="돋움체" panose="020B0609000101010101" pitchFamily="49" charset="-127"/>
              </a:rPr>
              <a:t>struct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 foo</a:t>
            </a:r>
          </a:p>
          <a:p>
            <a:pPr defTabSz="180000"/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{</a:t>
            </a:r>
          </a:p>
          <a:p>
            <a:pPr defTabSz="180000"/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	</a:t>
            </a:r>
            <a:r>
              <a:rPr lang="en-US" altLang="ko-KR" sz="800" b="1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ENABLE_STRUCT_SERIALIZABLE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 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// {!} </a:t>
            </a:r>
            <a:r>
              <a:rPr lang="ko-KR" altLang="en-US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이것만 넣어 주세요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! </a:t>
            </a:r>
            <a:endParaRPr lang="ko-KR" altLang="en-US" sz="800">
              <a:solidFill>
                <a:srgbClr val="000000"/>
              </a:solidFill>
              <a:latin typeface="나눔명조"/>
              <a:ea typeface="돋움체" panose="020B0609000101010101" pitchFamily="49" charset="-127"/>
            </a:endParaRPr>
          </a:p>
          <a:p>
            <a:pPr defTabSz="180000"/>
            <a:endParaRPr lang="ko-KR" altLang="en-US" sz="800">
              <a:solidFill>
                <a:srgbClr val="000000"/>
              </a:solidFill>
              <a:latin typeface="나눔명조"/>
              <a:ea typeface="돋움체" panose="020B0609000101010101" pitchFamily="49" charset="-127"/>
            </a:endParaRPr>
          </a:p>
          <a:p>
            <a:pPr defTabSz="180000"/>
            <a:r>
              <a:rPr lang="en-US" altLang="ko-KR" sz="800">
                <a:solidFill>
                  <a:srgbClr val="0000FF"/>
                </a:solidFill>
                <a:latin typeface="나눔명조" panose="02020603020101020101"/>
                <a:ea typeface="돋움체" panose="020B0609000101010101" pitchFamily="49" charset="-127"/>
              </a:rPr>
              <a:t>	int					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a;</a:t>
            </a:r>
          </a:p>
          <a:p>
            <a:pPr defTabSz="180000"/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	</a:t>
            </a:r>
            <a:r>
              <a:rPr lang="en-US" altLang="ko-KR" sz="800" err="1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eMESSAGE_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TYPE	b; 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// enum type (int32_t)</a:t>
            </a:r>
            <a:endParaRPr lang="en-US" altLang="ko-KR" sz="800">
              <a:solidFill>
                <a:srgbClr val="000000"/>
              </a:solidFill>
              <a:latin typeface="나눔명조" panose="02020603020101020101"/>
              <a:ea typeface="돋움체" panose="020B0609000101010101" pitchFamily="49" charset="-127"/>
            </a:endParaRPr>
          </a:p>
          <a:p>
            <a:pPr defTabSz="180000"/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	std::string			c;</a:t>
            </a:r>
          </a:p>
          <a:p>
            <a:pPr defTabSz="180000"/>
            <a:r>
              <a:rPr lang="en-US" altLang="ko-KR" sz="800">
                <a:solidFill>
                  <a:srgbClr val="0000FF"/>
                </a:solidFill>
                <a:latin typeface="나눔명조" panose="02020603020101020101"/>
                <a:ea typeface="돋움체" panose="020B0609000101010101" pitchFamily="49" charset="-127"/>
              </a:rPr>
              <a:t>	short				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d;</a:t>
            </a:r>
          </a:p>
          <a:p>
            <a:pPr defTabSz="180000"/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	std::vector&lt;</a:t>
            </a:r>
            <a:r>
              <a:rPr lang="en-US" altLang="ko-KR" sz="800">
                <a:solidFill>
                  <a:srgbClr val="0000FF"/>
                </a:solidFill>
                <a:latin typeface="나눔명조" panose="02020603020101020101"/>
                <a:ea typeface="돋움체" panose="020B0609000101010101" pitchFamily="49" charset="-127"/>
              </a:rPr>
              <a:t>int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&gt;	e;</a:t>
            </a:r>
          </a:p>
          <a:p>
            <a:pPr defTabSz="180000"/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};</a:t>
            </a:r>
            <a:endParaRPr lang="ko-KR" altLang="en-US" sz="800">
              <a:solidFill>
                <a:srgbClr val="000000"/>
              </a:solidFill>
              <a:latin typeface="나눔명조" panose="02020603020101020101"/>
              <a:ea typeface="돋움체" panose="020B0609000101010101" pitchFamily="49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C83850-C487-417B-931C-47EBF71CFCA8}"/>
              </a:ext>
            </a:extLst>
          </p:cNvPr>
          <p:cNvSpPr txBox="1"/>
          <p:nvPr/>
        </p:nvSpPr>
        <p:spPr>
          <a:xfrm>
            <a:off x="5962850" y="2383806"/>
            <a:ext cx="33946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000"/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foo s1;</a:t>
            </a:r>
          </a:p>
          <a:p>
            <a:pPr defTabSz="180000"/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s1.a	 = 1;</a:t>
            </a:r>
          </a:p>
          <a:p>
            <a:pPr defTabSz="180000"/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s1.b = eMESSAGE_TYPE::A;</a:t>
            </a:r>
          </a:p>
          <a:p>
            <a:pPr defTabSz="180000"/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s1.c	 = </a:t>
            </a:r>
            <a:r>
              <a:rPr lang="en-US" altLang="ko-KR" sz="800">
                <a:solidFill>
                  <a:srgbClr val="A31515"/>
                </a:solidFill>
                <a:latin typeface="나눔명조" panose="02020603020101020101"/>
                <a:ea typeface="나눔명조" panose="02020603020101020101"/>
              </a:rPr>
              <a:t>"test string"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;</a:t>
            </a:r>
          </a:p>
          <a:p>
            <a:pPr defTabSz="180000"/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s1.d = 12;</a:t>
            </a:r>
          </a:p>
          <a:p>
            <a:pPr defTabSz="180000"/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s1.e = { 10,20,30 };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79FD69-2C35-4657-9AB9-9A3486748EC8}"/>
              </a:ext>
            </a:extLst>
          </p:cNvPr>
          <p:cNvSpPr txBox="1"/>
          <p:nvPr/>
        </p:nvSpPr>
        <p:spPr>
          <a:xfrm>
            <a:off x="5962850" y="4668295"/>
            <a:ext cx="405433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000"/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// - extract&lt;foo&gt;</a:t>
            </a:r>
            <a:r>
              <a:rPr lang="ko-KR" altLang="en-US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로 간단히 역직렬화</a:t>
            </a:r>
            <a:endParaRPr lang="en-US" altLang="ko-KR" sz="800">
              <a:solidFill>
                <a:srgbClr val="000000"/>
              </a:solidFill>
              <a:latin typeface="나눔명조" panose="02020603020101020101"/>
              <a:ea typeface="돋움체" panose="020B0609000101010101" pitchFamily="49" charset="-127"/>
            </a:endParaRPr>
          </a:p>
          <a:p>
            <a:pPr defTabSz="180000"/>
            <a:r>
              <a:rPr lang="en-US" altLang="ko-KR" sz="800">
                <a:solidFill>
                  <a:srgbClr val="0000FF"/>
                </a:solidFill>
                <a:latin typeface="나눔명조" panose="02020603020101020101"/>
                <a:ea typeface="돋움체" panose="020B0609000101010101" pitchFamily="49" charset="-127"/>
              </a:rPr>
              <a:t>auto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 v1 = bar.</a:t>
            </a:r>
            <a:r>
              <a:rPr lang="en-US" altLang="ko-KR" sz="800" b="1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extract</a:t>
            </a:r>
            <a:r>
              <a:rPr lang="en-US" altLang="ko-KR" sz="800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&lt;foo&gt;();</a:t>
            </a:r>
          </a:p>
          <a:p>
            <a:pPr defTabSz="180000"/>
            <a:endParaRPr lang="en-US" altLang="ko-KR" sz="800">
              <a:solidFill>
                <a:srgbClr val="000000"/>
              </a:solidFill>
              <a:latin typeface="나눔명조"/>
              <a:ea typeface="돋움체" panose="020B0609000101010101" pitchFamily="49" charset="-127"/>
            </a:endParaRPr>
          </a:p>
          <a:p>
            <a:r>
              <a:rPr lang="en-US" altLang="ko-KR" sz="800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std::cout &lt;&lt; </a:t>
            </a:r>
            <a:r>
              <a:rPr lang="en-US" altLang="ko-KR" sz="800">
                <a:solidFill>
                  <a:srgbClr val="A31515"/>
                </a:solidFill>
                <a:latin typeface="나눔명조" panose="02020603020101020101"/>
                <a:ea typeface="돋움체" panose="020B0609000101010101" pitchFamily="49" charset="-127"/>
              </a:rPr>
              <a:t>"a: "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 &lt;&lt; v1.a &lt;&lt; </a:t>
            </a:r>
            <a:r>
              <a:rPr lang="en-US" altLang="ko-KR" sz="800">
                <a:solidFill>
                  <a:srgbClr val="A31515"/>
                </a:solidFill>
                <a:latin typeface="나눔명조" panose="02020603020101020101"/>
                <a:ea typeface="돋움체" panose="020B0609000101010101" pitchFamily="49" charset="-127"/>
              </a:rPr>
              <a:t>'\n'</a:t>
            </a:r>
            <a:r>
              <a:rPr lang="en-US" altLang="ko-KR" sz="800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800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std::cout &lt;&lt; </a:t>
            </a:r>
            <a:r>
              <a:rPr lang="en-US" altLang="ko-KR" sz="800">
                <a:solidFill>
                  <a:srgbClr val="A31515"/>
                </a:solidFill>
                <a:latin typeface="나눔명조" panose="02020603020101020101"/>
                <a:ea typeface="돋움체" panose="020B0609000101010101" pitchFamily="49" charset="-127"/>
              </a:rPr>
              <a:t>"b: "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 &lt;&lt; </a:t>
            </a:r>
            <a:r>
              <a:rPr lang="en-US" altLang="ko-KR" sz="800">
                <a:solidFill>
                  <a:srgbClr val="0000FF"/>
                </a:solidFill>
                <a:latin typeface="나눔명조" panose="02020603020101020101"/>
                <a:ea typeface="돋움체" panose="020B0609000101010101" pitchFamily="49" charset="-127"/>
              </a:rPr>
              <a:t>static_cast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&lt;int32_t&gt;(v1.b) &lt;&lt; </a:t>
            </a:r>
            <a:r>
              <a:rPr lang="en-US" altLang="ko-KR" sz="800">
                <a:solidFill>
                  <a:srgbClr val="A31515"/>
                </a:solidFill>
                <a:latin typeface="나눔명조" panose="02020603020101020101"/>
                <a:ea typeface="돋움체" panose="020B0609000101010101" pitchFamily="49" charset="-127"/>
              </a:rPr>
              <a:t>'\n'</a:t>
            </a:r>
            <a:r>
              <a:rPr lang="en-US" altLang="ko-KR" sz="800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800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std::cout &lt;&lt; </a:t>
            </a:r>
            <a:r>
              <a:rPr lang="en-US" altLang="ko-KR" sz="800">
                <a:solidFill>
                  <a:srgbClr val="A31515"/>
                </a:solidFill>
                <a:latin typeface="나눔명조" panose="02020603020101020101"/>
                <a:ea typeface="돋움체" panose="020B0609000101010101" pitchFamily="49" charset="-127"/>
              </a:rPr>
              <a:t>"c: "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 &lt;&lt; v1.c &lt;&lt; </a:t>
            </a:r>
            <a:r>
              <a:rPr lang="en-US" altLang="ko-KR" sz="800">
                <a:solidFill>
                  <a:srgbClr val="A31515"/>
                </a:solidFill>
                <a:latin typeface="나눔명조" panose="02020603020101020101"/>
                <a:ea typeface="돋움체" panose="020B0609000101010101" pitchFamily="49" charset="-127"/>
              </a:rPr>
              <a:t>'\n'</a:t>
            </a:r>
            <a:r>
              <a:rPr lang="en-US" altLang="ko-KR" sz="800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800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std::cout &lt;&lt; </a:t>
            </a:r>
            <a:r>
              <a:rPr lang="en-US" altLang="ko-KR" sz="800">
                <a:solidFill>
                  <a:srgbClr val="A31515"/>
                </a:solidFill>
                <a:latin typeface="나눔명조" panose="02020603020101020101"/>
                <a:ea typeface="돋움체" panose="020B0609000101010101" pitchFamily="49" charset="-127"/>
              </a:rPr>
              <a:t>"d: "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 &lt;&lt; v1.d &lt;&lt; </a:t>
            </a:r>
            <a:r>
              <a:rPr lang="en-US" altLang="ko-KR" sz="800">
                <a:solidFill>
                  <a:srgbClr val="A31515"/>
                </a:solidFill>
                <a:latin typeface="나눔명조" panose="02020603020101020101"/>
                <a:ea typeface="돋움체" panose="020B0609000101010101" pitchFamily="49" charset="-127"/>
              </a:rPr>
              <a:t>'\n'</a:t>
            </a:r>
            <a:r>
              <a:rPr lang="en-US" altLang="ko-KR" sz="800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800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std::cout &lt;&lt; </a:t>
            </a:r>
            <a:r>
              <a:rPr lang="en-US" altLang="ko-KR" sz="800">
                <a:solidFill>
                  <a:srgbClr val="A31515"/>
                </a:solidFill>
                <a:latin typeface="나눔명조" panose="02020603020101020101"/>
                <a:ea typeface="돋움체" panose="020B0609000101010101" pitchFamily="49" charset="-127"/>
              </a:rPr>
              <a:t>"e: "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; </a:t>
            </a:r>
            <a:r>
              <a:rPr lang="en-US" altLang="ko-KR" sz="800">
                <a:solidFill>
                  <a:srgbClr val="0000FF"/>
                </a:solidFill>
                <a:latin typeface="나눔명조" panose="02020603020101020101"/>
                <a:ea typeface="돋움체" panose="020B0609000101010101" pitchFamily="49" charset="-127"/>
              </a:rPr>
              <a:t>for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(</a:t>
            </a:r>
            <a:r>
              <a:rPr lang="en-US" altLang="ko-KR" sz="800">
                <a:solidFill>
                  <a:srgbClr val="0000FF"/>
                </a:solidFill>
                <a:latin typeface="나눔명조" panose="02020603020101020101"/>
                <a:ea typeface="돋움체" panose="020B0609000101010101" pitchFamily="49" charset="-127"/>
              </a:rPr>
              <a:t>auto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 iter: v1.e) std::cout &lt;&lt; iter &lt;&lt; </a:t>
            </a:r>
            <a:r>
              <a:rPr lang="en-US" altLang="ko-KR" sz="800">
                <a:solidFill>
                  <a:srgbClr val="A31515"/>
                </a:solidFill>
                <a:latin typeface="나눔명조" panose="02020603020101020101"/>
                <a:ea typeface="돋움체" panose="020B0609000101010101" pitchFamily="49" charset="-127"/>
              </a:rPr>
              <a:t>" "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; std::cout &lt;&lt; </a:t>
            </a:r>
            <a:r>
              <a:rPr lang="en-US" altLang="ko-KR" sz="800">
                <a:solidFill>
                  <a:srgbClr val="A31515"/>
                </a:solidFill>
                <a:latin typeface="나눔명조" panose="02020603020101020101"/>
                <a:ea typeface="돋움체" panose="020B0609000101010101" pitchFamily="49" charset="-127"/>
              </a:rPr>
              <a:t>'\n'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D8A014-7A8C-4E79-9FB1-7B3BEFD18793}"/>
              </a:ext>
            </a:extLst>
          </p:cNvPr>
          <p:cNvSpPr txBox="1"/>
          <p:nvPr/>
        </p:nvSpPr>
        <p:spPr>
          <a:xfrm>
            <a:off x="5962850" y="5791831"/>
            <a:ext cx="3691522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chemeClr val="bg1">
                    <a:lumMod val="95000"/>
                  </a:schemeClr>
                </a:solidFill>
              </a:rPr>
              <a:t>size_of foo is 42 bytes</a:t>
            </a:r>
          </a:p>
          <a:p>
            <a:r>
              <a:rPr lang="en-US" altLang="ko-KR" sz="800">
                <a:solidFill>
                  <a:schemeClr val="bg1">
                    <a:lumMod val="95000"/>
                  </a:schemeClr>
                </a:solidFill>
              </a:rPr>
              <a:t>a: 1</a:t>
            </a:r>
          </a:p>
          <a:p>
            <a:r>
              <a:rPr lang="en-US" altLang="ko-KR" sz="800">
                <a:solidFill>
                  <a:schemeClr val="bg1">
                    <a:lumMod val="95000"/>
                  </a:schemeClr>
                </a:solidFill>
              </a:rPr>
              <a:t>b: 1</a:t>
            </a:r>
          </a:p>
          <a:p>
            <a:r>
              <a:rPr lang="en-US" altLang="ko-KR" sz="800">
                <a:solidFill>
                  <a:schemeClr val="bg1">
                    <a:lumMod val="95000"/>
                  </a:schemeClr>
                </a:solidFill>
              </a:rPr>
              <a:t>c: test string</a:t>
            </a:r>
          </a:p>
          <a:p>
            <a:r>
              <a:rPr lang="en-US" altLang="ko-KR" sz="800">
                <a:solidFill>
                  <a:schemeClr val="bg1">
                    <a:lumMod val="95000"/>
                  </a:schemeClr>
                </a:solidFill>
              </a:rPr>
              <a:t>d: 12</a:t>
            </a:r>
          </a:p>
          <a:p>
            <a:r>
              <a:rPr lang="en-US" altLang="ko-KR" sz="800">
                <a:solidFill>
                  <a:schemeClr val="bg1">
                    <a:lumMod val="95000"/>
                  </a:schemeClr>
                </a:solidFill>
              </a:rPr>
              <a:t>e: 10 20 30</a:t>
            </a:r>
            <a:endParaRPr lang="ko-KR" altLang="en-US" sz="8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35545F-E0C8-49C0-844B-39C3132AB87E}"/>
              </a:ext>
            </a:extLst>
          </p:cNvPr>
          <p:cNvSpPr txBox="1"/>
          <p:nvPr/>
        </p:nvSpPr>
        <p:spPr>
          <a:xfrm>
            <a:off x="5962850" y="3249932"/>
            <a:ext cx="33946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// - get_size_of&lt;T&gt;(...)</a:t>
            </a:r>
            <a:r>
              <a:rPr lang="ko-KR" altLang="en-US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로 직렬화시 데이터 크기를 얻는다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.</a:t>
            </a:r>
            <a:endParaRPr lang="ko-KR" altLang="en-US" sz="800">
              <a:solidFill>
                <a:srgbClr val="000000"/>
              </a:solidFill>
              <a:latin typeface="나눔명조" panose="02020603020101020101"/>
              <a:ea typeface="나눔명조" panose="02020603020101020101"/>
            </a:endParaRPr>
          </a:p>
          <a:p>
            <a:r>
              <a:rPr lang="en-US" altLang="ko-KR" sz="800">
                <a:solidFill>
                  <a:srgbClr val="0000FF"/>
                </a:solidFill>
                <a:latin typeface="나눔명조" panose="02020603020101020101"/>
                <a:ea typeface="나눔명조" panose="02020603020101020101"/>
              </a:rPr>
              <a:t>const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 </a:t>
            </a:r>
            <a:r>
              <a:rPr lang="en-US" altLang="ko-KR" sz="800">
                <a:solidFill>
                  <a:srgbClr val="0000FF"/>
                </a:solidFill>
                <a:latin typeface="나눔명조" panose="02020603020101020101"/>
                <a:ea typeface="나눔명조" panose="02020603020101020101"/>
              </a:rPr>
              <a:t>auto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 size = </a:t>
            </a:r>
            <a:r>
              <a:rPr lang="en-US" altLang="ko-KR" sz="800" b="1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get_size_of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(s1);</a:t>
            </a:r>
          </a:p>
          <a:p>
            <a:endParaRPr lang="ko-KR" altLang="en-US" sz="800">
              <a:solidFill>
                <a:srgbClr val="000000"/>
              </a:solidFill>
              <a:latin typeface="나눔명조" panose="02020603020101020101"/>
              <a:ea typeface="나눔명조" panose="02020603020101020101"/>
            </a:endParaRPr>
          </a:p>
          <a:p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std::cout &lt;&lt; </a:t>
            </a:r>
            <a:r>
              <a:rPr lang="en-US" altLang="ko-KR" sz="800">
                <a:solidFill>
                  <a:srgbClr val="A31515"/>
                </a:solidFill>
                <a:latin typeface="나눔명조" panose="02020603020101020101"/>
                <a:ea typeface="나눔명조" panose="02020603020101020101"/>
              </a:rPr>
              <a:t>"size_of foo is "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 &lt;&lt; size &lt;&lt; </a:t>
            </a:r>
            <a:r>
              <a:rPr lang="en-US" altLang="ko-KR" sz="800">
                <a:solidFill>
                  <a:srgbClr val="A31515"/>
                </a:solidFill>
                <a:latin typeface="나눔명조" panose="02020603020101020101"/>
                <a:ea typeface="나눔명조" panose="02020603020101020101"/>
              </a:rPr>
              <a:t>" bytes\n"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;</a:t>
            </a:r>
            <a:endParaRPr lang="ko-KR" altLang="en-US" sz="800">
              <a:solidFill>
                <a:srgbClr val="000000"/>
              </a:solidFill>
              <a:latin typeface="나눔명조" panose="02020603020101020101"/>
              <a:ea typeface="나눔명조" panose="02020603020101020101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785AD0-0D5A-4184-8378-3B37979F4A3E}"/>
              </a:ext>
            </a:extLst>
          </p:cNvPr>
          <p:cNvSpPr txBox="1"/>
          <p:nvPr/>
        </p:nvSpPr>
        <p:spPr>
          <a:xfrm>
            <a:off x="5962850" y="3916012"/>
            <a:ext cx="33946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// - </a:t>
            </a:r>
            <a:r>
              <a:rPr lang="ko-KR" altLang="en-US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직렬화할 버퍼를 할당 받는다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.</a:t>
            </a:r>
            <a:endParaRPr lang="ko-KR" altLang="en-US" sz="800">
              <a:solidFill>
                <a:srgbClr val="000000"/>
              </a:solidFill>
              <a:latin typeface="나눔명조" panose="02020603020101020101"/>
              <a:ea typeface="나눔명조" panose="02020603020101020101"/>
            </a:endParaRPr>
          </a:p>
          <a:p>
            <a:r>
              <a:rPr lang="en-US" altLang="ko-KR" sz="800">
                <a:solidFill>
                  <a:srgbClr val="0000FF"/>
                </a:solidFill>
                <a:latin typeface="나눔명조" panose="02020603020101020101"/>
                <a:ea typeface="나눔명조" panose="02020603020101020101"/>
              </a:rPr>
              <a:t>auto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 bar = alloc_shared_buffer(size);</a:t>
            </a:r>
          </a:p>
          <a:p>
            <a:pPr defTabSz="180000"/>
            <a:endParaRPr lang="en-US" altLang="ko-KR" sz="800">
              <a:solidFill>
                <a:srgbClr val="000000"/>
              </a:solidFill>
              <a:latin typeface="나눔명조" panose="02020603020101020101"/>
              <a:ea typeface="나눔명조" panose="02020603020101020101"/>
            </a:endParaRPr>
          </a:p>
          <a:p>
            <a:pPr defTabSz="180000"/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// - append&lt;foo&gt;</a:t>
            </a:r>
            <a:r>
              <a:rPr lang="ko-KR" altLang="en-US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로 간단히 직렬화</a:t>
            </a:r>
            <a:endParaRPr lang="en-US" altLang="ko-KR" sz="800">
              <a:solidFill>
                <a:srgbClr val="000000"/>
              </a:solidFill>
              <a:latin typeface="나눔명조" panose="02020603020101020101"/>
              <a:ea typeface="나눔명조" panose="02020603020101020101"/>
            </a:endParaRPr>
          </a:p>
          <a:p>
            <a:pPr defTabSz="180000"/>
            <a:r>
              <a:rPr lang="en-US" altLang="ko-KR" sz="800" err="1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bar.</a:t>
            </a:r>
            <a:r>
              <a:rPr lang="en-US" altLang="ko-KR" sz="800" b="1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append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 (s1);</a:t>
            </a:r>
          </a:p>
          <a:p>
            <a:pPr defTabSz="180000"/>
            <a:endParaRPr lang="ko-KR" altLang="en-US" sz="800">
              <a:solidFill>
                <a:srgbClr val="000000"/>
              </a:solidFill>
              <a:latin typeface="나눔명조" panose="02020603020101020101"/>
              <a:ea typeface="나눔명조" panose="020206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1468475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/>
              <a:t>© 2016. </a:t>
            </a:r>
            <a:r>
              <a:rPr lang="en-US" altLang="ko-KR" sz="700" b="1"/>
              <a:t>CGCII</a:t>
            </a:r>
            <a:r>
              <a:rPr lang="en-US" altLang="ko-KR" sz="700"/>
              <a:t> all rights reserved.</a:t>
            </a:r>
            <a:endParaRPr lang="ko-KR" altLang="en-US" sz="70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2E538C-69E4-4AAA-9D8B-CB297AA9500D}"/>
              </a:ext>
            </a:extLst>
          </p:cNvPr>
          <p:cNvSpPr txBox="1"/>
          <p:nvPr/>
        </p:nvSpPr>
        <p:spPr>
          <a:xfrm>
            <a:off x="1268111" y="753143"/>
            <a:ext cx="8058770" cy="365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>
                <a:latin typeface="HY신명조" panose="02030600000101010101" pitchFamily="18" charset="-127"/>
                <a:ea typeface="HY신명조" panose="02030600000101010101" pitchFamily="18" charset="-127"/>
              </a:rPr>
              <a:t>템플릿으로 제작되어 강력한 성능을 제공합니다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819AD9-A18D-46F9-98F5-961F3BD44EA3}"/>
              </a:ext>
            </a:extLst>
          </p:cNvPr>
          <p:cNvSpPr txBox="1"/>
          <p:nvPr/>
        </p:nvSpPr>
        <p:spPr>
          <a:xfrm>
            <a:off x="1249059" y="1254403"/>
            <a:ext cx="10167553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>
                <a:latin typeface="HY신명조" panose="02030600000101010101" pitchFamily="18" charset="-127"/>
                <a:ea typeface="HY신명조" panose="02030600000101010101" pitchFamily="18" charset="-127"/>
              </a:rPr>
              <a:t>다계층 직렬화를 지원해 구조체의 구조체의 구조체로 구성되니 수천 수만개의 데이터로 구성된 초복잡 초대용량 데이터도 편리하게 직렬화할 수 있습니다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>
                <a:latin typeface="HY신명조" panose="02030600000101010101" pitchFamily="18" charset="-127"/>
                <a:ea typeface="HY신명조" panose="02030600000101010101" pitchFamily="18" charset="-127"/>
              </a:rPr>
              <a:t>사용하는 구조체 그대로 직렬화 직렬화와 역직렬화가 가능합니다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B2BB5C-A8E5-4D93-9FEC-D65B67F8C10A}"/>
              </a:ext>
            </a:extLst>
          </p:cNvPr>
          <p:cNvSpPr txBox="1"/>
          <p:nvPr/>
        </p:nvSpPr>
        <p:spPr>
          <a:xfrm>
            <a:off x="1266204" y="4199533"/>
            <a:ext cx="10167553" cy="365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>
                <a:latin typeface="HY신명조" panose="02030600000101010101" pitchFamily="18" charset="-127"/>
                <a:ea typeface="HY신명조" panose="02030600000101010101" pitchFamily="18" charset="-127"/>
              </a:rPr>
              <a:t>스마트 동적 메모리 할당과 해제를 지원합니다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87E221-FD31-4DB0-AEF9-C3E822F5C216}"/>
              </a:ext>
            </a:extLst>
          </p:cNvPr>
          <p:cNvSpPr txBox="1"/>
          <p:nvPr/>
        </p:nvSpPr>
        <p:spPr>
          <a:xfrm>
            <a:off x="1287160" y="2406322"/>
            <a:ext cx="339463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000"/>
            <a:r>
              <a:rPr lang="en-US" altLang="ko-KR" sz="800">
                <a:solidFill>
                  <a:srgbClr val="0000FF"/>
                </a:solidFill>
                <a:latin typeface="나눔명조" panose="02020603020101020101"/>
                <a:ea typeface="돋움체" panose="020B0609000101010101" pitchFamily="49" charset="-127"/>
              </a:rPr>
              <a:t>struct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 goo</a:t>
            </a:r>
            <a:r>
              <a:rPr lang="ko-KR" altLang="en-US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 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:</a:t>
            </a:r>
            <a:r>
              <a:rPr lang="ko-KR" altLang="en-US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 </a:t>
            </a:r>
            <a:r>
              <a:rPr lang="en-US" altLang="ko-KR" sz="800">
                <a:solidFill>
                  <a:srgbClr val="0000FF"/>
                </a:solidFill>
                <a:latin typeface="나눔명조" panose="02020603020101020101"/>
                <a:ea typeface="돋움체" panose="020B0609000101010101" pitchFamily="49" charset="-127"/>
              </a:rPr>
              <a:t>public</a:t>
            </a:r>
            <a:r>
              <a:rPr lang="ko-KR" altLang="en-US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 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foo  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// {!} </a:t>
            </a:r>
            <a:r>
              <a:rPr lang="ko-KR" altLang="en-US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상속도 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ok~</a:t>
            </a:r>
            <a:endParaRPr lang="en-US" altLang="ko-KR" sz="800">
              <a:solidFill>
                <a:srgbClr val="000000"/>
              </a:solidFill>
              <a:latin typeface="나눔명조" panose="02020603020101020101"/>
              <a:ea typeface="돋움체" panose="020B0609000101010101" pitchFamily="49" charset="-127"/>
            </a:endParaRPr>
          </a:p>
          <a:p>
            <a:pPr defTabSz="180000"/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{</a:t>
            </a:r>
          </a:p>
          <a:p>
            <a:pPr defTabSz="180000"/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	foo p;</a:t>
            </a:r>
          </a:p>
          <a:p>
            <a:pPr defTabSz="180000"/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	std::vector&lt;std::string&gt;	q; 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// {!} </a:t>
            </a:r>
            <a:r>
              <a:rPr lang="ko-KR" altLang="en-US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이런 것도 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ok</a:t>
            </a:r>
            <a:endParaRPr lang="en-US" altLang="ko-KR" sz="800">
              <a:solidFill>
                <a:srgbClr val="000000"/>
              </a:solidFill>
              <a:latin typeface="나눔명조"/>
              <a:ea typeface="돋움체" panose="020B0609000101010101" pitchFamily="49" charset="-127"/>
            </a:endParaRPr>
          </a:p>
          <a:p>
            <a:pPr defTabSz="180000"/>
            <a:r>
              <a:rPr lang="en-US" altLang="ko-KR" sz="800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	std::vector&lt;f</a:t>
            </a:r>
            <a:r>
              <a:rPr lang="en-US" altLang="ko-KR" sz="800">
                <a:latin typeface="나눔명조" panose="02020603020101020101"/>
                <a:ea typeface="돋움체" panose="020B0609000101010101" pitchFamily="49" charset="-127"/>
              </a:rPr>
              <a:t>oo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&gt;	r; 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// {!} </a:t>
            </a:r>
            <a:r>
              <a:rPr lang="ko-KR" altLang="en-US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이런 것도 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ok</a:t>
            </a:r>
            <a:endParaRPr lang="en-US" altLang="ko-KR" sz="800">
              <a:solidFill>
                <a:srgbClr val="000000"/>
              </a:solidFill>
              <a:latin typeface="나눔명조" panose="02020603020101020101"/>
              <a:ea typeface="돋움체" panose="020B0609000101010101" pitchFamily="49" charset="-127"/>
            </a:endParaRPr>
          </a:p>
          <a:p>
            <a:pPr defTabSz="180000"/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	std::map&lt;</a:t>
            </a:r>
            <a:r>
              <a:rPr lang="en-US" altLang="ko-KR" sz="800">
                <a:solidFill>
                  <a:srgbClr val="0000FF"/>
                </a:solidFill>
                <a:latin typeface="나눔명조" panose="02020603020101020101"/>
                <a:ea typeface="돋움체" panose="020B0609000101010101" pitchFamily="49" charset="-127"/>
              </a:rPr>
              <a:t>int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,</a:t>
            </a:r>
            <a:r>
              <a:rPr lang="ko-KR" altLang="en-US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 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f</a:t>
            </a:r>
            <a:r>
              <a:rPr lang="en-US" altLang="ko-KR" sz="800">
                <a:latin typeface="나눔명조" panose="02020603020101020101"/>
                <a:ea typeface="돋움체" panose="020B0609000101010101" pitchFamily="49" charset="-127"/>
              </a:rPr>
              <a:t>oo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&gt;	s; 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// {!} </a:t>
            </a:r>
            <a:r>
              <a:rPr lang="ko-KR" altLang="en-US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다단계도 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ok</a:t>
            </a:r>
          </a:p>
          <a:p>
            <a:pPr defTabSz="180000"/>
            <a:endParaRPr lang="en-US" altLang="ko-KR" sz="800">
              <a:solidFill>
                <a:srgbClr val="008000"/>
              </a:solidFill>
              <a:latin typeface="나눔명조" panose="02020603020101020101"/>
              <a:ea typeface="돋움체" panose="020B0609000101010101" pitchFamily="49" charset="-127"/>
            </a:endParaRPr>
          </a:p>
          <a:p>
            <a:pPr defTabSz="180000"/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	</a:t>
            </a:r>
            <a:r>
              <a:rPr lang="en-US" altLang="ko-KR" sz="800">
                <a:latin typeface="나눔명조" panose="02020603020101020101"/>
                <a:ea typeface="돋움체" panose="020B0609000101010101" pitchFamily="49" charset="-127"/>
              </a:rPr>
              <a:t>buffer t;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 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// {!} </a:t>
            </a:r>
            <a:r>
              <a:rPr lang="ko-KR" altLang="en-US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그냥 버퍼도 가능</a:t>
            </a:r>
            <a:endParaRPr lang="en-US" altLang="ko-KR" sz="800">
              <a:solidFill>
                <a:srgbClr val="008000"/>
              </a:solidFill>
              <a:latin typeface="나눔명조" panose="02020603020101020101"/>
              <a:ea typeface="돋움체" panose="020B0609000101010101" pitchFamily="49" charset="-127"/>
            </a:endParaRPr>
          </a:p>
          <a:p>
            <a:pPr defTabSz="180000"/>
            <a:endParaRPr lang="en-US" altLang="ko-KR" sz="800">
              <a:solidFill>
                <a:srgbClr val="000000"/>
              </a:solidFill>
              <a:latin typeface="나눔명조" panose="02020603020101020101"/>
              <a:ea typeface="돋움체" panose="020B0609000101010101" pitchFamily="49" charset="-127"/>
            </a:endParaRPr>
          </a:p>
          <a:p>
            <a:pPr defTabSz="180000"/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	</a:t>
            </a:r>
            <a:r>
              <a:rPr lang="en-US" altLang="ko-KR" sz="800">
                <a:latin typeface="나눔명조" panose="02020603020101020101"/>
                <a:ea typeface="돋움체" panose="020B0609000101010101" pitchFamily="49" charset="-127"/>
              </a:rPr>
              <a:t>std::chrono::steady_clock::time_point u;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 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// {!} </a:t>
            </a:r>
            <a:r>
              <a:rPr lang="ko-KR" altLang="en-US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이런 것도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ok</a:t>
            </a:r>
          </a:p>
          <a:p>
            <a:pPr defTabSz="180000"/>
            <a:r>
              <a:rPr lang="en-US" altLang="ko-KR" sz="800">
                <a:latin typeface="나눔명조" panose="02020603020101020101"/>
                <a:ea typeface="돋움체" panose="020B0609000101010101" pitchFamily="49" charset="-127"/>
              </a:rPr>
              <a:t>	object_ptr&lt;foo&gt; v;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 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// {!} </a:t>
            </a:r>
            <a:r>
              <a:rPr lang="ko-KR" altLang="en-US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포인터도 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ok (nullptr</a:t>
            </a:r>
            <a:r>
              <a:rPr lang="ko-KR" altLang="en-US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도 가능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돋움체" panose="020B0609000101010101" pitchFamily="49" charset="-127"/>
              </a:rPr>
              <a:t>)</a:t>
            </a:r>
            <a:endParaRPr lang="en-US" altLang="ko-KR" sz="800">
              <a:latin typeface="나눔명조" panose="02020603020101020101"/>
              <a:ea typeface="돋움체" panose="020B0609000101010101" pitchFamily="49" charset="-127"/>
            </a:endParaRPr>
          </a:p>
          <a:p>
            <a:pPr defTabSz="180000"/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돋움체" panose="020B0609000101010101" pitchFamily="49" charset="-127"/>
              </a:rPr>
              <a:t>};</a:t>
            </a:r>
            <a:endParaRPr lang="ko-KR" altLang="en-US" sz="800">
              <a:solidFill>
                <a:srgbClr val="000000"/>
              </a:solidFill>
              <a:latin typeface="나눔명조" panose="02020603020101020101"/>
              <a:ea typeface="돋움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56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/>
              <a:t>© 2016. </a:t>
            </a:r>
            <a:r>
              <a:rPr lang="en-US" altLang="ko-KR" sz="700" b="1"/>
              <a:t>CGCII</a:t>
            </a:r>
            <a:r>
              <a:rPr lang="en-US" altLang="ko-KR" sz="700"/>
              <a:t> all rights reserved.</a:t>
            </a:r>
            <a:endParaRPr lang="ko-KR" altLang="en-US" sz="70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2E538C-69E4-4AAA-9D8B-CB297AA9500D}"/>
              </a:ext>
            </a:extLst>
          </p:cNvPr>
          <p:cNvSpPr txBox="1"/>
          <p:nvPr/>
        </p:nvSpPr>
        <p:spPr>
          <a:xfrm>
            <a:off x="1268111" y="753143"/>
            <a:ext cx="8058770" cy="365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>
                <a:latin typeface="HY신명조" panose="02030600000101010101" pitchFamily="18" charset="-127"/>
                <a:ea typeface="HY신명조" panose="02030600000101010101" pitchFamily="18" charset="-127"/>
              </a:rPr>
              <a:t>다양한 방법의 직렬화를 지원합니다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8915F-57E9-4C95-9A20-75548BAF389D}"/>
              </a:ext>
            </a:extLst>
          </p:cNvPr>
          <p:cNvSpPr txBox="1"/>
          <p:nvPr/>
        </p:nvSpPr>
        <p:spPr>
          <a:xfrm>
            <a:off x="1619450" y="2847115"/>
            <a:ext cx="40543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000"/>
            <a:r>
              <a:rPr lang="en-US" altLang="ko-KR" sz="800">
                <a:solidFill>
                  <a:srgbClr val="008000"/>
                </a:solidFill>
                <a:latin typeface="나눔명조"/>
                <a:ea typeface="돋움체" panose="020B0609000101010101" pitchFamily="49" charset="-127"/>
              </a:rPr>
              <a:t>// - append</a:t>
            </a:r>
            <a:r>
              <a:rPr lang="ko-KR" altLang="en-US" sz="800">
                <a:solidFill>
                  <a:srgbClr val="008000"/>
                </a:solidFill>
                <a:latin typeface="나눔명조"/>
                <a:ea typeface="돋움체" panose="020B0609000101010101" pitchFamily="49" charset="-127"/>
              </a:rPr>
              <a:t>했던 순서대로만 </a:t>
            </a:r>
            <a:r>
              <a:rPr lang="en-US" altLang="ko-KR" sz="800">
                <a:solidFill>
                  <a:srgbClr val="008000"/>
                </a:solidFill>
                <a:latin typeface="나눔명조"/>
                <a:ea typeface="돋움체" panose="020B0609000101010101" pitchFamily="49" charset="-127"/>
              </a:rPr>
              <a:t>extrac</a:t>
            </a:r>
            <a:r>
              <a:rPr lang="ko-KR" altLang="en-US" sz="800">
                <a:solidFill>
                  <a:srgbClr val="008000"/>
                </a:solidFill>
                <a:latin typeface="나눔명조"/>
                <a:ea typeface="돋움체" panose="020B0609000101010101" pitchFamily="49" charset="-127"/>
              </a:rPr>
              <a:t>만 해주면 됩니다</a:t>
            </a:r>
            <a:r>
              <a:rPr lang="en-US" altLang="ko-KR" sz="800">
                <a:solidFill>
                  <a:srgbClr val="008000"/>
                </a:solidFill>
                <a:latin typeface="나눔명조"/>
                <a:ea typeface="돋움체" panose="020B0609000101010101" pitchFamily="49" charset="-127"/>
              </a:rPr>
              <a:t>.</a:t>
            </a:r>
            <a:endParaRPr lang="en-US" altLang="ko-KR" sz="800">
              <a:solidFill>
                <a:srgbClr val="000000"/>
              </a:solidFill>
              <a:latin typeface="나눔명조"/>
              <a:ea typeface="돋움체" panose="020B0609000101010101" pitchFamily="49" charset="-127"/>
            </a:endParaRPr>
          </a:p>
          <a:p>
            <a:pPr defTabSz="180000"/>
            <a:r>
              <a:rPr lang="en-US" altLang="ko-KR" sz="800">
                <a:solidFill>
                  <a:srgbClr val="0000FF"/>
                </a:solidFill>
                <a:latin typeface="나눔명조"/>
                <a:ea typeface="돋움체" panose="020B0609000101010101" pitchFamily="49" charset="-127"/>
              </a:rPr>
              <a:t>auto</a:t>
            </a:r>
            <a:r>
              <a:rPr lang="en-US" altLang="ko-KR" sz="800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 v1 = bar.</a:t>
            </a:r>
            <a:r>
              <a:rPr lang="en-US" altLang="ko-KR" sz="800" b="1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extract</a:t>
            </a:r>
            <a:r>
              <a:rPr lang="en-US" altLang="ko-KR" sz="800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&lt;foo&gt;();</a:t>
            </a:r>
          </a:p>
          <a:p>
            <a:pPr defTabSz="180000"/>
            <a:r>
              <a:rPr lang="en-US" altLang="ko-KR" sz="800">
                <a:solidFill>
                  <a:srgbClr val="0000FF"/>
                </a:solidFill>
                <a:latin typeface="나눔명조"/>
                <a:ea typeface="돋움체" panose="020B0609000101010101" pitchFamily="49" charset="-127"/>
              </a:rPr>
              <a:t>auto</a:t>
            </a:r>
            <a:r>
              <a:rPr lang="en-US" altLang="ko-KR" sz="800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 v2 = bar.</a:t>
            </a:r>
            <a:r>
              <a:rPr lang="en-US" altLang="ko-KR" sz="800" b="1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extract</a:t>
            </a:r>
            <a:r>
              <a:rPr lang="en-US" altLang="ko-KR" sz="800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&lt;goo&gt;();</a:t>
            </a:r>
          </a:p>
          <a:p>
            <a:pPr defTabSz="180000"/>
            <a:r>
              <a:rPr lang="en-US" altLang="ko-KR" sz="800">
                <a:solidFill>
                  <a:srgbClr val="0000FF"/>
                </a:solidFill>
                <a:latin typeface="나눔명조"/>
                <a:ea typeface="돋움체" panose="020B0609000101010101" pitchFamily="49" charset="-127"/>
              </a:rPr>
              <a:t>auto</a:t>
            </a:r>
            <a:r>
              <a:rPr lang="en-US" altLang="ko-KR" sz="800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 v3 = bar.</a:t>
            </a:r>
            <a:r>
              <a:rPr lang="en-US" altLang="ko-KR" sz="800" b="1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extract</a:t>
            </a:r>
            <a:r>
              <a:rPr lang="en-US" altLang="ko-KR" sz="800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&lt;</a:t>
            </a:r>
            <a:r>
              <a:rPr lang="en-US" altLang="ko-KR" sz="800">
                <a:solidFill>
                  <a:srgbClr val="0000FF"/>
                </a:solidFill>
                <a:latin typeface="나눔명조"/>
                <a:ea typeface="돋움체" panose="020B0609000101010101" pitchFamily="49" charset="-127"/>
              </a:rPr>
              <a:t>int</a:t>
            </a:r>
            <a:r>
              <a:rPr lang="en-US" altLang="ko-KR" sz="800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&gt;();</a:t>
            </a:r>
          </a:p>
          <a:p>
            <a:pPr defTabSz="180000"/>
            <a:r>
              <a:rPr lang="en-US" altLang="ko-KR" sz="800">
                <a:solidFill>
                  <a:srgbClr val="0000FF"/>
                </a:solidFill>
                <a:latin typeface="나눔명조"/>
                <a:ea typeface="돋움체" panose="020B0609000101010101" pitchFamily="49" charset="-127"/>
              </a:rPr>
              <a:t>auto</a:t>
            </a:r>
            <a:r>
              <a:rPr lang="en-US" altLang="ko-KR" sz="800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 v4 = bar.</a:t>
            </a:r>
            <a:r>
              <a:rPr lang="en-US" altLang="ko-KR" sz="800" b="1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extract</a:t>
            </a:r>
            <a:r>
              <a:rPr lang="en-US" altLang="ko-KR" sz="800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&lt;std::vector&lt;</a:t>
            </a:r>
            <a:r>
              <a:rPr lang="en-US" altLang="ko-KR" sz="800">
                <a:solidFill>
                  <a:srgbClr val="0000FF"/>
                </a:solidFill>
                <a:latin typeface="나눔명조"/>
                <a:ea typeface="돋움체" panose="020B0609000101010101" pitchFamily="49" charset="-127"/>
              </a:rPr>
              <a:t>int</a:t>
            </a:r>
            <a:r>
              <a:rPr lang="en-US" altLang="ko-KR" sz="800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&gt;&gt;();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2711DA-998E-4C16-AB43-4FD7FE509A32}"/>
              </a:ext>
            </a:extLst>
          </p:cNvPr>
          <p:cNvSpPr txBox="1"/>
          <p:nvPr/>
        </p:nvSpPr>
        <p:spPr>
          <a:xfrm>
            <a:off x="1619450" y="1660492"/>
            <a:ext cx="339463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// - 2kbyte</a:t>
            </a:r>
            <a:r>
              <a:rPr lang="ko-KR" altLang="en-US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의 버퍼를 할당받습니다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.</a:t>
            </a:r>
            <a:endParaRPr lang="ko-KR" altLang="en-US" sz="800">
              <a:solidFill>
                <a:srgbClr val="000000"/>
              </a:solidFill>
              <a:latin typeface="나눔명조" panose="02020603020101020101"/>
              <a:ea typeface="나눔명조" panose="02020603020101020101"/>
            </a:endParaRPr>
          </a:p>
          <a:p>
            <a:r>
              <a:rPr lang="en-US" altLang="ko-KR" sz="800">
                <a:solidFill>
                  <a:srgbClr val="0000FF"/>
                </a:solidFill>
                <a:latin typeface="나눔명조" panose="02020603020101020101"/>
                <a:ea typeface="나눔명조" panose="02020603020101020101"/>
              </a:rPr>
              <a:t>auto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 bar = alloc_shared_buffer(2048);</a:t>
            </a:r>
          </a:p>
          <a:p>
            <a:pPr defTabSz="180000"/>
            <a:endParaRPr lang="en-US" altLang="ko-KR" sz="800">
              <a:solidFill>
                <a:srgbClr val="000000"/>
              </a:solidFill>
              <a:latin typeface="나눔명조" panose="02020603020101020101"/>
              <a:ea typeface="나눔명조" panose="02020603020101020101"/>
            </a:endParaRPr>
          </a:p>
          <a:p>
            <a:pPr defTabSz="180000"/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// - </a:t>
            </a:r>
            <a:r>
              <a:rPr lang="ko-KR" altLang="en-US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여러 데이터를 하나의 버퍼에 직렬화도 가능합니다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.</a:t>
            </a:r>
            <a:endParaRPr lang="en-US" altLang="ko-KR" sz="800">
              <a:solidFill>
                <a:srgbClr val="000000"/>
              </a:solidFill>
              <a:latin typeface="나눔명조" panose="02020603020101020101"/>
              <a:ea typeface="나눔명조" panose="02020603020101020101"/>
            </a:endParaRPr>
          </a:p>
          <a:p>
            <a:pPr defTabSz="180000"/>
            <a:r>
              <a:rPr lang="en-US" altLang="ko-KR" sz="800" err="1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bar.</a:t>
            </a:r>
            <a:r>
              <a:rPr lang="en-US" altLang="ko-KR" sz="800" b="1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append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&lt;foo&gt; (s1);</a:t>
            </a:r>
          </a:p>
          <a:p>
            <a:pPr defTabSz="180000"/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bar.</a:t>
            </a:r>
            <a:r>
              <a:rPr lang="en-US" altLang="ko-KR" sz="800" b="1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append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&lt;goo&gt;(s2);</a:t>
            </a:r>
          </a:p>
          <a:p>
            <a:pPr defTabSz="180000"/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bar.</a:t>
            </a:r>
            <a:r>
              <a:rPr lang="en-US" altLang="ko-KR" sz="800" b="1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append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&lt;</a:t>
            </a:r>
            <a:r>
              <a:rPr lang="en-US" altLang="ko-KR" sz="800">
                <a:solidFill>
                  <a:srgbClr val="0000FF"/>
                </a:solidFill>
                <a:latin typeface="나눔명조" panose="02020603020101020101"/>
                <a:ea typeface="나눔명조" panose="02020603020101020101"/>
              </a:rPr>
              <a:t>int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&gt;(3);</a:t>
            </a:r>
          </a:p>
          <a:p>
            <a:pPr defTabSz="180000"/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bar.</a:t>
            </a:r>
            <a:r>
              <a:rPr lang="en-US" altLang="ko-KR" sz="800" b="1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append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(std::vector&lt;</a:t>
            </a:r>
            <a:r>
              <a:rPr lang="en-US" altLang="ko-KR" sz="800">
                <a:solidFill>
                  <a:srgbClr val="0000FF"/>
                </a:solidFill>
                <a:latin typeface="나눔명조" panose="02020603020101020101"/>
                <a:ea typeface="나눔명조" panose="02020603020101020101"/>
              </a:rPr>
              <a:t>int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&gt;{1,2,3} );</a:t>
            </a:r>
            <a:endParaRPr lang="ko-KR" altLang="en-US" sz="800">
              <a:solidFill>
                <a:srgbClr val="000000"/>
              </a:solidFill>
              <a:latin typeface="나눔명조" panose="02020603020101020101"/>
              <a:ea typeface="나눔명조" panose="02020603020101020101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FA0092-89CE-4617-AA71-B43033FF4B45}"/>
              </a:ext>
            </a:extLst>
          </p:cNvPr>
          <p:cNvSpPr txBox="1"/>
          <p:nvPr/>
        </p:nvSpPr>
        <p:spPr>
          <a:xfrm>
            <a:off x="1527191" y="3812514"/>
            <a:ext cx="4352329" cy="306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std::tuple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로 한꺼번에 </a:t>
            </a:r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append</a:t>
            </a: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도 가능합니다</a:t>
            </a:r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72FF3F-28CE-491F-B8E3-6934FCFD877B}"/>
              </a:ext>
            </a:extLst>
          </p:cNvPr>
          <p:cNvSpPr txBox="1"/>
          <p:nvPr/>
        </p:nvSpPr>
        <p:spPr>
          <a:xfrm>
            <a:off x="1619450" y="4267552"/>
            <a:ext cx="33946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// - </a:t>
            </a:r>
            <a:r>
              <a:rPr lang="ko-KR" altLang="en-US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버퍼를 할당받습니다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.</a:t>
            </a:r>
            <a:endParaRPr lang="ko-KR" altLang="en-US" sz="800">
              <a:solidFill>
                <a:srgbClr val="000000"/>
              </a:solidFill>
              <a:latin typeface="나눔명조" panose="02020603020101020101"/>
              <a:ea typeface="나눔명조" panose="02020603020101020101"/>
            </a:endParaRPr>
          </a:p>
          <a:p>
            <a:r>
              <a:rPr lang="en-US" altLang="ko-KR" sz="800">
                <a:solidFill>
                  <a:srgbClr val="0000FF"/>
                </a:solidFill>
                <a:latin typeface="나눔명조" panose="02020603020101020101"/>
                <a:ea typeface="나눔명조" panose="02020603020101020101"/>
              </a:rPr>
              <a:t>auto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 bar = alloc_shared_buffer(2048);</a:t>
            </a:r>
          </a:p>
          <a:p>
            <a:pPr defTabSz="180000"/>
            <a:endParaRPr lang="en-US" altLang="ko-KR" sz="800">
              <a:solidFill>
                <a:srgbClr val="000000"/>
              </a:solidFill>
              <a:latin typeface="나눔명조" panose="02020603020101020101"/>
              <a:ea typeface="나눔명조" panose="02020603020101020101"/>
            </a:endParaRPr>
          </a:p>
          <a:p>
            <a:pPr defTabSz="180000"/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// - </a:t>
            </a:r>
            <a:r>
              <a:rPr lang="ko-KR" altLang="en-US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여러 데이터를 한꺼번에 뭉쳐 직렬화도 가능합니다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.</a:t>
            </a:r>
            <a:endParaRPr lang="en-US" altLang="ko-KR" sz="800">
              <a:solidFill>
                <a:srgbClr val="000000"/>
              </a:solidFill>
              <a:latin typeface="나눔명조" panose="02020603020101020101"/>
              <a:ea typeface="나눔명조" panose="02020603020101020101"/>
            </a:endParaRPr>
          </a:p>
          <a:p>
            <a:pPr defTabSz="180000"/>
            <a:r>
              <a:rPr lang="en-US" altLang="ko-KR" sz="800" err="1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bar.</a:t>
            </a:r>
            <a:r>
              <a:rPr lang="en-US" altLang="ko-KR" sz="800" b="1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append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 (std::tuple{s1, ,s2,</a:t>
            </a:r>
            <a:r>
              <a:rPr lang="ko-KR" altLang="en-US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 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3, std::vector&lt;</a:t>
            </a:r>
            <a:r>
              <a:rPr lang="en-US" altLang="ko-KR" sz="800">
                <a:solidFill>
                  <a:srgbClr val="0000FF"/>
                </a:solidFill>
                <a:latin typeface="나눔명조" panose="02020603020101020101"/>
                <a:ea typeface="나눔명조" panose="02020603020101020101"/>
              </a:rPr>
              <a:t>int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&gt;{1,2,3});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C4B732-C963-46A3-A61E-796F0FBC1110}"/>
              </a:ext>
            </a:extLst>
          </p:cNvPr>
          <p:cNvSpPr txBox="1"/>
          <p:nvPr/>
        </p:nvSpPr>
        <p:spPr>
          <a:xfrm>
            <a:off x="1619449" y="5143852"/>
            <a:ext cx="39431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// - std::tuple</a:t>
            </a:r>
            <a:r>
              <a:rPr lang="ko-KR" altLang="en-US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과 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std::tie</a:t>
            </a:r>
            <a:r>
              <a:rPr lang="ko-KR" altLang="en-US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를 사용해 한꺼번에 역직렬화 할수 있습니다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.</a:t>
            </a:r>
            <a:endParaRPr lang="ko-KR" altLang="en-US" sz="800">
              <a:solidFill>
                <a:srgbClr val="000000"/>
              </a:solidFill>
              <a:latin typeface="나눔명조" panose="02020603020101020101"/>
              <a:ea typeface="나눔명조" panose="02020603020101020101"/>
            </a:endParaRPr>
          </a:p>
          <a:p>
            <a:r>
              <a:rPr lang="en-US" altLang="ko-KR" sz="800">
                <a:solidFill>
                  <a:srgbClr val="0000FF"/>
                </a:solidFill>
                <a:latin typeface="나눔명조" panose="02020603020101020101"/>
                <a:ea typeface="나눔명조" panose="02020603020101020101"/>
              </a:rPr>
              <a:t>auto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 [v1,v2,v3,v4] = bar.</a:t>
            </a:r>
            <a:r>
              <a:rPr lang="en-US" altLang="ko-KR" sz="800" b="1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extract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&lt;std::tuple&lt;foo,goo,</a:t>
            </a:r>
            <a:r>
              <a:rPr lang="en-US" altLang="ko-KR" sz="800">
                <a:solidFill>
                  <a:srgbClr val="0000FF"/>
                </a:solidFill>
                <a:latin typeface="나눔명조" panose="02020603020101020101"/>
                <a:ea typeface="나눔명조" panose="02020603020101020101"/>
              </a:rPr>
              <a:t>int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,std::vector&lt;</a:t>
            </a:r>
            <a:r>
              <a:rPr lang="en-US" altLang="ko-KR" sz="800">
                <a:solidFill>
                  <a:srgbClr val="0000FF"/>
                </a:solidFill>
                <a:latin typeface="나눔명조" panose="02020603020101020101"/>
                <a:ea typeface="나눔명조" panose="02020603020101020101"/>
              </a:rPr>
              <a:t>int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&gt;&gt;();</a:t>
            </a:r>
          </a:p>
          <a:p>
            <a:pPr defTabSz="180000"/>
            <a:endParaRPr lang="en-US" altLang="ko-KR" sz="800">
              <a:solidFill>
                <a:srgbClr val="000000"/>
              </a:solidFill>
              <a:latin typeface="나눔명조" panose="02020603020101020101"/>
              <a:ea typeface="나눔명조" panose="02020603020101020101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B34563-D437-4652-BF7A-6CA073AC39FC}"/>
              </a:ext>
            </a:extLst>
          </p:cNvPr>
          <p:cNvSpPr txBox="1"/>
          <p:nvPr/>
        </p:nvSpPr>
        <p:spPr>
          <a:xfrm>
            <a:off x="1527191" y="1328394"/>
            <a:ext cx="4352329" cy="306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>
                <a:latin typeface="HY신명조" panose="02030600000101010101" pitchFamily="18" charset="-127"/>
                <a:ea typeface="HY신명조" panose="02030600000101010101" pitchFamily="18" charset="-127"/>
              </a:rPr>
              <a:t>여러 데이터를 하나의 버퍼에 직렬화할 수도 있습니다</a:t>
            </a:r>
            <a:r>
              <a:rPr lang="en-US" altLang="ko-KR" sz="11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0259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/>
              <a:t>© 2016. </a:t>
            </a:r>
            <a:r>
              <a:rPr lang="en-US" altLang="ko-KR" sz="700" b="1"/>
              <a:t>CGCII</a:t>
            </a:r>
            <a:r>
              <a:rPr lang="en-US" altLang="ko-KR" sz="700"/>
              <a:t> all rights reserved.</a:t>
            </a:r>
            <a:endParaRPr lang="ko-KR" altLang="en-US" sz="70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2E538C-69E4-4AAA-9D8B-CB297AA9500D}"/>
              </a:ext>
            </a:extLst>
          </p:cNvPr>
          <p:cNvSpPr txBox="1"/>
          <p:nvPr/>
        </p:nvSpPr>
        <p:spPr>
          <a:xfrm>
            <a:off x="1268110" y="753143"/>
            <a:ext cx="8942689" cy="365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>
                <a:latin typeface="HY신명조" panose="02030600000101010101" pitchFamily="18" charset="-127"/>
                <a:ea typeface="HY신명조" panose="02030600000101010101" pitchFamily="18" charset="-127"/>
              </a:rPr>
              <a:t>네트워크 송수신 뿐만 아니라 인자 전달 파일 저장과 읽기 등등 매우 다양한 용도로 사용이 가능합니다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1A62DC-3047-4302-A624-F81E9A34B64A}"/>
              </a:ext>
            </a:extLst>
          </p:cNvPr>
          <p:cNvSpPr txBox="1"/>
          <p:nvPr/>
        </p:nvSpPr>
        <p:spPr>
          <a:xfrm>
            <a:off x="1619450" y="1553812"/>
            <a:ext cx="339463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// - 2kbyte</a:t>
            </a:r>
            <a:r>
              <a:rPr lang="ko-KR" altLang="en-US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의 버퍼를 할당받습니다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.</a:t>
            </a:r>
            <a:endParaRPr lang="ko-KR" altLang="en-US" sz="800">
              <a:solidFill>
                <a:srgbClr val="000000"/>
              </a:solidFill>
              <a:latin typeface="나눔명조" panose="02020603020101020101"/>
              <a:ea typeface="나눔명조" panose="02020603020101020101"/>
            </a:endParaRPr>
          </a:p>
          <a:p>
            <a:r>
              <a:rPr lang="en-US" altLang="ko-KR" sz="800">
                <a:solidFill>
                  <a:srgbClr val="0000FF"/>
                </a:solidFill>
                <a:latin typeface="나눔명조" panose="02020603020101020101"/>
                <a:ea typeface="나눔명조" panose="02020603020101020101"/>
              </a:rPr>
              <a:t>auto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 bar = alloc_shared_buffer(2048);</a:t>
            </a:r>
          </a:p>
          <a:p>
            <a:pPr defTabSz="180000"/>
            <a:endParaRPr lang="en-US" altLang="ko-KR" sz="800">
              <a:solidFill>
                <a:srgbClr val="000000"/>
              </a:solidFill>
              <a:latin typeface="나눔명조" panose="02020603020101020101"/>
              <a:ea typeface="나눔명조" panose="02020603020101020101"/>
            </a:endParaRPr>
          </a:p>
          <a:p>
            <a:pPr defTabSz="180000"/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// - </a:t>
            </a:r>
            <a:r>
              <a:rPr lang="ko-KR" altLang="en-US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여러 데이터를 하나의 버퍼에 직렬화도 가능합니다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.</a:t>
            </a:r>
            <a:endParaRPr lang="en-US" altLang="ko-KR" sz="800">
              <a:solidFill>
                <a:srgbClr val="000000"/>
              </a:solidFill>
              <a:latin typeface="나눔명조" panose="02020603020101020101"/>
              <a:ea typeface="나눔명조" panose="02020603020101020101"/>
            </a:endParaRPr>
          </a:p>
          <a:p>
            <a:pPr defTabSz="180000"/>
            <a:r>
              <a:rPr lang="en-US" altLang="ko-KR" sz="800" err="1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bar.</a:t>
            </a:r>
            <a:r>
              <a:rPr lang="en-US" altLang="ko-KR" sz="800" b="1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append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&lt;foo&gt; (s1);</a:t>
            </a:r>
          </a:p>
          <a:p>
            <a:pPr defTabSz="180000"/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bar.</a:t>
            </a:r>
            <a:r>
              <a:rPr lang="en-US" altLang="ko-KR" sz="800" b="1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append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&lt;goo&gt;(s2);</a:t>
            </a:r>
          </a:p>
          <a:p>
            <a:pPr defTabSz="180000"/>
            <a:endParaRPr lang="en-US" altLang="ko-KR" sz="800">
              <a:solidFill>
                <a:srgbClr val="000000"/>
              </a:solidFill>
              <a:latin typeface="나눔명조" panose="02020603020101020101"/>
              <a:ea typeface="나눔명조" panose="02020603020101020101"/>
            </a:endParaRPr>
          </a:p>
          <a:p>
            <a:pPr defTabSz="180000"/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// - file</a:t>
            </a:r>
            <a:r>
              <a:rPr lang="ko-KR" altLang="en-US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로 저장</a:t>
            </a:r>
            <a:endParaRPr lang="en-US" altLang="ko-KR" sz="800">
              <a:solidFill>
                <a:srgbClr val="008000"/>
              </a:solidFill>
              <a:latin typeface="나눔명조" panose="02020603020101020101"/>
              <a:ea typeface="나눔명조" panose="02020603020101020101"/>
            </a:endParaRPr>
          </a:p>
          <a:p>
            <a:pPr defTabSz="180000"/>
            <a:r>
              <a:rPr lang="en-US" altLang="ko-KR" sz="800">
                <a:solidFill>
                  <a:srgbClr val="0000FF"/>
                </a:solidFill>
                <a:latin typeface="나눔명조" panose="02020603020101020101"/>
                <a:ea typeface="나눔명조" panose="02020603020101020101"/>
              </a:rPr>
              <a:t>auto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 fp = fopen(“test_file”, “w”);</a:t>
            </a:r>
          </a:p>
          <a:p>
            <a:pPr defTabSz="180000"/>
            <a:endParaRPr lang="en-US" altLang="ko-KR" sz="800">
              <a:solidFill>
                <a:srgbClr val="000000"/>
              </a:solidFill>
              <a:latin typeface="나눔명조" panose="02020603020101020101"/>
              <a:ea typeface="나눔명조" panose="02020603020101020101"/>
            </a:endParaRPr>
          </a:p>
          <a:p>
            <a:pPr defTabSz="180000"/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// - buffer</a:t>
            </a:r>
            <a:r>
              <a:rPr lang="ko-KR" altLang="en-US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의 내용을 파일로 저장한다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.</a:t>
            </a:r>
          </a:p>
          <a:p>
            <a:pPr defTabSz="180000"/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fwrite(bar.data(), bar.size(), 1, fp);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D83174-5557-4EE0-B47C-F3508A9EF33B}"/>
              </a:ext>
            </a:extLst>
          </p:cNvPr>
          <p:cNvSpPr txBox="1"/>
          <p:nvPr/>
        </p:nvSpPr>
        <p:spPr>
          <a:xfrm>
            <a:off x="1619449" y="3602269"/>
            <a:ext cx="339463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000"/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// - file open</a:t>
            </a:r>
          </a:p>
          <a:p>
            <a:pPr defTabSz="180000"/>
            <a:r>
              <a:rPr lang="en-US" altLang="ko-KR" sz="800">
                <a:solidFill>
                  <a:srgbClr val="0000FF"/>
                </a:solidFill>
                <a:latin typeface="나눔명조" panose="02020603020101020101"/>
                <a:ea typeface="나눔명조" panose="02020603020101020101"/>
              </a:rPr>
              <a:t>auto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 fp = fopen(“test_file”, “r”);</a:t>
            </a:r>
          </a:p>
          <a:p>
            <a:pPr defTabSz="180000"/>
            <a:endParaRPr lang="en-US" altLang="ko-KR" sz="800">
              <a:solidFill>
                <a:srgbClr val="000000"/>
              </a:solidFill>
              <a:latin typeface="나눔명조" panose="02020603020101020101"/>
              <a:ea typeface="나눔명조" panose="02020603020101020101"/>
            </a:endParaRPr>
          </a:p>
          <a:p>
            <a:pPr defTabSz="180000"/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// - buffer</a:t>
            </a:r>
            <a:r>
              <a:rPr lang="ko-KR" altLang="en-US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를 할당한다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.</a:t>
            </a:r>
            <a:endParaRPr lang="en-US" altLang="ko-KR" sz="800">
              <a:solidFill>
                <a:srgbClr val="000000"/>
              </a:solidFill>
              <a:latin typeface="나눔명조" panose="02020603020101020101"/>
              <a:ea typeface="나눔명조" panose="02020603020101020101"/>
            </a:endParaRPr>
          </a:p>
          <a:p>
            <a:pPr defTabSz="180000"/>
            <a:r>
              <a:rPr lang="en-US" altLang="ko-KR" sz="800">
                <a:solidFill>
                  <a:srgbClr val="0000FF"/>
                </a:solidFill>
                <a:latin typeface="나눔명조" panose="02020603020101020101"/>
                <a:ea typeface="나눔명조" panose="02020603020101020101"/>
              </a:rPr>
              <a:t>auto</a:t>
            </a:r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 baz = alloc_shared_buffer(2048);</a:t>
            </a:r>
          </a:p>
          <a:p>
            <a:pPr defTabSz="180000"/>
            <a:endParaRPr lang="en-US" altLang="ko-KR" sz="800">
              <a:solidFill>
                <a:srgbClr val="000000"/>
              </a:solidFill>
              <a:latin typeface="나눔명조" panose="02020603020101020101"/>
              <a:ea typeface="나눔명조" panose="02020603020101020101"/>
            </a:endParaRPr>
          </a:p>
          <a:p>
            <a:pPr defTabSz="180000"/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// - </a:t>
            </a:r>
            <a:r>
              <a:rPr lang="ko-KR" altLang="en-US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파일에서 저장한 내용을 읽어들인다</a:t>
            </a:r>
            <a:r>
              <a:rPr lang="en-US" altLang="ko-KR" sz="800">
                <a:solidFill>
                  <a:srgbClr val="008000"/>
                </a:solidFill>
                <a:latin typeface="나눔명조" panose="02020603020101020101"/>
                <a:ea typeface="나눔명조" panose="02020603020101020101"/>
              </a:rPr>
              <a:t>.</a:t>
            </a:r>
          </a:p>
          <a:p>
            <a:pPr defTabSz="180000"/>
            <a:r>
              <a:rPr lang="en-US" altLang="ko-KR" sz="800">
                <a:solidFill>
                  <a:srgbClr val="000000"/>
                </a:solidFill>
                <a:latin typeface="나눔명조" panose="02020603020101020101"/>
                <a:ea typeface="나눔명조" panose="02020603020101020101"/>
              </a:rPr>
              <a:t>fread (baz.data(), bar.size(), 1, fp);</a:t>
            </a:r>
          </a:p>
          <a:p>
            <a:pPr defTabSz="180000"/>
            <a:endParaRPr lang="en-US" altLang="ko-KR" sz="800">
              <a:solidFill>
                <a:srgbClr val="000000"/>
              </a:solidFill>
              <a:latin typeface="나눔명조" panose="02020603020101020101"/>
              <a:ea typeface="나눔명조" panose="02020603020101020101"/>
            </a:endParaRPr>
          </a:p>
          <a:p>
            <a:pPr defTabSz="180000"/>
            <a:r>
              <a:rPr lang="en-US" altLang="ko-KR" sz="800">
                <a:solidFill>
                  <a:srgbClr val="008000"/>
                </a:solidFill>
                <a:latin typeface="나눔명조"/>
                <a:ea typeface="돋움체" panose="020B0609000101010101" pitchFamily="49" charset="-127"/>
              </a:rPr>
              <a:t>// - append</a:t>
            </a:r>
            <a:r>
              <a:rPr lang="ko-KR" altLang="en-US" sz="800">
                <a:solidFill>
                  <a:srgbClr val="008000"/>
                </a:solidFill>
                <a:latin typeface="나눔명조"/>
                <a:ea typeface="돋움체" panose="020B0609000101010101" pitchFamily="49" charset="-127"/>
              </a:rPr>
              <a:t>했던 순서대로만 </a:t>
            </a:r>
            <a:r>
              <a:rPr lang="en-US" altLang="ko-KR" sz="800">
                <a:solidFill>
                  <a:srgbClr val="008000"/>
                </a:solidFill>
                <a:latin typeface="나눔명조"/>
                <a:ea typeface="돋움체" panose="020B0609000101010101" pitchFamily="49" charset="-127"/>
              </a:rPr>
              <a:t>extrac</a:t>
            </a:r>
            <a:r>
              <a:rPr lang="ko-KR" altLang="en-US" sz="800">
                <a:solidFill>
                  <a:srgbClr val="008000"/>
                </a:solidFill>
                <a:latin typeface="나눔명조"/>
                <a:ea typeface="돋움체" panose="020B0609000101010101" pitchFamily="49" charset="-127"/>
              </a:rPr>
              <a:t>만 해주면 됩니다</a:t>
            </a:r>
            <a:r>
              <a:rPr lang="en-US" altLang="ko-KR" sz="800">
                <a:solidFill>
                  <a:srgbClr val="008000"/>
                </a:solidFill>
                <a:latin typeface="나눔명조"/>
                <a:ea typeface="돋움체" panose="020B0609000101010101" pitchFamily="49" charset="-127"/>
              </a:rPr>
              <a:t>.</a:t>
            </a:r>
            <a:endParaRPr lang="en-US" altLang="ko-KR" sz="800">
              <a:solidFill>
                <a:srgbClr val="000000"/>
              </a:solidFill>
              <a:latin typeface="나눔명조"/>
              <a:ea typeface="돋움체" panose="020B0609000101010101" pitchFamily="49" charset="-127"/>
            </a:endParaRPr>
          </a:p>
          <a:p>
            <a:pPr defTabSz="180000"/>
            <a:r>
              <a:rPr lang="en-US" altLang="ko-KR" sz="800">
                <a:solidFill>
                  <a:srgbClr val="0000FF"/>
                </a:solidFill>
                <a:latin typeface="나눔명조"/>
                <a:ea typeface="돋움체" panose="020B0609000101010101" pitchFamily="49" charset="-127"/>
              </a:rPr>
              <a:t>auto</a:t>
            </a:r>
            <a:r>
              <a:rPr lang="en-US" altLang="ko-KR" sz="800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 v1 = baz.</a:t>
            </a:r>
            <a:r>
              <a:rPr lang="en-US" altLang="ko-KR" sz="800" b="1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extract</a:t>
            </a:r>
            <a:r>
              <a:rPr lang="en-US" altLang="ko-KR" sz="800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&lt;foo&gt;();</a:t>
            </a:r>
          </a:p>
          <a:p>
            <a:pPr defTabSz="180000"/>
            <a:r>
              <a:rPr lang="en-US" altLang="ko-KR" sz="800">
                <a:solidFill>
                  <a:srgbClr val="0000FF"/>
                </a:solidFill>
                <a:latin typeface="나눔명조"/>
                <a:ea typeface="돋움체" panose="020B0609000101010101" pitchFamily="49" charset="-127"/>
              </a:rPr>
              <a:t>auto</a:t>
            </a:r>
            <a:r>
              <a:rPr lang="en-US" altLang="ko-KR" sz="800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 v2 = baz.</a:t>
            </a:r>
            <a:r>
              <a:rPr lang="en-US" altLang="ko-KR" sz="800" b="1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extract</a:t>
            </a:r>
            <a:r>
              <a:rPr lang="en-US" altLang="ko-KR" sz="800">
                <a:solidFill>
                  <a:srgbClr val="000000"/>
                </a:solidFill>
                <a:latin typeface="나눔명조"/>
                <a:ea typeface="돋움체" panose="020B0609000101010101" pitchFamily="49" charset="-127"/>
              </a:rPr>
              <a:t>&lt;goo&gt;();</a:t>
            </a:r>
          </a:p>
        </p:txBody>
      </p:sp>
    </p:spTree>
    <p:extLst>
      <p:ext uri="{BB962C8B-B14F-4D97-AF65-F5344CB8AC3E}">
        <p14:creationId xmlns:p14="http://schemas.microsoft.com/office/powerpoint/2010/main" val="2052164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/>
              <a:t>© 2016. </a:t>
            </a:r>
            <a:r>
              <a:rPr lang="en-US" altLang="ko-KR" sz="700" b="1"/>
              <a:t>CGCII</a:t>
            </a:r>
            <a:r>
              <a:rPr lang="en-US" altLang="ko-KR" sz="700"/>
              <a:t> all rights reserved.</a:t>
            </a:r>
            <a:endParaRPr lang="ko-KR" altLang="en-US" sz="70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C743EBE6-1C30-4E4B-A5F8-1956D7A10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762300"/>
              </p:ext>
            </p:extLst>
          </p:nvPr>
        </p:nvGraphicFramePr>
        <p:xfrm>
          <a:off x="2884488" y="776816"/>
          <a:ext cx="7822418" cy="5887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78467">
                  <a:extLst>
                    <a:ext uri="{9D8B030D-6E8A-4147-A177-3AD203B41FA5}">
                      <a16:colId xmlns:a16="http://schemas.microsoft.com/office/drawing/2014/main" val="3613249170"/>
                    </a:ext>
                  </a:extLst>
                </a:gridCol>
                <a:gridCol w="475721">
                  <a:extLst>
                    <a:ext uri="{9D8B030D-6E8A-4147-A177-3AD203B41FA5}">
                      <a16:colId xmlns:a16="http://schemas.microsoft.com/office/drawing/2014/main" val="250544321"/>
                    </a:ext>
                  </a:extLst>
                </a:gridCol>
                <a:gridCol w="1185862">
                  <a:extLst>
                    <a:ext uri="{9D8B030D-6E8A-4147-A177-3AD203B41FA5}">
                      <a16:colId xmlns:a16="http://schemas.microsoft.com/office/drawing/2014/main" val="512325296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869917952"/>
                    </a:ext>
                  </a:extLst>
                </a:gridCol>
                <a:gridCol w="2460901">
                  <a:extLst>
                    <a:ext uri="{9D8B030D-6E8A-4147-A177-3AD203B41FA5}">
                      <a16:colId xmlns:a16="http://schemas.microsoft.com/office/drawing/2014/main" val="4031623558"/>
                    </a:ext>
                  </a:extLst>
                </a:gridCol>
                <a:gridCol w="1221317">
                  <a:extLst>
                    <a:ext uri="{9D8B030D-6E8A-4147-A177-3AD203B41FA5}">
                      <a16:colId xmlns:a16="http://schemas.microsoft.com/office/drawing/2014/main" val="821543026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Size (byte)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C++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C#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944172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1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int8_t</a:t>
                      </a:r>
                    </a:p>
                    <a:p>
                      <a:pPr latinLnBrk="1"/>
                      <a:r>
                        <a:rPr lang="en-US" altLang="ko-KR" sz="500"/>
                        <a:t>char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sbyte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01766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2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int16_t</a:t>
                      </a:r>
                    </a:p>
                    <a:p>
                      <a:pPr latinLnBrk="1"/>
                      <a:r>
                        <a:rPr lang="en-US" altLang="ko-KR" sz="500"/>
                        <a:t>short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Int16</a:t>
                      </a:r>
                    </a:p>
                    <a:p>
                      <a:pPr latinLnBrk="1"/>
                      <a:r>
                        <a:rPr lang="en-US" altLang="ko-KR" sz="500"/>
                        <a:t>short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26334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2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wchar_t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char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20013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4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int32_t</a:t>
                      </a:r>
                    </a:p>
                    <a:p>
                      <a:pPr latinLnBrk="1"/>
                      <a:r>
                        <a:rPr lang="en-US" altLang="ko-KR" sz="500"/>
                        <a:t>int</a:t>
                      </a:r>
                    </a:p>
                    <a:p>
                      <a:pPr latinLnBrk="1"/>
                      <a:r>
                        <a:rPr lang="en-US" altLang="ko-KR" sz="500"/>
                        <a:t>long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Int32</a:t>
                      </a:r>
                    </a:p>
                    <a:p>
                      <a:pPr latinLnBrk="1"/>
                      <a:r>
                        <a:rPr lang="en-US" altLang="ko-KR" sz="500"/>
                        <a:t>int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08299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8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int64_t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500"/>
                        <a:t>long long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Int64</a:t>
                      </a:r>
                    </a:p>
                    <a:p>
                      <a:pPr latinLnBrk="1"/>
                      <a:r>
                        <a:rPr lang="en-US" altLang="ko-KR" sz="500"/>
                        <a:t>long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541585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1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uint8_t</a:t>
                      </a:r>
                    </a:p>
                    <a:p>
                      <a:pPr latinLnBrk="1"/>
                      <a:r>
                        <a:rPr lang="en-US" altLang="ko-KR" sz="500"/>
                        <a:t>unsigned char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byte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78443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2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uint16_t</a:t>
                      </a:r>
                    </a:p>
                    <a:p>
                      <a:pPr latinLnBrk="1"/>
                      <a:r>
                        <a:rPr lang="en-US" altLang="ko-KR" sz="500"/>
                        <a:t>unsigned  short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UInt16</a:t>
                      </a:r>
                    </a:p>
                    <a:p>
                      <a:pPr latinLnBrk="1"/>
                      <a:r>
                        <a:rPr lang="en-US" altLang="ko-KR" sz="500"/>
                        <a:t>ushort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03864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4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uint32_t</a:t>
                      </a:r>
                    </a:p>
                    <a:p>
                      <a:pPr latinLnBrk="1"/>
                      <a:r>
                        <a:rPr lang="en-US" altLang="ko-KR" sz="500"/>
                        <a:t>unsigned int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UInt32</a:t>
                      </a:r>
                    </a:p>
                    <a:p>
                      <a:pPr latinLnBrk="1"/>
                      <a:r>
                        <a:rPr lang="en-US" altLang="ko-KR" sz="500"/>
                        <a:t>uint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502516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8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uint64_t</a:t>
                      </a:r>
                    </a:p>
                    <a:p>
                      <a:pPr latinLnBrk="1"/>
                      <a:r>
                        <a:rPr lang="en-US" altLang="ko-KR" sz="500"/>
                        <a:t>unsigned long long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UInt64</a:t>
                      </a:r>
                    </a:p>
                    <a:p>
                      <a:pPr latinLnBrk="1"/>
                      <a:r>
                        <a:rPr lang="en-US" altLang="ko-KR" sz="500"/>
                        <a:t>ulong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01579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4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float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float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5858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8</a:t>
                      </a:r>
                      <a:endParaRPr lang="ko-KR" altLang="en-US" sz="5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double</a:t>
                      </a:r>
                      <a:endParaRPr lang="ko-KR" altLang="en-US" sz="5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double</a:t>
                      </a:r>
                      <a:endParaRPr lang="ko-KR" altLang="en-US" sz="5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211465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std::string, std::string_view</a:t>
                      </a:r>
                    </a:p>
                    <a:p>
                      <a:pPr latinLnBrk="1"/>
                      <a:r>
                        <a:rPr lang="en-US" altLang="ko-KR" sz="500"/>
                        <a:t>char*</a:t>
                      </a:r>
                      <a:endParaRPr lang="ko-KR" altLang="en-US" sz="5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-</a:t>
                      </a:r>
                      <a:endParaRPr lang="ko-KR" altLang="en-US" sz="5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487449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std::u16string </a:t>
                      </a:r>
                    </a:p>
                    <a:p>
                      <a:pPr latinLnBrk="1"/>
                      <a:r>
                        <a:rPr lang="en-US" altLang="ko-KR" sz="500"/>
                        <a:t>std::u16string_view</a:t>
                      </a:r>
                    </a:p>
                    <a:p>
                      <a:pPr latinLnBrk="1"/>
                      <a:r>
                        <a:rPr lang="en-US" altLang="ko-KR" sz="500"/>
                        <a:t>char16_t*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string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15908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std::wstring (windows)</a:t>
                      </a:r>
                    </a:p>
                    <a:p>
                      <a:pPr latinLnBrk="1"/>
                      <a:r>
                        <a:rPr lang="en-US" altLang="ko-KR" sz="500"/>
                        <a:t>std::wstring_view</a:t>
                      </a:r>
                    </a:p>
                    <a:p>
                      <a:pPr latinLnBrk="1"/>
                      <a:r>
                        <a:rPr lang="en-US" altLang="ko-KR" sz="500"/>
                        <a:t>wchar_t*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string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25432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std::u32string</a:t>
                      </a:r>
                    </a:p>
                    <a:p>
                      <a:pPr latinLnBrk="1"/>
                      <a:r>
                        <a:rPr lang="en-US" altLang="ko-KR" sz="500"/>
                        <a:t>std::u32string_view</a:t>
                      </a:r>
                    </a:p>
                    <a:p>
                      <a:pPr latinLnBrk="1"/>
                      <a:r>
                        <a:rPr lang="en-US" altLang="ko-KR" sz="500"/>
                        <a:t>char32_t*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-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21149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T[]</a:t>
                      </a:r>
                    </a:p>
                    <a:p>
                      <a:pPr latinLnBrk="1"/>
                      <a:r>
                        <a:rPr lang="en-US" altLang="ko-KR" sz="500"/>
                        <a:t>std::span&lt;T&gt;</a:t>
                      </a:r>
                    </a:p>
                    <a:p>
                      <a:pPr latinLnBrk="1"/>
                      <a:r>
                        <a:rPr lang="en-US" altLang="ko-KR" sz="500"/>
                        <a:t>std::array&lt;T&gt;</a:t>
                      </a:r>
                    </a:p>
                    <a:p>
                      <a:pPr latinLnBrk="1"/>
                      <a:r>
                        <a:rPr lang="en-US" altLang="ko-KR" sz="500"/>
                        <a:t>std::vector&lt;T&gt;</a:t>
                      </a:r>
                    </a:p>
                    <a:p>
                      <a:pPr latinLnBrk="1"/>
                      <a:r>
                        <a:rPr lang="en-US" altLang="ko-KR" sz="500"/>
                        <a:t>std::list&lt;T&gt;</a:t>
                      </a:r>
                    </a:p>
                    <a:p>
                      <a:pPr latinLnBrk="1"/>
                      <a:r>
                        <a:rPr lang="en-US" altLang="ko-KR" sz="500"/>
                        <a:t>std::deque&lt;T&gt;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T[]</a:t>
                      </a:r>
                    </a:p>
                    <a:p>
                      <a:pPr latinLnBrk="1"/>
                      <a:r>
                        <a:rPr lang="en-US" altLang="ko-KR" sz="500"/>
                        <a:t>std::List&lt;T&gt;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42746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std::set&lt;T&gt;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SortedSet&lt;T&gt;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23878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std::map&lt;K,V&gt;</a:t>
                      </a:r>
                    </a:p>
                    <a:p>
                      <a:pPr latinLnBrk="1"/>
                      <a:r>
                        <a:rPr lang="en-US" altLang="ko-KR" sz="500"/>
                        <a:t>std::unorederd_map&lt;K,V&gt;</a:t>
                      </a:r>
                      <a:endParaRPr lang="ko-KR" altLang="en-US" sz="5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Dictionary&lt;T&gt;</a:t>
                      </a:r>
                      <a:br>
                        <a:rPr lang="en-US" altLang="ko-KR" sz="500"/>
                      </a:br>
                      <a:r>
                        <a:rPr lang="en-US" altLang="ko-KR" sz="500"/>
                        <a:t>SortedDictionalry&lt;K,V&gt;</a:t>
                      </a:r>
                      <a:endParaRPr lang="ko-KR" altLang="en-US" sz="5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399213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8</a:t>
                      </a:r>
                      <a:endParaRPr lang="ko-KR" altLang="en-US" sz="5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std::chrono::time_point</a:t>
                      </a:r>
                      <a:endParaRPr lang="ko-KR" altLang="en-US" sz="5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DateTime</a:t>
                      </a:r>
                      <a:endParaRPr lang="ko-KR" altLang="en-US" sz="5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133176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8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std::chrono::duration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/>
                        <a:t>UInt64_t</a:t>
                      </a:r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2944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02985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19827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345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3728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17844</TotalTime>
  <Words>1521</Words>
  <Application>Microsoft Office PowerPoint</Application>
  <PresentationFormat>와이드스크린</PresentationFormat>
  <Paragraphs>268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HY견명조</vt:lpstr>
      <vt:lpstr>HY신명조</vt:lpstr>
      <vt:lpstr>나눔명조</vt:lpstr>
      <vt:lpstr>나눔명조 ExtraBold</vt:lpstr>
      <vt:lpstr>맑은 고딕</vt:lpstr>
      <vt:lpstr>Arial</vt:lpstr>
      <vt:lpstr>Segoe UI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조상현</dc:creator>
  <cp:lastModifiedBy>조 상현</cp:lastModifiedBy>
  <cp:revision>3778</cp:revision>
  <dcterms:created xsi:type="dcterms:W3CDTF">2016-03-23T14:08:17Z</dcterms:created>
  <dcterms:modified xsi:type="dcterms:W3CDTF">2021-12-11T16:55:31Z</dcterms:modified>
</cp:coreProperties>
</file>