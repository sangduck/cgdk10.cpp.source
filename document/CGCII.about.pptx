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7" r:id="rId2"/>
    <p:sldId id="412" r:id="rId3"/>
    <p:sldId id="396" r:id="rId4"/>
    <p:sldId id="425" r:id="rId5"/>
    <p:sldId id="419" r:id="rId6"/>
    <p:sldId id="415" r:id="rId7"/>
    <p:sldId id="416" r:id="rId8"/>
    <p:sldId id="403" r:id="rId9"/>
    <p:sldId id="406" r:id="rId10"/>
    <p:sldId id="407" r:id="rId11"/>
    <p:sldId id="404" r:id="rId12"/>
    <p:sldId id="422" r:id="rId13"/>
    <p:sldId id="417" r:id="rId14"/>
    <p:sldId id="418" r:id="rId15"/>
    <p:sldId id="420" r:id="rId16"/>
    <p:sldId id="421" r:id="rId17"/>
    <p:sldId id="424" r:id="rId18"/>
    <p:sldId id="423" r:id="rId19"/>
    <p:sldId id="324" r:id="rId20"/>
    <p:sldId id="410" r:id="rId21"/>
    <p:sldId id="405" r:id="rId22"/>
    <p:sldId id="326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CCFF"/>
    <a:srgbClr val="FFFFCC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9" autoAdjust="0"/>
    <p:restoredTop sz="94906" autoAdjust="0"/>
  </p:normalViewPr>
  <p:slideViewPr>
    <p:cSldViewPr snapToGrid="0">
      <p:cViewPr varScale="1">
        <p:scale>
          <a:sx n="104" d="100"/>
          <a:sy n="104" d="100"/>
        </p:scale>
        <p:origin x="114" y="13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778DE-9D94-4E5D-91B3-7EC0AD5E216C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0D906-180E-40CD-8333-E002C5FAA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75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269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060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407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705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13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18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706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140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08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8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07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833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238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861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256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689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828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941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062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98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0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65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06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49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9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5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49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1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64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9A752-C760-47B0-9E93-7E995F39D971}" type="datetimeFigureOut">
              <a:rPr lang="ko-KR" altLang="en-US" smtClean="0"/>
              <a:t>2021-12-15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87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ngduck@cgcii.co.k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" name="TextBox 4"/>
          <p:cNvSpPr txBox="1"/>
          <p:nvPr/>
        </p:nvSpPr>
        <p:spPr>
          <a:xfrm>
            <a:off x="9971612" y="956773"/>
            <a:ext cx="1830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/>
              <a:t>CGC.II.</a:t>
            </a:r>
            <a:endParaRPr lang="ko-KR" altLang="en-US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8FDF70C-B021-404D-BCC9-6804D0FC60AF}"/>
              </a:ext>
            </a:extLst>
          </p:cNvPr>
          <p:cNvCxnSpPr>
            <a:cxnSpLocks/>
          </p:cNvCxnSpPr>
          <p:nvPr/>
        </p:nvCxnSpPr>
        <p:spPr>
          <a:xfrm>
            <a:off x="10839450" y="5366421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4B20AC2-C96D-4DB1-B3F8-1F0E715D1643}"/>
              </a:ext>
            </a:extLst>
          </p:cNvPr>
          <p:cNvSpPr txBox="1"/>
          <p:nvPr/>
        </p:nvSpPr>
        <p:spPr>
          <a:xfrm>
            <a:off x="9810512" y="5366421"/>
            <a:ext cx="806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2021.11.19</a:t>
            </a:r>
            <a:endParaRPr lang="ko-KR" altLang="en-US" sz="10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9572559-C5DA-471E-A8D0-A16578C0ED0B}"/>
              </a:ext>
            </a:extLst>
          </p:cNvPr>
          <p:cNvCxnSpPr>
            <a:cxnSpLocks/>
          </p:cNvCxnSpPr>
          <p:nvPr/>
        </p:nvCxnSpPr>
        <p:spPr>
          <a:xfrm>
            <a:off x="9467850" y="5366421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5C48886-2E41-4631-9EED-E5C14FA70D33}"/>
              </a:ext>
            </a:extLst>
          </p:cNvPr>
          <p:cNvSpPr txBox="1"/>
          <p:nvPr/>
        </p:nvSpPr>
        <p:spPr>
          <a:xfrm>
            <a:off x="10984213" y="5366421"/>
            <a:ext cx="10327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Cho </a:t>
            </a:r>
            <a:r>
              <a:rPr lang="en-US" altLang="ko-KR" sz="1000" dirty="0" err="1"/>
              <a:t>Sanghyun</a:t>
            </a:r>
            <a:endParaRPr lang="en-US" altLang="ko-KR" sz="1000" dirty="0"/>
          </a:p>
          <a:p>
            <a:pPr algn="r"/>
            <a:r>
              <a:rPr lang="ko-KR" altLang="en-US" sz="1000" dirty="0"/>
              <a:t>조상현</a:t>
            </a:r>
            <a:endParaRPr lang="en-US" altLang="ko-KR" sz="1000" dirty="0"/>
          </a:p>
          <a:p>
            <a:pPr algn="r"/>
            <a:r>
              <a:rPr lang="ko-KR" altLang="en-US" sz="1000" dirty="0"/>
              <a:t>曺尙鉉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E2340-EDC1-4DA3-BF9E-02AD0D0065F8}"/>
              </a:ext>
            </a:extLst>
          </p:cNvPr>
          <p:cNvSpPr txBox="1"/>
          <p:nvPr/>
        </p:nvSpPr>
        <p:spPr>
          <a:xfrm>
            <a:off x="7669780" y="5366421"/>
            <a:ext cx="1564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CGCII.</a:t>
            </a:r>
          </a:p>
          <a:p>
            <a:pPr algn="r"/>
            <a:r>
              <a:rPr lang="en-US" altLang="ko-KR" sz="1000" dirty="0"/>
              <a:t>version 10.0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1766A6-09A0-4715-80F8-6831D5E15679}"/>
              </a:ext>
            </a:extLst>
          </p:cNvPr>
          <p:cNvSpPr txBox="1"/>
          <p:nvPr/>
        </p:nvSpPr>
        <p:spPr>
          <a:xfrm>
            <a:off x="9897762" y="5987660"/>
            <a:ext cx="20847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/>
              <a:t>TEL. 010-2914-1628</a:t>
            </a:r>
          </a:p>
          <a:p>
            <a:pPr algn="r"/>
            <a:r>
              <a:rPr lang="en-US" altLang="ko-KR" sz="1000" dirty="0">
                <a:hlinkClick r:id="rId2"/>
              </a:rPr>
              <a:t>sangduck@cgcii.co.kr</a:t>
            </a:r>
            <a:endParaRPr lang="en-US" altLang="ko-KR" sz="1000" dirty="0"/>
          </a:p>
          <a:p>
            <a:pPr algn="r"/>
            <a:r>
              <a:rPr lang="en-US" altLang="ko-KR" sz="1000" dirty="0"/>
              <a:t>cgciisangduck@gmail.com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0356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About CGCII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CCEE7-718E-4F51-B325-2FCCFD7D2FE3}"/>
              </a:ext>
            </a:extLst>
          </p:cNvPr>
          <p:cNvSpPr txBox="1"/>
          <p:nvPr/>
        </p:nvSpPr>
        <p:spPr>
          <a:xfrm>
            <a:off x="1843841" y="2069903"/>
            <a:ext cx="8640000" cy="60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1998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 Network Solution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개발로 시작된 다양한 프로젝트 적용 경험과 수상을 기록했습니다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CGC.II.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이를 이어 받아 새로이 개발되어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2003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1.0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릴리즈하였습니다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2789A1-105D-42CB-9BF5-D293DFBB7885}"/>
              </a:ext>
            </a:extLst>
          </p:cNvPr>
          <p:cNvSpPr txBox="1"/>
          <p:nvPr/>
        </p:nvSpPr>
        <p:spPr>
          <a:xfrm>
            <a:off x="1843841" y="2984397"/>
            <a:ext cx="8640000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CGC.II.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MMORPG, FPS,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모바일 액션 게임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모바일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RPG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같은 게임 뿐만 아니라 </a:t>
            </a:r>
            <a:b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보이스 채팅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비트코인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거래 시스템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보안 시스템용 통신 모듈 등등 다양한 프로젝트에 채용되어 왔습니다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CGC.II.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40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여개가 넘는 프로젝트에 적용되며 지속적으로 업그레이드하여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2022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10.0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버전을 </a:t>
            </a:r>
            <a:r>
              <a:rPr lang="ko-KR" altLang="en-US" sz="12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릴리즈하게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되었습니다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DB4B3-1924-47C1-A288-C63170B71E90}"/>
              </a:ext>
            </a:extLst>
          </p:cNvPr>
          <p:cNvSpPr txBox="1"/>
          <p:nvPr/>
        </p:nvSpPr>
        <p:spPr>
          <a:xfrm>
            <a:off x="1867034" y="1445171"/>
            <a:ext cx="8616807" cy="404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CGC.II.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게임 서버 및 다양한 서버 제작을 위한 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고성능 </a:t>
            </a:r>
            <a:r>
              <a:rPr lang="ko-KR" altLang="en-US" sz="16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고안정</a:t>
            </a:r>
            <a:r>
              <a:rPr lang="ko-KR" altLang="en-US" sz="16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서버 엔진</a:t>
            </a:r>
            <a:r>
              <a:rPr lang="ko-KR" altLang="en-US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입니다</a:t>
            </a:r>
            <a:r>
              <a:rPr lang="en-US" altLang="ko-KR" sz="12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1FDB295-E3EC-4EB9-A015-296B2F98162E}"/>
              </a:ext>
            </a:extLst>
          </p:cNvPr>
          <p:cNvCxnSpPr>
            <a:cxnSpLocks/>
          </p:cNvCxnSpPr>
          <p:nvPr/>
        </p:nvCxnSpPr>
        <p:spPr>
          <a:xfrm>
            <a:off x="1834980" y="2001619"/>
            <a:ext cx="86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89C5CCF-9885-4136-9460-4A97ED6E8A53}"/>
              </a:ext>
            </a:extLst>
          </p:cNvPr>
          <p:cNvCxnSpPr>
            <a:cxnSpLocks/>
          </p:cNvCxnSpPr>
          <p:nvPr/>
        </p:nvCxnSpPr>
        <p:spPr>
          <a:xfrm>
            <a:off x="1834980" y="2920142"/>
            <a:ext cx="8640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73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8182CDA-BD26-4323-AB69-56559F41F23A}"/>
              </a:ext>
            </a:extLst>
          </p:cNvPr>
          <p:cNvSpPr/>
          <p:nvPr/>
        </p:nvSpPr>
        <p:spPr>
          <a:xfrm>
            <a:off x="7516465" y="2865487"/>
            <a:ext cx="1589167" cy="2433551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>
            <a:solidFill>
              <a:schemeClr val="accent1">
                <a:shade val="50000"/>
                <a:alpha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87396-7E38-4459-8386-A43CDEA91BB0}"/>
              </a:ext>
            </a:extLst>
          </p:cNvPr>
          <p:cNvSpPr txBox="1"/>
          <p:nvPr/>
        </p:nvSpPr>
        <p:spPr>
          <a:xfrm>
            <a:off x="3525586" y="1099674"/>
            <a:ext cx="4064495" cy="8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NATIVE API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특정 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OS/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플랫폼 전용 함수들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en-US" altLang="ko-KR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) 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플랫폼 고유 기능을 사용하여 </a:t>
            </a:r>
            <a:r>
              <a:rPr lang="ko-KR" altLang="en-US" sz="900" b="1" dirty="0">
                <a:latin typeface="나눔명조" panose="02020603020101020101" pitchFamily="18" charset="-127"/>
                <a:ea typeface="나눔명조" panose="02020603020101020101" pitchFamily="18" charset="-127"/>
              </a:rPr>
              <a:t>최적화된 구현이 가능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하지만 </a:t>
            </a:r>
            <a:r>
              <a:rPr lang="ko-KR" altLang="en-US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플래폼마다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다른 </a:t>
            </a:r>
            <a:r>
              <a:rPr lang="en-US" altLang="ko-KR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에 맞춰 직접 </a:t>
            </a:r>
            <a:r>
              <a:rPr lang="ko-KR" altLang="en-US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구현해야하는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어려움이 있음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CC54502-DE88-4F8A-8089-1ED964270728}"/>
              </a:ext>
            </a:extLst>
          </p:cNvPr>
          <p:cNvSpPr/>
          <p:nvPr/>
        </p:nvSpPr>
        <p:spPr>
          <a:xfrm>
            <a:off x="7545370" y="1370408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 </a:t>
            </a:r>
            <a:r>
              <a:rPr lang="en-US" altLang="ko-KR" sz="800" dirty="0" err="1">
                <a:solidFill>
                  <a:schemeClr val="tx1"/>
                </a:solidFill>
              </a:rPr>
              <a:t>api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81DB042-8347-41CF-AB25-EC35FC6EF510}"/>
              </a:ext>
            </a:extLst>
          </p:cNvPr>
          <p:cNvSpPr/>
          <p:nvPr/>
        </p:nvSpPr>
        <p:spPr>
          <a:xfrm>
            <a:off x="7551991" y="2187269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boost:asio</a:t>
            </a:r>
            <a:endParaRPr lang="ko-KR" altLang="en-US" sz="800">
              <a:solidFill>
                <a:schemeClr val="tx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0E5D14-DC44-45BD-9055-87DEA6BCAD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767" y="4794216"/>
            <a:ext cx="415031" cy="875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1CC46C-2598-4D0B-BCF8-AC8D9F8BB0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304" y="4694108"/>
            <a:ext cx="473776" cy="2368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326941-5FE2-449F-92FB-43417FFA51EF}"/>
              </a:ext>
            </a:extLst>
          </p:cNvPr>
          <p:cNvSpPr txBox="1"/>
          <p:nvPr/>
        </p:nvSpPr>
        <p:spPr>
          <a:xfrm>
            <a:off x="3525586" y="1892473"/>
            <a:ext cx="2979862" cy="81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STANDARD API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저수준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socket </a:t>
            </a:r>
            <a:r>
              <a:rPr lang="en-US" altLang="ko-KR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api</a:t>
            </a:r>
            <a:r>
              <a:rPr lang="ko-KR" altLang="en-US" sz="9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를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표준화한 레벨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서버 플랫폼에 관계없이 동일한 구현 가능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최적화는 일부 희생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E0907F-AF45-4F92-A2FB-8A89A846CA6F}"/>
              </a:ext>
            </a:extLst>
          </p:cNvPr>
          <p:cNvSpPr txBox="1"/>
          <p:nvPr/>
        </p:nvSpPr>
        <p:spPr>
          <a:xfrm>
            <a:off x="3525586" y="2789566"/>
            <a:ext cx="2979862" cy="63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ENGINE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핵심 기능을 구현해 놓은 모듈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자동차의 엔진과 같은 개념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0FBA1E-27BD-4C1B-A8BE-96A2646D241A}"/>
              </a:ext>
            </a:extLst>
          </p:cNvPr>
          <p:cNvSpPr txBox="1"/>
          <p:nvPr/>
        </p:nvSpPr>
        <p:spPr>
          <a:xfrm>
            <a:off x="3562628" y="5533854"/>
            <a:ext cx="2979862" cy="43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SERVICE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실제 서비스되는 서버를 구현하는 레벨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8EEFD50-E911-4A68-81BE-CD6C3204047A}"/>
              </a:ext>
            </a:extLst>
          </p:cNvPr>
          <p:cNvSpPr/>
          <p:nvPr/>
        </p:nvSpPr>
        <p:spPr>
          <a:xfrm>
            <a:off x="8564114" y="2185647"/>
            <a:ext cx="1088931" cy="230466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C++ Network.TS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0A203EB-FFE9-412C-B025-BEF14D5DBEE4}"/>
              </a:ext>
            </a:extLst>
          </p:cNvPr>
          <p:cNvSpPr/>
          <p:nvPr/>
        </p:nvSpPr>
        <p:spPr>
          <a:xfrm>
            <a:off x="9632520" y="5589121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Web Service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4A1459F-6CFA-4F79-8E54-EA05CEA6E137}"/>
              </a:ext>
            </a:extLst>
          </p:cNvPr>
          <p:cNvSpPr/>
          <p:nvPr/>
        </p:nvSpPr>
        <p:spPr>
          <a:xfrm>
            <a:off x="7630523" y="5608170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Game server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9B354A-F5BD-4594-B6A9-7956C37B6F59}"/>
              </a:ext>
            </a:extLst>
          </p:cNvPr>
          <p:cNvSpPr/>
          <p:nvPr/>
        </p:nvSpPr>
        <p:spPr>
          <a:xfrm>
            <a:off x="8635567" y="5599414"/>
            <a:ext cx="920354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Game server</a:t>
            </a:r>
            <a:endParaRPr lang="ko-KR" altLang="en-US" sz="800">
              <a:solidFill>
                <a:schemeClr val="tx1"/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9424B91-D80C-490A-AA8E-AD0CA0874C56}"/>
              </a:ext>
            </a:extLst>
          </p:cNvPr>
          <p:cNvCxnSpPr>
            <a:cxnSpLocks/>
          </p:cNvCxnSpPr>
          <p:nvPr/>
        </p:nvCxnSpPr>
        <p:spPr>
          <a:xfrm>
            <a:off x="3397522" y="2759935"/>
            <a:ext cx="762056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F1E0811-4AB3-45AF-BD22-FF1A71690551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1902364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6A4C9B-E083-4AC8-952D-E327717C0902}"/>
              </a:ext>
            </a:extLst>
          </p:cNvPr>
          <p:cNvSpPr/>
          <p:nvPr/>
        </p:nvSpPr>
        <p:spPr>
          <a:xfrm>
            <a:off x="9959448" y="4590968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0C9F34-A373-40AC-8DEF-658A09F7C00F}"/>
              </a:ext>
            </a:extLst>
          </p:cNvPr>
          <p:cNvSpPr txBox="1"/>
          <p:nvPr/>
        </p:nvSpPr>
        <p:spPr>
          <a:xfrm>
            <a:off x="3525585" y="4343192"/>
            <a:ext cx="3418911" cy="97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SOLUTION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특정 서비스에 특화해 필요한 기능들을 통합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/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구현해 간단한 구현만으로 서비스를 구성할 수 있도록 한 것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대상 서비스에 구체적 특화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주식거래 시스템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웹솔루션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채팅 시스템 </a:t>
            </a:r>
            <a:r>
              <a:rPr lang="en-US" altLang="ko-KR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…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350F846-2D8E-4995-B7A7-04CB2FECB79B}"/>
              </a:ext>
            </a:extLst>
          </p:cNvPr>
          <p:cNvCxnSpPr>
            <a:cxnSpLocks/>
          </p:cNvCxnSpPr>
          <p:nvPr/>
        </p:nvCxnSpPr>
        <p:spPr>
          <a:xfrm>
            <a:off x="3397522" y="5537389"/>
            <a:ext cx="762056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77BABE-5784-4C7B-8144-1C5C9E310048}"/>
              </a:ext>
            </a:extLst>
          </p:cNvPr>
          <p:cNvSpPr/>
          <p:nvPr/>
        </p:nvSpPr>
        <p:spPr>
          <a:xfrm>
            <a:off x="9635877" y="2047155"/>
            <a:ext cx="356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…</a:t>
            </a:r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2A25E5A-B0CD-4BF9-AE72-1BA9F71B3426}"/>
              </a:ext>
            </a:extLst>
          </p:cNvPr>
          <p:cNvSpPr/>
          <p:nvPr/>
        </p:nvSpPr>
        <p:spPr>
          <a:xfrm>
            <a:off x="10674355" y="5365398"/>
            <a:ext cx="666333" cy="346375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paas</a:t>
            </a:r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9BF0565-5665-4D18-8FE0-00EB0F69364A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4313452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DCB6C4C-5D2B-4821-A9BE-4B5BD5E1A069}"/>
              </a:ext>
            </a:extLst>
          </p:cNvPr>
          <p:cNvCxnSpPr>
            <a:cxnSpLocks/>
          </p:cNvCxnSpPr>
          <p:nvPr/>
        </p:nvCxnSpPr>
        <p:spPr>
          <a:xfrm flipH="1" flipV="1">
            <a:off x="3397522" y="3608602"/>
            <a:ext cx="7620559" cy="29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9258C0A-A457-4BE3-B52B-4D78FFBED20E}"/>
              </a:ext>
            </a:extLst>
          </p:cNvPr>
          <p:cNvSpPr txBox="1"/>
          <p:nvPr/>
        </p:nvSpPr>
        <p:spPr>
          <a:xfrm>
            <a:off x="3525586" y="3622241"/>
            <a:ext cx="3746708" cy="43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dirty="0">
                <a:latin typeface="HY견명조" panose="02030600000101010101" pitchFamily="18" charset="-127"/>
                <a:ea typeface="HY견명조" panose="02030600000101010101" pitchFamily="18" charset="-127"/>
              </a:rPr>
              <a:t>FRAMEWORK Level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구조까지 제공해 일부만 제정의 혹은 설정하여 서비스 제작</a:t>
            </a:r>
            <a:endParaRPr lang="en-US" altLang="ko-KR" sz="9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95A3DC-90C1-4A6D-A5B9-B6813935CE11}"/>
              </a:ext>
            </a:extLst>
          </p:cNvPr>
          <p:cNvSpPr txBox="1"/>
          <p:nvPr/>
        </p:nvSpPr>
        <p:spPr>
          <a:xfrm>
            <a:off x="7523325" y="2849963"/>
            <a:ext cx="90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CGC.II.</a:t>
            </a:r>
            <a:endParaRPr lang="ko-KR" altLang="en-US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7CE019C-2BCE-4AF8-A5E5-E00EF2C9B68E}"/>
              </a:ext>
            </a:extLst>
          </p:cNvPr>
          <p:cNvSpPr/>
          <p:nvPr/>
        </p:nvSpPr>
        <p:spPr>
          <a:xfrm>
            <a:off x="8620331" y="1370408"/>
            <a:ext cx="949958" cy="230466"/>
          </a:xfrm>
          <a:prstGeom prst="roundRect">
            <a:avLst/>
          </a:prstGeom>
          <a:solidFill>
            <a:schemeClr val="bg1"/>
          </a:solidFill>
          <a:ln>
            <a:prstDash val="sysDot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winsock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 err="1">
                <a:solidFill>
                  <a:schemeClr val="tx1"/>
                </a:solidFill>
              </a:rPr>
              <a:t>api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2D2C180-47F5-486C-96DA-4B5DE53D4930}"/>
              </a:ext>
            </a:extLst>
          </p:cNvPr>
          <p:cNvSpPr/>
          <p:nvPr/>
        </p:nvSpPr>
        <p:spPr>
          <a:xfrm>
            <a:off x="7590081" y="3163850"/>
            <a:ext cx="1058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CGDK.system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CGDK.net.socket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CGDK.server.log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C4F9C41-515B-456B-A263-807391362ED6}"/>
              </a:ext>
            </a:extLst>
          </p:cNvPr>
          <p:cNvSpPr/>
          <p:nvPr/>
        </p:nvSpPr>
        <p:spPr>
          <a:xfrm>
            <a:off x="7590081" y="3680876"/>
            <a:ext cx="1197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CGDK.net.p2p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CGDK.server.group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CGDK.server.service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A57DB02-6327-4184-93C7-6923C62BB48B}"/>
              </a:ext>
            </a:extLst>
          </p:cNvPr>
          <p:cNvSpPr/>
          <p:nvPr/>
        </p:nvSpPr>
        <p:spPr>
          <a:xfrm>
            <a:off x="7590081" y="4398737"/>
            <a:ext cx="1377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CGDK.server.doss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CGDK.server.time_event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US" altLang="ko-KR" sz="800"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CGDK.server.admin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2FCA8B-A33E-4E89-8064-209158D751F4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About CGCII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82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2FCA8B-A33E-4E89-8064-209158D751F4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About CGCII</a:t>
            </a:r>
            <a:endParaRPr lang="ko-KR" altLang="en-US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C4F8193B-B26D-4DFB-9E30-35B4556D8F9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258540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1518574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732581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368206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53062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454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131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69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393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579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977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965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599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22EC70-2EC7-401B-BBF0-212DF69FEBCE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Why CGCII?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572A47-F593-4665-814C-90CD55A53A93}"/>
              </a:ext>
            </a:extLst>
          </p:cNvPr>
          <p:cNvSpPr txBox="1"/>
          <p:nvPr/>
        </p:nvSpPr>
        <p:spPr>
          <a:xfrm>
            <a:off x="1199660" y="1111876"/>
            <a:ext cx="6110416" cy="2620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성능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안정성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초대규모 동시 접속 능력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서버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 플랫폼 지원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강력한 </a:t>
            </a:r>
            <a:r>
              <a:rPr lang="ko-KR" altLang="en-US" sz="16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웹지원</a:t>
            </a: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77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성능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고성능 풀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TLS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사용한 풀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tcmalloc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보다도 월등한 성능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95402" y="2301039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더욱 향상된 다중코어 최적화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통합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쓰레드풀의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구현으로 최고의 쓰레드 효율 제공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락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(lock)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인한 비효율을 최소화 설계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코어가 많으면 많을 수록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락으로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인한 성능 손실문제가 커진다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3472994"/>
            <a:ext cx="9203634" cy="295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초고성능 소켓 </a:t>
            </a:r>
            <a:r>
              <a:rPr lang="en-US" altLang="ko-KR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i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/o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iocp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epoll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최적화하여 구현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/o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역시 최적화 알고리즘으로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iocp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수준의 성능을 구현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고효율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send gathering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 적용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Host 4GHz 4core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 경우 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⇒ 100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8Byte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송수신 초당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억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5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천만 수준의 성능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⇒ 50,000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8Byte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송수신 초당 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소켓당 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1,000</a:t>
            </a: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수준의 성능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⇒ 200,000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접속시도 채팅서버의 동작이 가능한 수준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코어 수가 많으면 그만큼 비례해 성능 증가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3528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886185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각종 </a:t>
            </a:r>
            <a:r>
              <a:rPr lang="en-US" altLang="ko-KR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i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/o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처리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최적화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File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/o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에도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알고리즘을 적용해 압도적 성능 향상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console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화면 출력 역시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알고리즘을 적용해 압도적 성능 향상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87161" y="3042438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고효율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스케쥴러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time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event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처리를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폴링방식이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아닌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priority queue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고효율화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8C00E-01AD-4D3B-9B4E-97BA25D034BE}"/>
              </a:ext>
            </a:extLst>
          </p:cNvPr>
          <p:cNvSpPr txBox="1"/>
          <p:nvPr/>
        </p:nvSpPr>
        <p:spPr>
          <a:xfrm>
            <a:off x="1287160" y="649348"/>
            <a:ext cx="10167553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짧은 </a:t>
            </a:r>
            <a:r>
              <a:rPr lang="en-US" altLang="ko-KR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tcp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소켓 </a:t>
            </a:r>
            <a:r>
              <a:rPr lang="en-US" altLang="ko-KR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i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/o delay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송수신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through-put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향상시키기 위해 송수신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delay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주어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처리하는 경우가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gathering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처리를 하면서도 송수신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delay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주지 않도록 하는 알고리즘 사용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018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안정성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6EBF0C-1B3C-41C0-BDD5-438498059C61}"/>
              </a:ext>
            </a:extLst>
          </p:cNvPr>
          <p:cNvSpPr txBox="1"/>
          <p:nvPr/>
        </p:nvSpPr>
        <p:spPr>
          <a:xfrm>
            <a:off x="1331847" y="1104262"/>
            <a:ext cx="7056782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초고부하 내성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초고부하에 견디기 위해서는 그만큼의 안정성이 필요하다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 쏠림 최소화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 적응형 알고리즘 적용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A9883D-66CE-4CFF-9492-B91FD5B07C41}"/>
              </a:ext>
            </a:extLst>
          </p:cNvPr>
          <p:cNvSpPr txBox="1"/>
          <p:nvPr/>
        </p:nvSpPr>
        <p:spPr>
          <a:xfrm>
            <a:off x="1331847" y="2574131"/>
            <a:ext cx="9203634" cy="16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완벽한 접속 종료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서버의 오류 혹은 다운의 상당 비중이 접속 종료 처리시의 문제인 경우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Graceful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close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Abortive close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모두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케이스를 고려한 정확한 접속 종료 처리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제대로 처리를 하지 못하면 고스트 소켓 발생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오류 소켓들에 대한 적절한 처리 필요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.(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ulimits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connect reset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A4D3D0-4357-40A1-9E42-A2696ECD0580}"/>
              </a:ext>
            </a:extLst>
          </p:cNvPr>
          <p:cNvSpPr txBox="1"/>
          <p:nvPr/>
        </p:nvSpPr>
        <p:spPr>
          <a:xfrm>
            <a:off x="1323606" y="4431767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i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/o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쓰로틀링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능력을 초과한 소켓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/o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요구될 경우 실패 혹은 접속 종료 처리를 해 서버의 안정성을 확보한다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37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E3CA2-BDAC-43F3-B3C2-25E3BB75947B}"/>
              </a:ext>
            </a:extLst>
          </p:cNvPr>
          <p:cNvSpPr txBox="1"/>
          <p:nvPr/>
        </p:nvSpPr>
        <p:spPr>
          <a:xfrm>
            <a:off x="1354139" y="713409"/>
            <a:ext cx="10609523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강한 예외 안전 보장 지원 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서버의 정합성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(consistency)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처리의 기반이 되는 핵심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엔진의 모든 로직이 강한 예외안전 보장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(Strong exception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safty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guarantee)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보장하도록 설계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어떤 상황에서 예외가 발생하더라도 완벽하게 롤백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(roll-back)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처리가 되어 지속적으로 서버가 동작할 수 있도록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439E9-239D-475B-9980-3CABAB399CDC}"/>
              </a:ext>
            </a:extLst>
          </p:cNvPr>
          <p:cNvSpPr txBox="1"/>
          <p:nvPr/>
        </p:nvSpPr>
        <p:spPr>
          <a:xfrm>
            <a:off x="1354140" y="2193225"/>
            <a:ext cx="10485782" cy="16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다운 당하지 않는 서버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잘못된 포인터를 접근하거나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0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나누거나 해서 발생하는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차원에서의 예외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서버를 비정상 종료 시킬 수 있는 예외가 발생해도 서버는 다운되지 않는다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 내부적으로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SEH(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Structred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Exception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Handling)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혹은  시그널을 처리해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차원에서의 예외가 발생하면 자동적으로 덤프를 남긴 후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예외로 던져 처리를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롤백하거나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정상적으로 종료할 수 있는 기회 제공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70FA24-4E41-4C69-AF6A-CCE07F3027A8}"/>
              </a:ext>
            </a:extLst>
          </p:cNvPr>
          <p:cNvSpPr txBox="1"/>
          <p:nvPr/>
        </p:nvSpPr>
        <p:spPr>
          <a:xfrm>
            <a:off x="1331846" y="3971295"/>
            <a:ext cx="10157791" cy="1980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순차적 소켓 이벤트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 지향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tcp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경우 처리의 송수신 순서와 접속과 종료 처리의 순차화 처리가 필요하다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다중 코어 다중 쓰레드가 일반화 되면서 이로 인한 오류가 상당수를 차지한다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예를 들어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나중에 받은 메시지가 다른 쓰레드에서 먼저 받은 메시지보다 먼저 처리되는 경우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on_connect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중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on_message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호출되거나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on_close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()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다른 쓰레드에서 호출되는 경우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449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초대규모 동시 접속 능력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E6BD7-2F89-4765-9333-1159CE25240D}"/>
              </a:ext>
            </a:extLst>
          </p:cNvPr>
          <p:cNvSpPr txBox="1"/>
          <p:nvPr/>
        </p:nvSpPr>
        <p:spPr>
          <a:xfrm>
            <a:off x="1331843" y="1141333"/>
            <a:ext cx="7056782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10K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를 넘어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10M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접속 능력이 목표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천만 동시접속 능력을 구현하기 위해 다양한 최적화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 쏠림 최소화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부하 적응형 알고리즘 적용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(gathering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7E2B4-8F10-4025-9958-13D98B2C5613}"/>
              </a:ext>
            </a:extLst>
          </p:cNvPr>
          <p:cNvSpPr txBox="1"/>
          <p:nvPr/>
        </p:nvSpPr>
        <p:spPr>
          <a:xfrm>
            <a:off x="1335158" y="3755691"/>
            <a:ext cx="891208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소켓당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매모리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사용량 최적화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성능을 올리거나 더 큰 메시지를 받기 위해서는 더 큰 송수신 버퍼들이 필요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가변형 메모리 사용량 알고리즘을 적용하여 소켓당 최소 사용 메모리를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4kbyte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수준으로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최소화했으면도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고성능과 수십 수백메가 단위의 메시지도 받을 수 있도록 구현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D3D7C2-10ED-4090-9664-2BCF1D85A9BE}"/>
              </a:ext>
            </a:extLst>
          </p:cNvPr>
          <p:cNvSpPr txBox="1"/>
          <p:nvPr/>
        </p:nvSpPr>
        <p:spPr>
          <a:xfrm>
            <a:off x="1328533" y="5208506"/>
            <a:ext cx="9992135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무동작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무부하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소켓이 송신과 수신 등 동작을 하지 않아도  존재하는 것만으로 부하를 잡아먹는 경우는 초대규모 접속 능력을 위해서는 있어서는 안된다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동작을 하지 않을 시에는 아무런 부하를 먹지 않는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무동작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무부하를 구현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1A905-5048-4AD4-B620-5449DAEBE16B}"/>
              </a:ext>
            </a:extLst>
          </p:cNvPr>
          <p:cNvSpPr txBox="1"/>
          <p:nvPr/>
        </p:nvSpPr>
        <p:spPr>
          <a:xfrm>
            <a:off x="1335158" y="2611857"/>
            <a:ext cx="891208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비동기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accept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처리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소켓의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accept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처리를 비동기 처리해 접속 효율을 높임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acceptEx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epoll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71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압도적 안정성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재접속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기능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재접속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간격 설정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다목표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순환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재접속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기능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95402" y="2276325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소켓 튜닝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소켓 튜닝 파라미터들이 존재해 필요에 따라 최적의 설정으로 튜닝이 가능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최대 전송 버퍼 크기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최대 메시지 크기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최대 송신 지연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메시지수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바이트수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기타 등등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튜닝 파라미터들은 기본적으로는 자동 설정되므로 필요시에만 설정하면 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68069" y="3677863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개당된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컴퍼넌트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조합 구조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소켓을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6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layer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인터페이스로 구현하여 필요에 따라 다양한 소켓 구현이 가능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독자적인 프로토콜을 사용하고 싶다면 해당 레이어만 조합해 사용이 가능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6806F-48E9-4FD3-A748-1222BB1CD813}"/>
              </a:ext>
            </a:extLst>
          </p:cNvPr>
          <p:cNvSpPr txBox="1"/>
          <p:nvPr/>
        </p:nvSpPr>
        <p:spPr>
          <a:xfrm>
            <a:off x="1268069" y="4755327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기타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훅함수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암호화 소켓 송수신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http/https/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wss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웹관련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서버와 클라이언트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711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마법같은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 직렬화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구조체 직렬화 기능 제공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(C++)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번거러운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메시지 구조 정의나 컴파일 과정 없이 단지 구조체의 정의만으로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마법같은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직렬화가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Static reflection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구현해 구조체 정의만으로 직렬화를 정의할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95402" y="2276325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Reflection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을 사용한 직렬화 기능 제공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역시 구조체 정의만으로 직렬화가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reflection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기능을 사용해 직렬화가 구현되었다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68069" y="3665506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복잡화된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다계층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데이터의 직렬화 가능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구좆체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직렬화로 매우 복잡하거나 큰 규모의 메시지 정의도 손쉽게 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구조체 직렬화로 구조체 안에 구조가 포함된 다층의 복잡한 메시지 역시 손쉽게 직렬화가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0901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443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서버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 플랫폼 지원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C++, C# 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언어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용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CGDK10.C++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용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제공한다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593B6-6576-4CCC-83C1-15680DE1A7DE}"/>
              </a:ext>
            </a:extLst>
          </p:cNvPr>
          <p:cNvSpPr txBox="1"/>
          <p:nvPr/>
        </p:nvSpPr>
        <p:spPr>
          <a:xfrm>
            <a:off x="1295402" y="2029189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윈도우와 리눅스 서버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서버의 크로스 플랫폼 지원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동일한 소스로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Windows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linux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컴파일해 실행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4436824"/>
            <a:ext cx="9203634" cy="16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클라이언트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특정 프로토콜만 지원하는 것이 아니기 때문에 특별한 클라이언트 모듈이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필요없다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따라서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C++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사용할 수 있는 모든 클라이언트를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Unreal 3D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위해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Fsocket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사용한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CGDK10.Fsocket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Unity 3D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CGDK10.C#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3242331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프로토콜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메시지 처리를 재정의 가능해 어떤 프로토콜도 지원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기본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프로토콜뿐만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아니라 사용자 정의 프로토콜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웹프로토콜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protobuf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도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사용가능하다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6344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강력한 통계 정보 제공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10001720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내부 데이터들에 대한 통계 정보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객체의 할당과 해제 쓰레드의 동작 상황 등등 모든 내부 처리에 대한 통계 정보가 제공된다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소켓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i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/o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송수신 정보에 대해 소켓별로 통계 정보를 얻을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전송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바이트수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전송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메시지수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수신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메시지수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수신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바이트수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접속시간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마지막 송신시간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마지막 수신 시간 등등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4053760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관리툴과의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연동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admin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시스템을 통해 통계 정보를 연동해 전달받을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2661559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에러 및 예외 발생시 통보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서버에 치명적인 오류가 발생해 덤프가 남거나 기타 심각한 오류가 발생하면 그 정보를 다양한 경로로 통보해줄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0448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강력한 </a:t>
            </a:r>
            <a:r>
              <a:rPr lang="ko-KR" altLang="en-US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웹지원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1120072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웹프로토콜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웹의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프로토콜을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SSL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사용해 암호화 소켓을 즉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https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/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wss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웹소켓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프로토콜을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3645986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웹서비스와 강력한 연동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CGCII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강력한 웹서비스 지원은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웹기술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기반의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devops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와의 연동을 가능하게 해준다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앱스토어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구글플레이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은행망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비트코인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까지 </a:t>
            </a: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Oauth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기반으로한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웹서비스들과 연동을 지원한다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2661559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자체 웹서버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웹클라이언트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뿐만 아니라 웹서버 구현이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0574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풍부한 </a:t>
            </a:r>
            <a:r>
              <a:rPr lang="ko-KR" altLang="en-US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4F43C4-B6F0-49EE-A406-F7B80C21BA1E}"/>
              </a:ext>
            </a:extLst>
          </p:cNvPr>
          <p:cNvSpPr txBox="1"/>
          <p:nvPr/>
        </p:nvSpPr>
        <p:spPr>
          <a:xfrm>
            <a:off x="1341783" y="2948874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바로 사용할 수 있는 수준의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튜터리얼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튜터리얼의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소스를 그대로 활용해 개발도 가능하다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2432DE-C8A3-4440-92E0-E307A03A2090}"/>
              </a:ext>
            </a:extLst>
          </p:cNvPr>
          <p:cNvSpPr txBox="1"/>
          <p:nvPr/>
        </p:nvSpPr>
        <p:spPr>
          <a:xfrm>
            <a:off x="1295402" y="3843696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예제 소스 제공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실제 서비스에 사용할 수 있을 정도로 구현된 예제 소스들을 제공한다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1327023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풍부한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튜터리얼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엔진의 기능을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튜터리얼을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통해 제공한다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분야를 나눠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수십여개의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프로젝트를 제공한다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튜터리얼을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차례로 학습함으로써 쉽게 엔진을 익힐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5944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관리 시스템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2117859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실시간 모니터링을 위한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 내의 각종 동작과 통계 정보를 실시간으로 확인할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내장 웹서버로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웹브라우저를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통한 실시간 동작과 통계 정보 그리고 제어를 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0EAC0E-4E6E-432A-B49F-FAB9E421FD31}"/>
              </a:ext>
            </a:extLst>
          </p:cNvPr>
          <p:cNvSpPr txBox="1"/>
          <p:nvPr/>
        </p:nvSpPr>
        <p:spPr>
          <a:xfrm>
            <a:off x="1278921" y="1145790"/>
            <a:ext cx="9203634" cy="688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통합 중앙 관리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Admin server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사용해 많은 서버들의 시작과 종료 시작 파라미터 상태 정보 등을 통제 관리할 수 있다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4878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기타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375D3-71A5-4F8A-885C-3B9BCFB2DFED}"/>
              </a:ext>
            </a:extLst>
          </p:cNvPr>
          <p:cNvSpPr txBox="1"/>
          <p:nvPr/>
        </p:nvSpPr>
        <p:spPr>
          <a:xfrm>
            <a:off x="1287161" y="1327023"/>
            <a:ext cx="9203634" cy="2627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다양한 서버 기능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group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time_event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분산 처리 지원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로그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쿼리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Redis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쿼리 시스템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3972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1104483" y="2973320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License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7756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 라이선스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DDD579-DB70-43B8-B9DD-8DB3C63CE1AE}"/>
              </a:ext>
            </a:extLst>
          </p:cNvPr>
          <p:cNvSpPr txBox="1"/>
          <p:nvPr/>
        </p:nvSpPr>
        <p:spPr>
          <a:xfrm>
            <a:off x="1653837" y="1326003"/>
            <a:ext cx="3968487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type.1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프로젝트별 라이센스 구매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 단위 혹은 다년 단위 계약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무기한 라이선스 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⇒ 4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년치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라이선스료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0C555-87B9-4977-A949-3FEF860DCB06}"/>
              </a:ext>
            </a:extLst>
          </p:cNvPr>
          <p:cNvSpPr txBox="1"/>
          <p:nvPr/>
        </p:nvSpPr>
        <p:spPr>
          <a:xfrm>
            <a:off x="1657151" y="2700912"/>
            <a:ext cx="9203634" cy="1011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type.2 </a:t>
            </a:r>
            <a:r>
              <a:rPr lang="ko-KR" altLang="en-US" sz="1400" dirty="0" err="1">
                <a:latin typeface="HY견명조" panose="02030600000101010101" pitchFamily="18" charset="-127"/>
                <a:ea typeface="HY견명조" panose="02030600000101010101" pitchFamily="18" charset="-127"/>
              </a:rPr>
              <a:t>머신별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 라이센스 구매 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(</a:t>
            </a:r>
            <a:r>
              <a:rPr lang="ko-KR" altLang="en-US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예정</a:t>
            </a: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)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특정 머신 전용 라이선스 발행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 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HY신명조" panose="02030600000101010101" pitchFamily="18" charset="-127"/>
                <a:ea typeface="HY신명조" panose="02030600000101010101" pitchFamily="18" charset="-127"/>
              </a:rPr>
              <a:t>개발자 라이선스 혹은</a:t>
            </a:r>
            <a:r>
              <a:rPr lang="en-US" altLang="ko-KR" sz="14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최대접속 허용 수에 따른 차등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라이센스료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20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3EECA7-FA4E-4060-B5EA-20A6EB7963A5}"/>
              </a:ext>
            </a:extLst>
          </p:cNvPr>
          <p:cNvSpPr txBox="1"/>
          <p:nvPr/>
        </p:nvSpPr>
        <p:spPr>
          <a:xfrm>
            <a:off x="804309" y="618896"/>
            <a:ext cx="3253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개발 지원 컨설팅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A8592-6D68-47AE-93E1-86408F7498B0}"/>
              </a:ext>
            </a:extLst>
          </p:cNvPr>
          <p:cNvSpPr txBox="1"/>
          <p:nvPr/>
        </p:nvSpPr>
        <p:spPr>
          <a:xfrm>
            <a:off x="1654372" y="1323782"/>
            <a:ext cx="9203634" cy="1657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type.1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엔진을 사용한 개발 </a:t>
            </a: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온오프라인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코드 리뷰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엔진 및 서버 개발 교육을 통한 개발팀 및 인력 구축 지원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건별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혹은 기간별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B1188-E403-4A87-A94A-95B851413922}"/>
              </a:ext>
            </a:extLst>
          </p:cNvPr>
          <p:cNvSpPr txBox="1"/>
          <p:nvPr/>
        </p:nvSpPr>
        <p:spPr>
          <a:xfrm>
            <a:off x="1667626" y="3076377"/>
            <a:ext cx="9203634" cy="133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HY견명조" panose="02030600000101010101" pitchFamily="18" charset="-127"/>
                <a:ea typeface="HY견명조" panose="02030600000101010101" pitchFamily="18" charset="-127"/>
              </a:rPr>
              <a:t>type.2</a:t>
            </a:r>
            <a:endParaRPr lang="en-US" altLang="ko-KR" sz="14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프로젝트 초기 설계 및 개발 주도적 지원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프로젝트 개발 지원 내역 설정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후 진행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82563" indent="-1825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기간별 계약</a:t>
            </a:r>
            <a:r>
              <a:rPr lang="en-US" altLang="ko-KR" sz="14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6968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0957007" y="297332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9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16263</TotalTime>
  <Words>1888</Words>
  <Application>Microsoft Office PowerPoint</Application>
  <PresentationFormat>와이드스크린</PresentationFormat>
  <Paragraphs>280</Paragraphs>
  <Slides>22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HY견명조</vt:lpstr>
      <vt:lpstr>HY신명조</vt:lpstr>
      <vt:lpstr>나눔명조</vt:lpstr>
      <vt:lpstr>나눔명조 ExtraBold</vt:lpstr>
      <vt:lpstr>맑은 고딕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조상현</dc:creator>
  <cp:lastModifiedBy>조 상현</cp:lastModifiedBy>
  <cp:revision>3531</cp:revision>
  <dcterms:created xsi:type="dcterms:W3CDTF">2016-03-23T14:08:17Z</dcterms:created>
  <dcterms:modified xsi:type="dcterms:W3CDTF">2021-12-15T14:33:05Z</dcterms:modified>
</cp:coreProperties>
</file>