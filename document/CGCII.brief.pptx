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07" r:id="rId2"/>
    <p:sldId id="412" r:id="rId3"/>
    <p:sldId id="431" r:id="rId4"/>
    <p:sldId id="425" r:id="rId5"/>
    <p:sldId id="427" r:id="rId6"/>
    <p:sldId id="439" r:id="rId7"/>
    <p:sldId id="432" r:id="rId8"/>
    <p:sldId id="440" r:id="rId9"/>
    <p:sldId id="434" r:id="rId10"/>
    <p:sldId id="436" r:id="rId11"/>
    <p:sldId id="433" r:id="rId12"/>
    <p:sldId id="438" r:id="rId13"/>
    <p:sldId id="428" r:id="rId14"/>
    <p:sldId id="442" r:id="rId15"/>
    <p:sldId id="441" r:id="rId16"/>
    <p:sldId id="396" r:id="rId17"/>
    <p:sldId id="419" r:id="rId18"/>
    <p:sldId id="415" r:id="rId19"/>
    <p:sldId id="416" r:id="rId20"/>
    <p:sldId id="403" r:id="rId21"/>
    <p:sldId id="406" r:id="rId22"/>
    <p:sldId id="407" r:id="rId23"/>
    <p:sldId id="404" r:id="rId24"/>
    <p:sldId id="422" r:id="rId25"/>
    <p:sldId id="417" r:id="rId26"/>
    <p:sldId id="418" r:id="rId27"/>
    <p:sldId id="420" r:id="rId28"/>
    <p:sldId id="421" r:id="rId29"/>
    <p:sldId id="424" r:id="rId30"/>
    <p:sldId id="423" r:id="rId31"/>
    <p:sldId id="324" r:id="rId32"/>
    <p:sldId id="410" r:id="rId33"/>
    <p:sldId id="405" r:id="rId34"/>
    <p:sldId id="326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CCFF"/>
    <a:srgbClr val="FFFFCC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9" autoAdjust="0"/>
    <p:restoredTop sz="94906" autoAdjust="0"/>
  </p:normalViewPr>
  <p:slideViewPr>
    <p:cSldViewPr snapToGrid="0">
      <p:cViewPr>
        <p:scale>
          <a:sx n="100" d="100"/>
          <a:sy n="100" d="100"/>
        </p:scale>
        <p:origin x="90" y="9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778DE-9D94-4E5D-91B3-7EC0AD5E216C}" type="datetimeFigureOut">
              <a:rPr lang="ko-KR" altLang="en-US" smtClean="0"/>
              <a:t>2021-12-08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0D906-180E-40CD-8333-E002C5FAAA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751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269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835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231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912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749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389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232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955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167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022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9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8387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3545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521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0602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7050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0132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182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7062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1407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080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81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9079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8334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2383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8617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2564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6898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8289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9416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062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98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73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801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659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061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492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996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54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494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41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64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9A752-C760-47B0-9E93-7E995F39D971}" type="datetimeFigureOut">
              <a:rPr lang="ko-KR" altLang="en-US" smtClean="0"/>
              <a:t>2021-12-08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879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angduck@cgcii.co.k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" name="TextBox 4"/>
          <p:cNvSpPr txBox="1"/>
          <p:nvPr/>
        </p:nvSpPr>
        <p:spPr>
          <a:xfrm>
            <a:off x="9971612" y="956773"/>
            <a:ext cx="1830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/>
              <a:t>CGC.II.</a:t>
            </a:r>
            <a:endParaRPr lang="ko-KR" altLang="en-US" sz="44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8FDF70C-B021-404D-BCC9-6804D0FC60AF}"/>
              </a:ext>
            </a:extLst>
          </p:cNvPr>
          <p:cNvCxnSpPr>
            <a:cxnSpLocks/>
          </p:cNvCxnSpPr>
          <p:nvPr/>
        </p:nvCxnSpPr>
        <p:spPr>
          <a:xfrm>
            <a:off x="10839450" y="5366421"/>
            <a:ext cx="0" cy="471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4B20AC2-C96D-4DB1-B3F8-1F0E715D1643}"/>
              </a:ext>
            </a:extLst>
          </p:cNvPr>
          <p:cNvSpPr txBox="1"/>
          <p:nvPr/>
        </p:nvSpPr>
        <p:spPr>
          <a:xfrm>
            <a:off x="9810512" y="5366421"/>
            <a:ext cx="8066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/>
              <a:t>2021.11.19</a:t>
            </a:r>
            <a:endParaRPr lang="ko-KR" altLang="en-US" sz="10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9572559-C5DA-471E-A8D0-A16578C0ED0B}"/>
              </a:ext>
            </a:extLst>
          </p:cNvPr>
          <p:cNvCxnSpPr>
            <a:cxnSpLocks/>
          </p:cNvCxnSpPr>
          <p:nvPr/>
        </p:nvCxnSpPr>
        <p:spPr>
          <a:xfrm>
            <a:off x="9467850" y="5366421"/>
            <a:ext cx="0" cy="471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5C48886-2E41-4631-9EED-E5C14FA70D33}"/>
              </a:ext>
            </a:extLst>
          </p:cNvPr>
          <p:cNvSpPr txBox="1"/>
          <p:nvPr/>
        </p:nvSpPr>
        <p:spPr>
          <a:xfrm>
            <a:off x="10984213" y="5366421"/>
            <a:ext cx="10327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/>
              <a:t>Cho </a:t>
            </a:r>
            <a:r>
              <a:rPr lang="en-US" altLang="ko-KR" sz="1000" dirty="0" err="1"/>
              <a:t>Sanghyun</a:t>
            </a:r>
            <a:endParaRPr lang="en-US" altLang="ko-KR" sz="1000" dirty="0"/>
          </a:p>
          <a:p>
            <a:pPr algn="r"/>
            <a:r>
              <a:rPr lang="ko-KR" altLang="en-US" sz="1000" dirty="0"/>
              <a:t>조상현</a:t>
            </a:r>
            <a:endParaRPr lang="en-US" altLang="ko-KR" sz="1000" dirty="0"/>
          </a:p>
          <a:p>
            <a:pPr algn="r"/>
            <a:r>
              <a:rPr lang="ko-KR" altLang="en-US" sz="1000" dirty="0"/>
              <a:t>曺尙鉉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5E2340-EDC1-4DA3-BF9E-02AD0D0065F8}"/>
              </a:ext>
            </a:extLst>
          </p:cNvPr>
          <p:cNvSpPr txBox="1"/>
          <p:nvPr/>
        </p:nvSpPr>
        <p:spPr>
          <a:xfrm>
            <a:off x="7669780" y="5366421"/>
            <a:ext cx="1564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/>
              <a:t>CGCII.</a:t>
            </a:r>
          </a:p>
          <a:p>
            <a:pPr algn="r"/>
            <a:r>
              <a:rPr lang="en-US" altLang="ko-KR" sz="1000" dirty="0"/>
              <a:t>version 10.0</a:t>
            </a:r>
            <a:endParaRPr lang="ko-KR" alt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1766A6-09A0-4715-80F8-6831D5E15679}"/>
              </a:ext>
            </a:extLst>
          </p:cNvPr>
          <p:cNvSpPr txBox="1"/>
          <p:nvPr/>
        </p:nvSpPr>
        <p:spPr>
          <a:xfrm>
            <a:off x="9897762" y="5987660"/>
            <a:ext cx="20847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/>
              <a:t>TEL. 010-2914-1628</a:t>
            </a:r>
          </a:p>
          <a:p>
            <a:pPr algn="r"/>
            <a:r>
              <a:rPr lang="en-US" altLang="ko-KR" sz="1000" dirty="0">
                <a:hlinkClick r:id="rId2"/>
              </a:rPr>
              <a:t>sangduck@cgcii.co.kr</a:t>
            </a:r>
            <a:endParaRPr lang="en-US" altLang="ko-KR" sz="1000" dirty="0"/>
          </a:p>
          <a:p>
            <a:pPr algn="r"/>
            <a:r>
              <a:rPr lang="en-US" altLang="ko-KR" sz="1000" dirty="0"/>
              <a:t>cgciisangduck@gmail.com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30356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2EC70-2EC7-401B-BBF0-212DF69FEBCE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About CGCII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3CCEE7-718E-4F51-B325-2FCCFD7D2FE3}"/>
              </a:ext>
            </a:extLst>
          </p:cNvPr>
          <p:cNvSpPr txBox="1"/>
          <p:nvPr/>
        </p:nvSpPr>
        <p:spPr>
          <a:xfrm>
            <a:off x="1843841" y="2069903"/>
            <a:ext cx="8640000" cy="603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1998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년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 Network Solution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개발로 시작된 다양한 프로젝트 적용 경험과 수상을 기록했습니다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CGC.II.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이를 이어 받아 새로이 개발되어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2003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년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1.0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릴리즈하였습니다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2789A1-105D-42CB-9BF5-D293DFBB7885}"/>
              </a:ext>
            </a:extLst>
          </p:cNvPr>
          <p:cNvSpPr txBox="1"/>
          <p:nvPr/>
        </p:nvSpPr>
        <p:spPr>
          <a:xfrm>
            <a:off x="1843841" y="2984397"/>
            <a:ext cx="8640000" cy="880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CGC.II.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MMORPG, FPS,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모바일 액션 게임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모바일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RPG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같은 게임 뿐만 아니라 </a:t>
            </a:r>
            <a:b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보이스 채팅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비트코인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거래 시스템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보안 시스템용 통신 모듈 등등 다양한 프로젝트에 채용되어 왔습니다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CGC.II.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40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여개가 넘는 프로젝트에 적용되며 지속적으로 업그레이드하여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2022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년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10.0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버전을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릴리즈하게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되었습니다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EDB4B3-1924-47C1-A288-C63170B71E90}"/>
              </a:ext>
            </a:extLst>
          </p:cNvPr>
          <p:cNvSpPr txBox="1"/>
          <p:nvPr/>
        </p:nvSpPr>
        <p:spPr>
          <a:xfrm>
            <a:off x="1867034" y="1445171"/>
            <a:ext cx="8616807" cy="404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CGC.II.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게임 서버 및 다양한 서버 제작을 위한 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고성능 </a:t>
            </a:r>
            <a:r>
              <a:rPr lang="ko-KR" altLang="en-US" sz="16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고안정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서버 엔진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입니다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1FDB295-E3EC-4EB9-A015-296B2F98162E}"/>
              </a:ext>
            </a:extLst>
          </p:cNvPr>
          <p:cNvCxnSpPr>
            <a:cxnSpLocks/>
          </p:cNvCxnSpPr>
          <p:nvPr/>
        </p:nvCxnSpPr>
        <p:spPr>
          <a:xfrm>
            <a:off x="1834980" y="2001619"/>
            <a:ext cx="864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89C5CCF-9885-4136-9460-4A97ED6E8A53}"/>
              </a:ext>
            </a:extLst>
          </p:cNvPr>
          <p:cNvCxnSpPr>
            <a:cxnSpLocks/>
          </p:cNvCxnSpPr>
          <p:nvPr/>
        </p:nvCxnSpPr>
        <p:spPr>
          <a:xfrm>
            <a:off x="1834980" y="2920142"/>
            <a:ext cx="864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73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2EC70-2EC7-401B-BBF0-212DF69FEBCE}"/>
              </a:ext>
            </a:extLst>
          </p:cNvPr>
          <p:cNvSpPr txBox="1"/>
          <p:nvPr/>
        </p:nvSpPr>
        <p:spPr>
          <a:xfrm>
            <a:off x="69707" y="816895"/>
            <a:ext cx="1655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About CGCII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EDB4B3-1924-47C1-A288-C63170B71E90}"/>
              </a:ext>
            </a:extLst>
          </p:cNvPr>
          <p:cNvSpPr txBox="1"/>
          <p:nvPr/>
        </p:nvSpPr>
        <p:spPr>
          <a:xfrm>
            <a:off x="1763871" y="2195755"/>
            <a:ext cx="8616807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콘텐츠 개발에만 집중하세요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0D41AB-D345-4D5F-B037-D0951D7ED1A3}"/>
              </a:ext>
            </a:extLst>
          </p:cNvPr>
          <p:cNvSpPr txBox="1"/>
          <p:nvPr/>
        </p:nvSpPr>
        <p:spPr>
          <a:xfrm>
            <a:off x="2113825" y="2456307"/>
            <a:ext cx="8640000" cy="986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실시간 서버 혹은 온라인 게임서버의 개발을 위해서는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저수준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i/o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부터 대규모 스케일 아웃 기술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게임 서버 동기화 기술 등등 수많은 기술들에 대한 높은 수준의 이해가 필요 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또 고성능과 안정성까지 얻으려면 많은 개발 인력과 노력 그리고 시간이 필요합니다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또 이런 노력과 비용을 지불한다 해도 확보한다는 보장도 없습니다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이제 이런 것들은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에게 맡겨 주시고 본연의 서버 개발에만 집중하세요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고성능과 고안정성의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executor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네트워크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모듈뿐만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아니라 메모리풀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파일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로그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통계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압축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암호화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DB, Redis,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웹서버 등등 실시간 서버 개발에 필요한 모듈들을 수많은 경험과 검증 과정을 통해 효율적으로 통합해 놓았습니다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BC6D04-1C93-41EE-B869-490F51FCDF8A}"/>
              </a:ext>
            </a:extLst>
          </p:cNvPr>
          <p:cNvSpPr txBox="1"/>
          <p:nvPr/>
        </p:nvSpPr>
        <p:spPr>
          <a:xfrm>
            <a:off x="1763871" y="4979419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 비용을 절약해 드립니다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359CB4-1AC7-4BE2-946C-61EDFEEF6D68}"/>
              </a:ext>
            </a:extLst>
          </p:cNvPr>
          <p:cNvSpPr txBox="1"/>
          <p:nvPr/>
        </p:nvSpPr>
        <p:spPr>
          <a:xfrm>
            <a:off x="2113825" y="5247833"/>
            <a:ext cx="8640000" cy="617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2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 운용할 서비스를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대로 줄일 수 있다면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?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10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 운용할 서비스를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대로 줄일 수 있다면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클라우드 환경에서는 성능은 비용과 직결됩니다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압도적 성능과 압도적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안정성 그리고 압도적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동시접속 처리 능력으로 운용 서버 대수를 최소화 시켜 비용을 최소화할 수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294841-263C-4164-BB07-DC9A7228E1BD}"/>
              </a:ext>
            </a:extLst>
          </p:cNvPr>
          <p:cNvSpPr txBox="1"/>
          <p:nvPr/>
        </p:nvSpPr>
        <p:spPr>
          <a:xfrm>
            <a:off x="1763871" y="3494107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서버에 안정을 드립니다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1D9854-CAA0-48ED-8C04-EFC8D2332A70}"/>
              </a:ext>
            </a:extLst>
          </p:cNvPr>
          <p:cNvSpPr txBox="1"/>
          <p:nvPr/>
        </p:nvSpPr>
        <p:spPr>
          <a:xfrm>
            <a:off x="2113825" y="3770613"/>
            <a:ext cx="8640000" cy="1171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 성능의 문제 그리고 실시간 서버 서비스 중 발생하는 원인 불명의 오류나 다운 현상의 상당 수는 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i/o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 등 엔진 모듈의 불안정성으로 인한 것이라 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단 한번의 다운에도 치명적일 수 있는 실시간 서버에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최고 수준의 안정적 기반을 제공해 줄 수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서버 및 네트워크환경에서 발생하는 수많은 다양한 오류와 예외 상황에 대한 대응이 구현되어 있으며 수많은 테스트를 통해 공고하게 다듬어져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초고부하 상황에서도 최대한의 안정성을 보장해주는 다양한 알고리즘과 기능들을 갖추고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강한 예외 안정 보장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(Strong exception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safty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guarantee)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 구현되어 어떤 상황에서 예외에도 안정적 처리를 가능하게 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SEH (Structured Exception Handle)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사용해 치명적인 오류나 예외가 발생해도 서버 다운 없이 안정적인 처리가 가능하도록 해줍니다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endParaRPr lang="en-US" altLang="ko-KR" sz="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21151C-171E-4D52-979F-04AA48174150}"/>
              </a:ext>
            </a:extLst>
          </p:cNvPr>
          <p:cNvSpPr txBox="1"/>
          <p:nvPr/>
        </p:nvSpPr>
        <p:spPr>
          <a:xfrm>
            <a:off x="1763871" y="874175"/>
            <a:ext cx="8616807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최고의 실시간 서버 엔진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최선의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MMO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게임 서버엔진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261A4B-4B35-4CB4-9D3D-2BD3C68D1316}"/>
              </a:ext>
            </a:extLst>
          </p:cNvPr>
          <p:cNvSpPr txBox="1"/>
          <p:nvPr/>
        </p:nvSpPr>
        <p:spPr>
          <a:xfrm>
            <a:off x="2113825" y="1157779"/>
            <a:ext cx="8640000" cy="986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실시간 서버 혹은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MMO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게임 서버 들은 웹과 같은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무상태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(stateless)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기반의 서버와는 특성과 요구 성능에 많은 차이가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태생부터 최대한의 많은 동시접속자와 고부하를 견디는 초고안정성을 요구하는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MMO(Massive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Multiplay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Online)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게임에 최적화되어 개발되어 여러 서비스에 사용되며 발전해 왔습니다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극한의 동시 접속자와 극한의 성능을 위해 다양한 알고리즘이 적용되었습니다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최고의 안정성을 위해 예외 안전 처리와 네트워크 상에 발생하는 수많은 예외 상황에 대한 처리도 적용되었습니다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449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148BAE-DDE0-47C2-9C82-883353D36920}"/>
              </a:ext>
            </a:extLst>
          </p:cNvPr>
          <p:cNvSpPr txBox="1"/>
          <p:nvPr/>
        </p:nvSpPr>
        <p:spPr>
          <a:xfrm>
            <a:off x="1763871" y="2594553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보다 빠르게 익히고 보다 빠르게 개발하세요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566EE9-E01B-4184-A5F7-35CE941B99F4}"/>
              </a:ext>
            </a:extLst>
          </p:cNvPr>
          <p:cNvSpPr txBox="1"/>
          <p:nvPr/>
        </p:nvSpPr>
        <p:spPr>
          <a:xfrm>
            <a:off x="2113825" y="2887429"/>
            <a:ext cx="8640000" cy="617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대부분의 핵심 기능을 빠르게 익히고 활용할 수도 있도록 풍부한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튜터리얼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프로젝트와 예제 프로젝트를 제공합니다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몇시간 정도면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대부분의 핵심기능을 익히고 활용할 수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상용 서비스 수준의 완성된 레퍼런스 프로젝트들도 보유 제공하고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DFFBA5-142C-45D2-A870-798602A22113}"/>
              </a:ext>
            </a:extLst>
          </p:cNvPr>
          <p:cNvSpPr txBox="1"/>
          <p:nvPr/>
        </p:nvSpPr>
        <p:spPr>
          <a:xfrm>
            <a:off x="1763871" y="1649115"/>
            <a:ext cx="8616807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딜레이 없는 빠른 응답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76B119B-2A19-49EA-98A2-7DB798C21F93}"/>
              </a:ext>
            </a:extLst>
          </p:cNvPr>
          <p:cNvSpPr txBox="1"/>
          <p:nvPr/>
        </p:nvSpPr>
        <p:spPr>
          <a:xfrm>
            <a:off x="2113825" y="1925035"/>
            <a:ext cx="8640000" cy="617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/o through-put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성능 향상을 위해 송수신 시에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gathering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위한 딜레이를 넣는 경우가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높은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through-put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성능을 달성하면서도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gathering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위한 딜레이 없이 즉시 처리하도록 구현되어 빠른 반응이 필요한 액션 게임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트레이딩 시스템 등과 같은 서비스 역시 최적의 성능을 제공합니다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EE02035-585D-450D-9231-2662B976A500}"/>
              </a:ext>
            </a:extLst>
          </p:cNvPr>
          <p:cNvSpPr txBox="1"/>
          <p:nvPr/>
        </p:nvSpPr>
        <p:spPr>
          <a:xfrm>
            <a:off x="1763871" y="5628057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언제든 검증 가능한 엔진을 선택하세요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71A9277-8A2D-468D-8834-A69A14296599}"/>
              </a:ext>
            </a:extLst>
          </p:cNvPr>
          <p:cNvSpPr txBox="1"/>
          <p:nvPr/>
        </p:nvSpPr>
        <p:spPr>
          <a:xfrm>
            <a:off x="2113825" y="5927393"/>
            <a:ext cx="8640000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많은 유수 상용 프로젝트에 사용되며 성능과 안정성 사용 편리성이 검증되었습니다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또 언제든 다른 엔진과 직접 비교  테스트가 가능하도록 테스트에 개방되어 있으며 테스트를 위한 코드와 툴을 제공합니다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20D532B-7358-4535-87F7-20B0A5612FFC}"/>
              </a:ext>
            </a:extLst>
          </p:cNvPr>
          <p:cNvSpPr txBox="1"/>
          <p:nvPr/>
        </p:nvSpPr>
        <p:spPr>
          <a:xfrm>
            <a:off x="1763871" y="856115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천만 동시접속 능력을 가지십시요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77B553F-E4F4-4D77-ADDC-3244040C011F}"/>
              </a:ext>
            </a:extLst>
          </p:cNvPr>
          <p:cNvSpPr txBox="1"/>
          <p:nvPr/>
        </p:nvSpPr>
        <p:spPr>
          <a:xfrm>
            <a:off x="2113825" y="1155549"/>
            <a:ext cx="8640000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서버당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C10M(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천만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목표로 개발되었습니다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초대규모 동시 접속을 위해 소켓당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메모리량을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최소화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비동기 구조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무동작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무부하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초대규모 코어 최적화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부하적응형 알고리즘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등등 다양한 최적화가 적용되었습니다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3797CA7-8D05-4495-85D3-D461E5EE9880}"/>
              </a:ext>
            </a:extLst>
          </p:cNvPr>
          <p:cNvSpPr txBox="1"/>
          <p:nvPr/>
        </p:nvSpPr>
        <p:spPr>
          <a:xfrm>
            <a:off x="1763871" y="3556153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기술을 드립니다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0C543AF-7B46-49AA-A8E2-5ED9479A2A8E}"/>
              </a:ext>
            </a:extLst>
          </p:cNvPr>
          <p:cNvSpPr txBox="1"/>
          <p:nvPr/>
        </p:nvSpPr>
        <p:spPr>
          <a:xfrm>
            <a:off x="2113825" y="3840937"/>
            <a:ext cx="8640000" cy="802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실시간 서버 혹은 온라인 게임서버는 서비스의 개발은 단순 엔진과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튜터리얼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만으로는 넘기 힘든 부분이 있을 수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또 엔진을 사용한 효율적인 개발과 예외적인 상황의 처리들이 발생할 수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혹은 더욱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발빠른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개발을 위한 정보나 지원이 필요한 경우도 있을 수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이미 구현된 최고 수준의 기술들 함께 이런 벽을 넘을 밀접 개발 지원을 제공해 드릴 수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015B9E6-B2C0-478A-9603-212C3633EE52}"/>
              </a:ext>
            </a:extLst>
          </p:cNvPr>
          <p:cNvSpPr txBox="1"/>
          <p:nvPr/>
        </p:nvSpPr>
        <p:spPr>
          <a:xfrm>
            <a:off x="1763871" y="4687779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강력한 연동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CF62912-CFF7-4DD5-9C27-5B2B08FBE515}"/>
              </a:ext>
            </a:extLst>
          </p:cNvPr>
          <p:cNvSpPr txBox="1"/>
          <p:nvPr/>
        </p:nvSpPr>
        <p:spPr>
          <a:xfrm>
            <a:off x="2113825" y="5016057"/>
            <a:ext cx="8640000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RDB,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Redis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나  외부 서비스 혹은 웹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API,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인증처리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bitcoin API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등 다양한 외부 시스템과의 연동을 지원해 줍니다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http/https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프로토콜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웹소켓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ws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wss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지원하며 자체 웹서버도 구현되어 있어 웹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API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서버를 구현할 수 있어 실시간 서버와 웹서버와의 연동을 지원해 줍니다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8926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A423E2-3016-41A2-8BB7-79B49AACADAB}"/>
              </a:ext>
            </a:extLst>
          </p:cNvPr>
          <p:cNvSpPr txBox="1"/>
          <p:nvPr/>
        </p:nvSpPr>
        <p:spPr>
          <a:xfrm>
            <a:off x="1826623" y="1431782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어떤 프로토콜 어떤 클라이언트도 가능합니다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90A270-C680-477C-8979-84D8DFBED05C}"/>
              </a:ext>
            </a:extLst>
          </p:cNvPr>
          <p:cNvSpPr txBox="1"/>
          <p:nvPr/>
        </p:nvSpPr>
        <p:spPr>
          <a:xfrm>
            <a:off x="2175637" y="1732564"/>
            <a:ext cx="8640000" cy="802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전용 프로토콜만을 요구하지 않고 전용 클라이언트 모듈도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요구하지 않습니다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단지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C++/C#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지원하며 소켓 통신만 가능하다면 어떤 클라이언트도 가능합니다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재정의 가능한 유연한 메시지 처리 시스템을 가지고 있으며 마법 같은 직렬화를 제공하는 버퍼시스템도 가지고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따라서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protobuf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,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msgpack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JSON,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redis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http,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웹소켓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뿐만 아니라 사용자 정의 프로토콜 등등 원하는 어떤 프로토콜로도 재정의해 사용 가능합니다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57BF26-7505-4EA8-B23F-26DD8678112F}"/>
              </a:ext>
            </a:extLst>
          </p:cNvPr>
          <p:cNvSpPr txBox="1"/>
          <p:nvPr/>
        </p:nvSpPr>
        <p:spPr>
          <a:xfrm>
            <a:off x="1833367" y="465339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Windows?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Linux?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선택은 필요 없습니다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5F4D8D-D494-4025-8404-88C35C57E59E}"/>
              </a:ext>
            </a:extLst>
          </p:cNvPr>
          <p:cNvSpPr txBox="1"/>
          <p:nvPr/>
        </p:nvSpPr>
        <p:spPr>
          <a:xfrm>
            <a:off x="2175637" y="749937"/>
            <a:ext cx="8640000" cy="617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Windows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Linux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플랫폼을 모두 지원하며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각각의 플랫폼에 최적화되어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 개발에 필요한 다양한 모듈들을 통합하고 있어 추가적인 모듈이나 라이브러리 없이 실시간 서버의 개발이 가능합니다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또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작성된 서버는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Windows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Linux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모두 호환됩니다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2624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2EC70-2EC7-401B-BBF0-212DF69FEBCE}"/>
              </a:ext>
            </a:extLst>
          </p:cNvPr>
          <p:cNvSpPr txBox="1"/>
          <p:nvPr/>
        </p:nvSpPr>
        <p:spPr>
          <a:xfrm>
            <a:off x="69707" y="816895"/>
            <a:ext cx="2105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What</a:t>
            </a:r>
            <a:r>
              <a:rPr lang="en-US" altLang="ko-KR" dirty="0">
                <a:latin typeface="바탕" panose="02030600000101010101" pitchFamily="18" charset="-127"/>
                <a:ea typeface="바탕" panose="02030600000101010101" pitchFamily="18" charset="-127"/>
              </a:rPr>
              <a:t>’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s</a:t>
            </a:r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NEW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4F8B7E-354D-48D7-AB8D-29ADEC416B82}"/>
              </a:ext>
            </a:extLst>
          </p:cNvPr>
          <p:cNvSpPr txBox="1"/>
          <p:nvPr/>
        </p:nvSpPr>
        <p:spPr>
          <a:xfrm>
            <a:off x="1776000" y="1146840"/>
            <a:ext cx="8640000" cy="24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CGDK9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비해 이런 점이 업그레이드 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C47AF5-22D4-4EE8-B35C-A3B66A52C63E}"/>
              </a:ext>
            </a:extLst>
          </p:cNvPr>
          <p:cNvSpPr txBox="1"/>
          <p:nvPr/>
        </p:nvSpPr>
        <p:spPr>
          <a:xfrm>
            <a:off x="1634030" y="2440855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C++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명명법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변경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F10804-F93E-4C7A-B0D1-FF6C8445DF3B}"/>
              </a:ext>
            </a:extLst>
          </p:cNvPr>
          <p:cNvSpPr txBox="1"/>
          <p:nvPr/>
        </p:nvSpPr>
        <p:spPr>
          <a:xfrm>
            <a:off x="2004355" y="2767098"/>
            <a:ext cx="7092441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C++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모든 함수와 변수명은 소문자와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언더바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(‘_’)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만으로 명명하도록 변경되었습니다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C++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표준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library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동일한 명명법을 위해 변경을 하였습니다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1ECD56-44A3-40AE-AD95-A47BCF077CB1}"/>
              </a:ext>
            </a:extLst>
          </p:cNvPr>
          <p:cNvSpPr txBox="1"/>
          <p:nvPr/>
        </p:nvSpPr>
        <p:spPr>
          <a:xfrm>
            <a:off x="1634030" y="1572942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C++17/20, C#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framework,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core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등등 지원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66DCC3-A19B-49AD-9447-00FE4FEF8666}"/>
              </a:ext>
            </a:extLst>
          </p:cNvPr>
          <p:cNvSpPr txBox="1"/>
          <p:nvPr/>
        </p:nvSpPr>
        <p:spPr>
          <a:xfrm>
            <a:off x="2046165" y="1873724"/>
            <a:ext cx="7023659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CGDK10.C++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최소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C++17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지원하도록 변경되었습니다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CGDK10.C#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C# .NET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framework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C# .NET core,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그리고 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C# .NET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지원하도록 변경되었습니다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93AF44-0D3E-413F-A42C-ADD37DD51CB1}"/>
              </a:ext>
            </a:extLst>
          </p:cNvPr>
          <p:cNvSpPr txBox="1"/>
          <p:nvPr/>
        </p:nvSpPr>
        <p:spPr>
          <a:xfrm>
            <a:off x="1634030" y="3353903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Visual studio 2019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Visual studio 2022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지원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(Windows)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314976-E703-4530-BB02-7070DF3DDF03}"/>
              </a:ext>
            </a:extLst>
          </p:cNvPr>
          <p:cNvSpPr txBox="1"/>
          <p:nvPr/>
        </p:nvSpPr>
        <p:spPr>
          <a:xfrm>
            <a:off x="1994915" y="3680146"/>
            <a:ext cx="7092441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기존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Visual studio 2015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Visual studio 2017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지원은 중단합니다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Visual studio 2019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Visual studio 2022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지원을 추가하였습니다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endParaRPr lang="en-US" altLang="ko-KR" sz="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DBBCDB-BCC5-4613-BBAB-4C114FE45E1B}"/>
              </a:ext>
            </a:extLst>
          </p:cNvPr>
          <p:cNvSpPr txBox="1"/>
          <p:nvPr/>
        </p:nvSpPr>
        <p:spPr>
          <a:xfrm>
            <a:off x="1634030" y="5076151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Android NDK, Windows Universal,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Rasberry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기본 지원 중단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6308CE-F02A-4A62-B7D0-87819065BFCA}"/>
              </a:ext>
            </a:extLst>
          </p:cNvPr>
          <p:cNvSpPr txBox="1"/>
          <p:nvPr/>
        </p:nvSpPr>
        <p:spPr>
          <a:xfrm>
            <a:off x="1977383" y="5402394"/>
            <a:ext cx="7092441" cy="986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 .C++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모든 패키지에서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x86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지원을 중단합니다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 .C++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기본 패키지에서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Windows Universal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지원 제공을 중단합니다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 .C++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기본 패키지에서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Andoroid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N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지원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제공을 중단합니다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 .C++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기본 패키지에서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Rasberry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지원 제공을 중단합니다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CGDK10.C++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기본 패키지는 서버 전용으로 제공하며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Windows x64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Linux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만 지원합니다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038A5B-E83E-484A-ABEB-0C5AF92AF56E}"/>
              </a:ext>
            </a:extLst>
          </p:cNvPr>
          <p:cNvSpPr txBox="1"/>
          <p:nvPr/>
        </p:nvSpPr>
        <p:spPr>
          <a:xfrm>
            <a:off x="1608406" y="4194123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gcc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8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지원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(Linux)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DAC399-2623-4817-906E-B8F684F7A63B}"/>
              </a:ext>
            </a:extLst>
          </p:cNvPr>
          <p:cNvSpPr txBox="1"/>
          <p:nvPr/>
        </p:nvSpPr>
        <p:spPr>
          <a:xfrm>
            <a:off x="1969291" y="4520366"/>
            <a:ext cx="7092441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C++17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이상의 컴파일러가 필요한 만큼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gcc8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이상을 지원합니다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CMake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3.1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이상을 필요로 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2159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F62D7B-D59B-4280-92F1-4B00D7E3BE47}"/>
              </a:ext>
            </a:extLst>
          </p:cNvPr>
          <p:cNvSpPr txBox="1"/>
          <p:nvPr/>
        </p:nvSpPr>
        <p:spPr>
          <a:xfrm>
            <a:off x="1670442" y="4796975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더욱 최적화된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schedulable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83FE2F-A8EC-4E35-A855-4F6FD907242F}"/>
              </a:ext>
            </a:extLst>
          </p:cNvPr>
          <p:cNvSpPr txBox="1"/>
          <p:nvPr/>
        </p:nvSpPr>
        <p:spPr>
          <a:xfrm>
            <a:off x="2004355" y="5097757"/>
            <a:ext cx="8640000" cy="617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Schedulalble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처리 부하와 시간 정확도를 더욱 향상시켰습니다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기존에는 일정시간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(1ms)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간격으로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폴링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(pooling)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방식을 사용했습니다만 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priority queue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 사용해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폴링을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제거해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무동작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무부하를 달성했고 또 더욱 정밀하게 정해진 시점에 실행되도록 개선했습니다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C47AF5-22D4-4EE8-B35C-A3B66A52C63E}"/>
              </a:ext>
            </a:extLst>
          </p:cNvPr>
          <p:cNvSpPr txBox="1"/>
          <p:nvPr/>
        </p:nvSpPr>
        <p:spPr>
          <a:xfrm>
            <a:off x="1661002" y="1987703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더욱 개선된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Pool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시스템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F10804-F93E-4C7A-B0D1-FF6C8445DF3B}"/>
              </a:ext>
            </a:extLst>
          </p:cNvPr>
          <p:cNvSpPr txBox="1"/>
          <p:nvPr/>
        </p:nvSpPr>
        <p:spPr>
          <a:xfrm>
            <a:off x="2004355" y="2313946"/>
            <a:ext cx="9188278" cy="802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더욱 늘어난 코어에서는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lock-free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오히려 부담이 될 수 있어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tls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기본으로 하였습니다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tls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쓰레드 수가 늘어나면 재고 수량이 많이 늘어 과도한 메모리 사용 우려로 선택 사용하도록 했으나 재고 수량 관련 알고리즘을 대폭 개선해 기본 사용으로 변경했습니다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또 빈번히 사용되는 부분은 더욱 가볍게 하고 빈번히 호출되지 않는 부분에 처리를 몰아 평균 성능을 대폭 향상했습니다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tcmalloc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같은 폴라이브러리와 벤치마크 결과 압도적으로 뛰어난 성능을 발휘합니다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.(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벤치마크 참조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1ECD56-44A3-40AE-AD95-A47BCF077CB1}"/>
              </a:ext>
            </a:extLst>
          </p:cNvPr>
          <p:cNvSpPr txBox="1"/>
          <p:nvPr/>
        </p:nvSpPr>
        <p:spPr>
          <a:xfrm>
            <a:off x="1712252" y="779926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더욱 많아진 코어에 최적화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66DCC3-A19B-49AD-9447-00FE4FEF8666}"/>
              </a:ext>
            </a:extLst>
          </p:cNvPr>
          <p:cNvSpPr txBox="1"/>
          <p:nvPr/>
        </p:nvSpPr>
        <p:spPr>
          <a:xfrm>
            <a:off x="2046165" y="1080708"/>
            <a:ext cx="8640000" cy="802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64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개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128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개의 코어를 가진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CPU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등장하는 등 코어의 개수가 기하급수적으로 늘어 남에 따라 이에 대한 최적화를 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쓰레드의 경쟁 상태가 빈번할 부분의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lock-free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낙관적 알고리즘이 사용되기 때문에 다수 코어의 경쟁 상태에서는 극단적으로 비효율적이 될 수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이를 개선 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 (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대표적이니 것이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Pool System, Executor,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Scheduler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등등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…)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쓰레드풀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시스템 역시 기존에는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o/s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제공하는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thread pool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사용하였으나 재설계하여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Windows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Linux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시스템 모두 동일한 알고리즘의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thread pool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적용했습니다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2AD8C2-B535-449C-8165-5CF850814D8E}"/>
              </a:ext>
            </a:extLst>
          </p:cNvPr>
          <p:cNvSpPr txBox="1"/>
          <p:nvPr/>
        </p:nvSpPr>
        <p:spPr>
          <a:xfrm>
            <a:off x="1635378" y="3321535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확장된 동적 객체 관리 시스템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CBF83E-1FA8-4CE2-8BF2-BDEF3023CCA2}"/>
              </a:ext>
            </a:extLst>
          </p:cNvPr>
          <p:cNvSpPr txBox="1"/>
          <p:nvPr/>
        </p:nvSpPr>
        <p:spPr>
          <a:xfrm>
            <a:off x="1978731" y="3647778"/>
            <a:ext cx="9188278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기존에는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Pool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사용하는 동적 객체만 상황과 통계 정보를  수집했습니다만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부터는 모든 동적 객체를 관리합니다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현재 사용중인 동적 할당 객체의 수량과 할당횟수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할당해제 횟수 등의 정보를 제공해 성능 튜닝이나 메모리 누수와 같은 상황을 파악할 수 있도록 해줍니다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075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1ECD56-44A3-40AE-AD95-A47BCF077CB1}"/>
              </a:ext>
            </a:extLst>
          </p:cNvPr>
          <p:cNvSpPr txBox="1"/>
          <p:nvPr/>
        </p:nvSpPr>
        <p:spPr>
          <a:xfrm>
            <a:off x="1712252" y="779926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암호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해싱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관련 함수 추가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66DCC3-A19B-49AD-9447-00FE4FEF8666}"/>
              </a:ext>
            </a:extLst>
          </p:cNvPr>
          <p:cNvSpPr txBox="1"/>
          <p:nvPr/>
        </p:nvSpPr>
        <p:spPr>
          <a:xfrm>
            <a:off x="2046165" y="1080708"/>
            <a:ext cx="8640000" cy="802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64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개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128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개의 코어를 가진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CPU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등장하는 등 코어의 개수가 기하급수적으로 늘어 남에 따라 이에 대한 최적화를 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쓰레드의 경쟁 상태가 빈번할 부분의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lock-free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낙관적 알고리즘이 사용되기 때문에 다수 코어의 경쟁 상태에서는 극단적으로 비효율적이 될 수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이를 개선 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 (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대표적이니 것이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Pool System, Executor,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Scheduler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등등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…)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쓰레드풀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시스템 역시 기존에는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o/s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제공하는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thread pool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사용하였으나 재설계하여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Windows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Linux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시스템 모두 동일한 알고리즘의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thread pool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적용했습니다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502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C47AF5-22D4-4EE8-B35C-A3B66A52C63E}"/>
              </a:ext>
            </a:extLst>
          </p:cNvPr>
          <p:cNvSpPr txBox="1"/>
          <p:nvPr/>
        </p:nvSpPr>
        <p:spPr>
          <a:xfrm>
            <a:off x="1661002" y="1437447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Linux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epoll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사용한 소켓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/o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 성능을 대폭 개선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F10804-F93E-4C7A-B0D1-FF6C8445DF3B}"/>
              </a:ext>
            </a:extLst>
          </p:cNvPr>
          <p:cNvSpPr txBox="1"/>
          <p:nvPr/>
        </p:nvSpPr>
        <p:spPr>
          <a:xfrm>
            <a:off x="2004355" y="1763690"/>
            <a:ext cx="9188278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epoll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비동기식 소켓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/o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처리는 의외로 많이 까다롭습니다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/o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비동기 처리와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gathering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알고리즘을 대폭 개선해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Windows IOCP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대등한 수준으로 향상시켰습니다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8F14B3-65D9-473A-82A3-046FA40FF291}"/>
              </a:ext>
            </a:extLst>
          </p:cNvPr>
          <p:cNvSpPr txBox="1"/>
          <p:nvPr/>
        </p:nvSpPr>
        <p:spPr>
          <a:xfrm>
            <a:off x="1659654" y="392231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Socket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당 사용 메모리를 최소화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2141BA-0375-44E6-BA94-ADC73FAFB3B5}"/>
              </a:ext>
            </a:extLst>
          </p:cNvPr>
          <p:cNvSpPr txBox="1"/>
          <p:nvPr/>
        </p:nvSpPr>
        <p:spPr>
          <a:xfrm>
            <a:off x="2003007" y="718474"/>
            <a:ext cx="9188278" cy="617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10M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동시접속을 추구하기 위해 소켓당 사용 메모리를 최소화할 필요가 있었습니다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따라서 소켓에서 송수신에 사용되는 버퍼와 메시지 처리를 위한 버퍼를 가변 크기 버퍼를 사용함으로써  초기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1KB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크기로 할당해 기본사용량을 최소화하며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큰 메시지를 처리하거나 부하가 커지면 그에 맞춰 버퍼의 크기를 줄이도록 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3D8901-00E7-42DB-A436-4374C9133DFB}"/>
              </a:ext>
            </a:extLst>
          </p:cNvPr>
          <p:cNvSpPr txBox="1"/>
          <p:nvPr/>
        </p:nvSpPr>
        <p:spPr>
          <a:xfrm>
            <a:off x="1656958" y="2291074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더욱 개선된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send gathering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알고리즘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EAF0F9-ACCB-47D3-B5E6-E6D8FB52F407}"/>
              </a:ext>
            </a:extLst>
          </p:cNvPr>
          <p:cNvSpPr txBox="1"/>
          <p:nvPr/>
        </p:nvSpPr>
        <p:spPr>
          <a:xfrm>
            <a:off x="2003007" y="2612165"/>
            <a:ext cx="8640000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tcp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소켓의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send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성능을 향상시키기 위해 사용하는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gathering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알고리즘을 더욱 개선했습니다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작은 크기에 메시지를 빈번히 전송하면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gathering queue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너무 빨리 차버리는 문제를 개선했습니다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9C8516-DAC7-44F3-AB97-C17477601506}"/>
              </a:ext>
            </a:extLst>
          </p:cNvPr>
          <p:cNvSpPr txBox="1"/>
          <p:nvPr/>
        </p:nvSpPr>
        <p:spPr>
          <a:xfrm>
            <a:off x="1659654" y="3130142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fast loopback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적용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(windows)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CEBB52-66A4-4D54-BA62-E5EA9B8C5973}"/>
              </a:ext>
            </a:extLst>
          </p:cNvPr>
          <p:cNvSpPr txBox="1"/>
          <p:nvPr/>
        </p:nvSpPr>
        <p:spPr>
          <a:xfrm>
            <a:off x="1993567" y="3430924"/>
            <a:ext cx="8640000" cy="24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로컬 호스트에서 접속할 경우 보다 빠른 반응과 성능을 제공해주는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fast loopback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기능이 적용되도록 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446EA9-67D9-44CB-826A-84E52CD63EC9}"/>
              </a:ext>
            </a:extLst>
          </p:cNvPr>
          <p:cNvSpPr txBox="1"/>
          <p:nvPr/>
        </p:nvSpPr>
        <p:spPr>
          <a:xfrm>
            <a:off x="1658306" y="3840890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socket send/receive through-put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향상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2E288A-7F38-44E5-915F-F7F52A95BD88}"/>
              </a:ext>
            </a:extLst>
          </p:cNvPr>
          <p:cNvSpPr txBox="1"/>
          <p:nvPr/>
        </p:nvSpPr>
        <p:spPr>
          <a:xfrm>
            <a:off x="1992219" y="4141672"/>
            <a:ext cx="8640000" cy="24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Send gathering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알고리즘 개선이나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fast loopback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옵션 등등 다양한 성능 개선으로 기존에 비해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30%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가량의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through-put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 향상되었습니다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0FEEF9-CE87-4305-B484-E5B8866D0F4D}"/>
              </a:ext>
            </a:extLst>
          </p:cNvPr>
          <p:cNvSpPr txBox="1"/>
          <p:nvPr/>
        </p:nvSpPr>
        <p:spPr>
          <a:xfrm>
            <a:off x="1656958" y="4584006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file handle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제한으로 인한 예외 처리 추가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linux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43E1BA-4EFC-4797-A643-A5DDA41573E0}"/>
              </a:ext>
            </a:extLst>
          </p:cNvPr>
          <p:cNvSpPr txBox="1"/>
          <p:nvPr/>
        </p:nvSpPr>
        <p:spPr>
          <a:xfrm>
            <a:off x="1990871" y="4884788"/>
            <a:ext cx="8640000" cy="617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소켓의 수가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file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handle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수를 초과할 경우 신규 소켓의 생성에 장애가 발생해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accept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제대로 받지 못하거나 접속 종료 신호를 제대로 받지 못하는 경우가 있을 수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일반적으로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ulimit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 설정 가능합니다만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...)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이런 예외적 상황이 발생해도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정상 동작하도록 처리했습니다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268D8B-E523-4FE2-94D5-41989B0ED4BF}"/>
              </a:ext>
            </a:extLst>
          </p:cNvPr>
          <p:cNvSpPr txBox="1"/>
          <p:nvPr/>
        </p:nvSpPr>
        <p:spPr>
          <a:xfrm>
            <a:off x="1669094" y="5595387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C++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Network.TS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반영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06ADB0-2D10-4016-B82A-764C10B817F8}"/>
              </a:ext>
            </a:extLst>
          </p:cNvPr>
          <p:cNvSpPr txBox="1"/>
          <p:nvPr/>
        </p:nvSpPr>
        <p:spPr>
          <a:xfrm>
            <a:off x="2003007" y="5921630"/>
            <a:ext cx="9188278" cy="617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현재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C++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표준안인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Network.TS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내용을 일부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선반영했습니다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주소 관련 체계를 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Network.TS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안을 반영했습니다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 (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ip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address, endpoint, resolver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등등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이로 인해 기존의 사용법 보다는 조금 복잡해진 면은 있어 보입니다만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C++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표준안이기 때문에 이에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따르기로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1443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1C7800-737A-45E8-AF05-70266E3CCF80}"/>
              </a:ext>
            </a:extLst>
          </p:cNvPr>
          <p:cNvSpPr txBox="1"/>
          <p:nvPr/>
        </p:nvSpPr>
        <p:spPr>
          <a:xfrm>
            <a:off x="1712252" y="1257354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fmt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지원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A8E308-301F-42D7-AB31-79EF32D8AE47}"/>
              </a:ext>
            </a:extLst>
          </p:cNvPr>
          <p:cNvSpPr txBox="1"/>
          <p:nvPr/>
        </p:nvSpPr>
        <p:spPr>
          <a:xfrm>
            <a:off x="2046165" y="1558136"/>
            <a:ext cx="7433652" cy="986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기존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log()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포맷 문자열을 처리 시에는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sprintf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형태를 지원했습니다만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fmt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변경되었습니다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기존의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sprintf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성능 면에서도 많이 떨어지며 안정성이 떨어져 여러 문제의 원인이 되기도 하였습니다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fmt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C++20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standard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지원해주며 그 이하의 버전에서는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fmt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라이브러리를 사용하도록 하였습니다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Fmt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사용으로 인해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log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문자열 처리에 성능이 대폭 향상되었습니다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이와 더불어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log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에도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gathering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알고리즘까지 적용하며 엄청난 성능 향상이 있었습니다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CA024E-6F15-4901-9412-3CF9C141ACB4}"/>
              </a:ext>
            </a:extLst>
          </p:cNvPr>
          <p:cNvSpPr txBox="1"/>
          <p:nvPr/>
        </p:nvSpPr>
        <p:spPr>
          <a:xfrm>
            <a:off x="1710904" y="4355242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고성능 콘솔 로그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C5A10A-DD77-41C7-9DE0-039DBF1D9AED}"/>
              </a:ext>
            </a:extLst>
          </p:cNvPr>
          <p:cNvSpPr txBox="1"/>
          <p:nvPr/>
        </p:nvSpPr>
        <p:spPr>
          <a:xfrm>
            <a:off x="2044817" y="4656024"/>
            <a:ext cx="7433652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콘솔 창에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printf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나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std::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cout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으로 출력화는 과정은 생각보다 높은 부하를 차지합니다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이 처리를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비동기화함과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동시에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gathering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처리를 적용해 성능을 대폭 향상시켰습니다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62703C-B5BA-4E48-BBDE-ABA020055A0A}"/>
              </a:ext>
            </a:extLst>
          </p:cNvPr>
          <p:cNvSpPr txBox="1"/>
          <p:nvPr/>
        </p:nvSpPr>
        <p:spPr>
          <a:xfrm>
            <a:off x="1717648" y="5163094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칼라 콘솔 로그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71A454-6ABD-4094-BDED-800B715418E4}"/>
              </a:ext>
            </a:extLst>
          </p:cNvPr>
          <p:cNvSpPr txBox="1"/>
          <p:nvPr/>
        </p:nvSpPr>
        <p:spPr>
          <a:xfrm>
            <a:off x="2051561" y="5463876"/>
            <a:ext cx="7433652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콘솔 로그 출력은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mfc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controls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의한 출력처럼 컬러로 출력되지 않았습니다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이것을 확대 적용해 콘솔 로그 출력 역시 로그의 종류에 따라 색상을 다르게 출력해 가시성을 개선했습니다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0C9E91-8E38-4247-B46B-3C3972E844C0}"/>
              </a:ext>
            </a:extLst>
          </p:cNvPr>
          <p:cNvSpPr txBox="1"/>
          <p:nvPr/>
        </p:nvSpPr>
        <p:spPr>
          <a:xfrm>
            <a:off x="1708208" y="5987130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WAL file 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지원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CE2722-7950-4213-87C6-2C7E7F17E23A}"/>
              </a:ext>
            </a:extLst>
          </p:cNvPr>
          <p:cNvSpPr txBox="1"/>
          <p:nvPr/>
        </p:nvSpPr>
        <p:spPr>
          <a:xfrm>
            <a:off x="2042121" y="6287912"/>
            <a:ext cx="7433652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WAL(Writing Ahead Logging)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파일은 내부적으로만 사용되어 왔지만 이것을 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template class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직접 재정의하여 사용할 수 있도록 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서버간 정합성 처리를 할 때 유용합니다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C46B82-CC95-476D-A12A-36AAA219C5A1}"/>
              </a:ext>
            </a:extLst>
          </p:cNvPr>
          <p:cNvSpPr txBox="1"/>
          <p:nvPr/>
        </p:nvSpPr>
        <p:spPr>
          <a:xfrm>
            <a:off x="1710904" y="398254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log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 변경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429DFE-F894-43EB-ADEA-688096183F14}"/>
              </a:ext>
            </a:extLst>
          </p:cNvPr>
          <p:cNvSpPr txBox="1"/>
          <p:nvPr/>
        </p:nvSpPr>
        <p:spPr>
          <a:xfrm>
            <a:off x="2044817" y="699036"/>
            <a:ext cx="7433652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기존의 기존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log()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포맷 문자열을 처리 시에는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sprintf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형태를 지원했습니다만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fmt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변경되었습니다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기존의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sprintf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성능 면에서도 많이 떨어지며 안정성이 떨어져 여러 문제의 원인이 되기도 하였습니다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09E290-3DF9-4638-9094-BE24AF8642E2}"/>
              </a:ext>
            </a:extLst>
          </p:cNvPr>
          <p:cNvSpPr txBox="1"/>
          <p:nvPr/>
        </p:nvSpPr>
        <p:spPr>
          <a:xfrm>
            <a:off x="1693372" y="3496142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비동기 로그 처리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417D3C-FB89-4243-8000-C66E2882617C}"/>
              </a:ext>
            </a:extLst>
          </p:cNvPr>
          <p:cNvSpPr txBox="1"/>
          <p:nvPr/>
        </p:nvSpPr>
        <p:spPr>
          <a:xfrm>
            <a:off x="2027285" y="3796924"/>
            <a:ext cx="8640000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기존에는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file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사용한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log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에만 비동기 처리를 하였습니다만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log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 자체의 비동기 처리를 지원합니다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복잡한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log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처리로 인한 지연을 최소화했습니다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C14BF9-C51B-4BBD-8474-79ECF1472F64}"/>
              </a:ext>
            </a:extLst>
          </p:cNvPr>
          <p:cNvSpPr txBox="1"/>
          <p:nvPr/>
        </p:nvSpPr>
        <p:spPr>
          <a:xfrm>
            <a:off x="1725740" y="2581746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Local logger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조작 함수 추가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예정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7A2B8E-70A0-4767-A3BC-F75C24020644}"/>
              </a:ext>
            </a:extLst>
          </p:cNvPr>
          <p:cNvSpPr txBox="1"/>
          <p:nvPr/>
        </p:nvSpPr>
        <p:spPr>
          <a:xfrm>
            <a:off x="2059653" y="2882528"/>
            <a:ext cx="7433652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내부적으로 사용되던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객체별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logger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조작 함수를 추가하여 필요한 경우 언제든 확인 가능하도록 하였습니다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객체별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logger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디버깅을 위해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객체별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로그를 확인하는 목적으로 개발되어 추가되었습니다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9941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C47AF5-22D4-4EE8-B35C-A3B66A52C63E}"/>
              </a:ext>
            </a:extLst>
          </p:cNvPr>
          <p:cNvSpPr txBox="1"/>
          <p:nvPr/>
        </p:nvSpPr>
        <p:spPr>
          <a:xfrm>
            <a:off x="1661002" y="1178503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Websocket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서버 지원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F10804-F93E-4C7A-B0D1-FF6C8445DF3B}"/>
              </a:ext>
            </a:extLst>
          </p:cNvPr>
          <p:cNvSpPr txBox="1"/>
          <p:nvPr/>
        </p:nvSpPr>
        <p:spPr>
          <a:xfrm>
            <a:off x="2004355" y="1504746"/>
            <a:ext cx="7618423" cy="24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ws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wss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프로토콜을 사용하는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웹소켓을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사용해 웹서버를 만들 수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8F14B3-65D9-473A-82A3-046FA40FF291}"/>
              </a:ext>
            </a:extLst>
          </p:cNvPr>
          <p:cNvSpPr txBox="1"/>
          <p:nvPr/>
        </p:nvSpPr>
        <p:spPr>
          <a:xfrm>
            <a:off x="1659654" y="481243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http/https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지원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2141BA-0375-44E6-BA94-ADC73FAFB3B5}"/>
              </a:ext>
            </a:extLst>
          </p:cNvPr>
          <p:cNvSpPr txBox="1"/>
          <p:nvPr/>
        </p:nvSpPr>
        <p:spPr>
          <a:xfrm>
            <a:off x="2003007" y="807486"/>
            <a:ext cx="7618423" cy="24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기존에는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https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웹클라이언트일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경우에만 지원했습니다만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자체 웹서버도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https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지원합니다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49EADB-DA77-4F4A-B9BA-964DA9539E1F}"/>
              </a:ext>
            </a:extLst>
          </p:cNvPr>
          <p:cNvSpPr txBox="1"/>
          <p:nvPr/>
        </p:nvSpPr>
        <p:spPr>
          <a:xfrm>
            <a:off x="1659654" y="1881159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Unreal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3D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Fsocket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용 네트워크 모듈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AEE6FB-FA52-403D-A407-BE4DA18957A3}"/>
              </a:ext>
            </a:extLst>
          </p:cNvPr>
          <p:cNvSpPr txBox="1"/>
          <p:nvPr/>
        </p:nvSpPr>
        <p:spPr>
          <a:xfrm>
            <a:off x="2003007" y="2207402"/>
            <a:ext cx="7618423" cy="617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Unreal 3D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위해 기존에는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CGDK::buffer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만을 제공했으나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Fsocket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사용한 네트워크 모듈도 별도로 제공합니다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Unreal 3D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에만 존재하는 고유 자료형 등에 대한 지원을 추가했습니다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모두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template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으로 제작이 되어 플랫폼에 상관없이 모든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Unreal 3D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프로젝트에 사용 가능합니다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8921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1C7800-737A-45E8-AF05-70266E3CCF80}"/>
              </a:ext>
            </a:extLst>
          </p:cNvPr>
          <p:cNvSpPr txBox="1"/>
          <p:nvPr/>
        </p:nvSpPr>
        <p:spPr>
          <a:xfrm>
            <a:off x="1712252" y="779926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클래스 추가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A8E308-301F-42D7-AB31-79EF32D8AE47}"/>
              </a:ext>
            </a:extLst>
          </p:cNvPr>
          <p:cNvSpPr txBox="1"/>
          <p:nvPr/>
        </p:nvSpPr>
        <p:spPr>
          <a:xfrm>
            <a:off x="2046165" y="1080708"/>
            <a:ext cx="8640000" cy="986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group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배타적 입장만을 지원했습니다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즉 동시에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2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개의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group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에는 입장할 수 없었었습니다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group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과는 다르게 동시에 여러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등록이 가능합니다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channel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구분하여 여러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obserbable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등록이 가능하도록 해줍니다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하지만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channel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간의 입장은 배타적으로 동작합니다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  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oberver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같은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channel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이름으로 등록하게 되면 기존 등록된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자동 등록해지 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CA024E-6F15-4901-9412-3CF9C141ACB4}"/>
              </a:ext>
            </a:extLst>
          </p:cNvPr>
          <p:cNvSpPr txBox="1"/>
          <p:nvPr/>
        </p:nvSpPr>
        <p:spPr>
          <a:xfrm>
            <a:off x="1710904" y="2914866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고성능 콘솔 로그 출력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C5A10A-DD77-41C7-9DE0-039DBF1D9AED}"/>
              </a:ext>
            </a:extLst>
          </p:cNvPr>
          <p:cNvSpPr txBox="1"/>
          <p:nvPr/>
        </p:nvSpPr>
        <p:spPr>
          <a:xfrm>
            <a:off x="2036725" y="3215648"/>
            <a:ext cx="8640000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콘솔 창에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printf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나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std::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cout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으로 출력화는 과정은 생각보다 높은 부하를 차지합니다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비동기 처리와 함께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gathering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적용해 성능을 대폭 향상시켰습니다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62703C-B5BA-4E48-BBDE-ABA020055A0A}"/>
              </a:ext>
            </a:extLst>
          </p:cNvPr>
          <p:cNvSpPr txBox="1"/>
          <p:nvPr/>
        </p:nvSpPr>
        <p:spPr>
          <a:xfrm>
            <a:off x="1717648" y="3722718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칼라 콘솔 로그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71A454-6ABD-4094-BDED-800B715418E4}"/>
              </a:ext>
            </a:extLst>
          </p:cNvPr>
          <p:cNvSpPr txBox="1"/>
          <p:nvPr/>
        </p:nvSpPr>
        <p:spPr>
          <a:xfrm>
            <a:off x="2051561" y="4023500"/>
            <a:ext cx="8640000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콘솔 로그 출력은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mfc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controls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의한 출력처럼 컬러로 출력되지 않았습니다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이것을 확대 적용해 콘솔 로그 출력 역시 로그의 종류에 따라 색상을 다르게 출력해 가시성을 개선했습니다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D01FB0-74E1-45C1-AC32-5E95BFFDB741}"/>
              </a:ext>
            </a:extLst>
          </p:cNvPr>
          <p:cNvSpPr txBox="1"/>
          <p:nvPr/>
        </p:nvSpPr>
        <p:spPr>
          <a:xfrm>
            <a:off x="1693372" y="2120502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완전 비동기 로그처리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CEFA83-0C6C-437D-8E6F-6F4746B941EE}"/>
              </a:ext>
            </a:extLst>
          </p:cNvPr>
          <p:cNvSpPr txBox="1"/>
          <p:nvPr/>
        </p:nvSpPr>
        <p:spPr>
          <a:xfrm>
            <a:off x="2027285" y="2421284"/>
            <a:ext cx="8640000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기존에는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file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사용한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log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에만 비동기 처리를 하였습니다만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log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 자체의 비동기 처리를 지원합니다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복잡한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log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처리로 인한 지연을 최소화했습니다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6018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2EC70-2EC7-401B-BBF0-212DF69FEBCE}"/>
              </a:ext>
            </a:extLst>
          </p:cNvPr>
          <p:cNvSpPr txBox="1"/>
          <p:nvPr/>
        </p:nvSpPr>
        <p:spPr>
          <a:xfrm>
            <a:off x="69707" y="816895"/>
            <a:ext cx="1655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About CGCII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064C65-B33B-4E80-B6E0-52D8ADD1C3FD}"/>
              </a:ext>
            </a:extLst>
          </p:cNvPr>
          <p:cNvSpPr txBox="1"/>
          <p:nvPr/>
        </p:nvSpPr>
        <p:spPr>
          <a:xfrm>
            <a:off x="1814752" y="423878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C++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용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CGDK::buffe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heterogenous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구조체를 지원합니다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0F91B4-E113-47BE-A547-FB6A6FA4ADE1}"/>
              </a:ext>
            </a:extLst>
          </p:cNvPr>
          <p:cNvSpPr txBox="1"/>
          <p:nvPr/>
        </p:nvSpPr>
        <p:spPr>
          <a:xfrm>
            <a:off x="2148665" y="724660"/>
            <a:ext cx="8640000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기존에는 구조체의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std::string, std::vector&lt;T&gt;, std::map&lt;K,V&gt;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같은 복합형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자로형은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사용할 수가 없었습니다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이제는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C++ reflection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구현해 이런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마법같은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복합형 자료형도 지원합니다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54F071-EE10-4AF0-B3EF-96CE39C82487}"/>
              </a:ext>
            </a:extLst>
          </p:cNvPr>
          <p:cNvSpPr txBox="1"/>
          <p:nvPr/>
        </p:nvSpPr>
        <p:spPr>
          <a:xfrm>
            <a:off x="1814752" y="4063930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CGD::buffe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CCGBuffer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클래스명 변경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4D11ED-EE7D-44CD-B1A3-B66C21B3ABBF}"/>
              </a:ext>
            </a:extLst>
          </p:cNvPr>
          <p:cNvSpPr txBox="1"/>
          <p:nvPr/>
        </p:nvSpPr>
        <p:spPr>
          <a:xfrm>
            <a:off x="2148665" y="4364712"/>
            <a:ext cx="8640000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기존의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CGD:buffer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CGDK::buffer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그대로 유지됩니다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기존의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CCGBuffer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CGDK::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shared_buffer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클래스명이 변경되었습니다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99E355-DFA7-40CA-AA73-3E95EC97ED1A}"/>
              </a:ext>
            </a:extLst>
          </p:cNvPr>
          <p:cNvSpPr txBox="1"/>
          <p:nvPr/>
        </p:nvSpPr>
        <p:spPr>
          <a:xfrm>
            <a:off x="1814752" y="1991030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CGDK::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buffer_view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추가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F0E12D-CD2B-44BE-8390-CC09F34FE9A5}"/>
              </a:ext>
            </a:extLst>
          </p:cNvPr>
          <p:cNvSpPr txBox="1"/>
          <p:nvPr/>
        </p:nvSpPr>
        <p:spPr>
          <a:xfrm>
            <a:off x="2148665" y="2304032"/>
            <a:ext cx="8640000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CGDK::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buffer_view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클래스를 추가합니다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오직 읽기 기능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(extract&lt;T&gt;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front&lt;T&gt;)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만 사용 가능합니다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413EAF-8C1A-44E7-8DFC-FBA1891DCFEF}"/>
              </a:ext>
            </a:extLst>
          </p:cNvPr>
          <p:cNvSpPr txBox="1"/>
          <p:nvPr/>
        </p:nvSpPr>
        <p:spPr>
          <a:xfrm>
            <a:off x="1814752" y="1173738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CGDK::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get_size_of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()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추가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FEC1ED-5480-45C6-AC2E-14FA01144B2D}"/>
              </a:ext>
            </a:extLst>
          </p:cNvPr>
          <p:cNvSpPr txBox="1"/>
          <p:nvPr/>
        </p:nvSpPr>
        <p:spPr>
          <a:xfrm>
            <a:off x="2148665" y="1474520"/>
            <a:ext cx="8640000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직렬화될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메모리의 크기를 미리 구해줍니다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직렬화시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필요한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메모리량을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미리 정확히 구해 할당할 수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256B90-4CE9-4450-899D-73C8CFFB8162}"/>
              </a:ext>
            </a:extLst>
          </p:cNvPr>
          <p:cNvSpPr txBox="1"/>
          <p:nvPr/>
        </p:nvSpPr>
        <p:spPr>
          <a:xfrm>
            <a:off x="1814752" y="2782698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buffer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연산 기능 추가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F1B957-AFAC-4F9D-8848-4B7DB10C56F1}"/>
              </a:ext>
            </a:extLst>
          </p:cNvPr>
          <p:cNvSpPr txBox="1"/>
          <p:nvPr/>
        </p:nvSpPr>
        <p:spPr>
          <a:xfrm>
            <a:off x="2148665" y="3087608"/>
            <a:ext cx="8640000" cy="986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buffer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다양한 연산자 기능을 추가 변경했습니다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[buffer] + offset()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연산을 사용하면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buffer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앞부분을 건너 뛸 수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[buffer] + size ()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연산을 사용하면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buffer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길이를 늘릴 수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[buffer] ^ value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연산을 사용하면 버퍼의 포인터 혹은 길이를 직접 변경할 수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기타 다양한 연산 기능이 추가되었습니다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 (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자세한 것은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tutorial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참조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3646A3-856A-4F57-8AD5-8DA99E02FDDA}"/>
              </a:ext>
            </a:extLst>
          </p:cNvPr>
          <p:cNvSpPr txBox="1"/>
          <p:nvPr/>
        </p:nvSpPr>
        <p:spPr>
          <a:xfrm>
            <a:off x="1814752" y="4866606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할당 관련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함수명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및 기능이 변경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및되었습니다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B66FFD-CC07-4B93-8673-BDBE9A91F487}"/>
              </a:ext>
            </a:extLst>
          </p:cNvPr>
          <p:cNvSpPr txBox="1"/>
          <p:nvPr/>
        </p:nvSpPr>
        <p:spPr>
          <a:xfrm>
            <a:off x="2148665" y="5171516"/>
            <a:ext cx="8640000" cy="617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MEM_POOL_ALLOC(size)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alloc_shared_buffer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(size)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변경되었습니다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NEW&lt;T&gt;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make_object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변경되었습니다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OWN&lt;T&gt;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make_own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변경되었습니다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F95E06-AB8C-476A-B637-0A90E17F621A}"/>
              </a:ext>
            </a:extLst>
          </p:cNvPr>
          <p:cNvSpPr txBox="1"/>
          <p:nvPr/>
        </p:nvSpPr>
        <p:spPr>
          <a:xfrm>
            <a:off x="1814752" y="5868666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Unreal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3D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고유 자료형 지원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EC30EC-F0F7-4BBB-8282-44785F53F1C6}"/>
              </a:ext>
            </a:extLst>
          </p:cNvPr>
          <p:cNvSpPr txBox="1"/>
          <p:nvPr/>
        </p:nvSpPr>
        <p:spPr>
          <a:xfrm>
            <a:off x="2148665" y="6173576"/>
            <a:ext cx="8640000" cy="24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Unity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3D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고유 자료형에 대한 직렬화를 지원합니다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  (CGDK10.Fsocket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참조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64204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1C7800-737A-45E8-AF05-70266E3CCF80}"/>
              </a:ext>
            </a:extLst>
          </p:cNvPr>
          <p:cNvSpPr txBox="1"/>
          <p:nvPr/>
        </p:nvSpPr>
        <p:spPr>
          <a:xfrm>
            <a:off x="1712252" y="779926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OAuth 2.0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지원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추가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A8E308-301F-42D7-AB31-79EF32D8AE47}"/>
              </a:ext>
            </a:extLst>
          </p:cNvPr>
          <p:cNvSpPr txBox="1"/>
          <p:nvPr/>
        </p:nvSpPr>
        <p:spPr>
          <a:xfrm>
            <a:off x="2046165" y="1080708"/>
            <a:ext cx="8640000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OAuth 2.0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인터페이스를 제공합니다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OAuth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사용한 다양한 인증처리와 웹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API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사용할 수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2F8439-5A4E-46E9-BEF7-2D55B3DF908E}"/>
              </a:ext>
            </a:extLst>
          </p:cNvPr>
          <p:cNvSpPr txBox="1"/>
          <p:nvPr/>
        </p:nvSpPr>
        <p:spPr>
          <a:xfrm>
            <a:off x="1718996" y="1636330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암호화폐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API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지원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A2C820-226B-4AF6-B7B7-EAC4F2C634C6}"/>
              </a:ext>
            </a:extLst>
          </p:cNvPr>
          <p:cNvSpPr txBox="1"/>
          <p:nvPr/>
        </p:nvSpPr>
        <p:spPr>
          <a:xfrm>
            <a:off x="2052909" y="1937112"/>
            <a:ext cx="8640000" cy="24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Bitcoin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등 암호화폐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API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제공합니다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7234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1C7800-737A-45E8-AF05-70266E3CCF80}"/>
              </a:ext>
            </a:extLst>
          </p:cNvPr>
          <p:cNvSpPr txBox="1"/>
          <p:nvPr/>
        </p:nvSpPr>
        <p:spPr>
          <a:xfrm>
            <a:off x="1712252" y="779926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Host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agent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추가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(Linux)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A8E308-301F-42D7-AB31-79EF32D8AE47}"/>
              </a:ext>
            </a:extLst>
          </p:cNvPr>
          <p:cNvSpPr txBox="1"/>
          <p:nvPr/>
        </p:nvSpPr>
        <p:spPr>
          <a:xfrm>
            <a:off x="2046165" y="1080708"/>
            <a:ext cx="8640000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Linux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용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Host agent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추가했습니다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Admin Server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Linux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호스트의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서버를 실행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서비스 시작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서비스 중지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닫기 등을 중앙 통제할 수 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CA024E-6F15-4901-9412-3CF9C141ACB4}"/>
              </a:ext>
            </a:extLst>
          </p:cNvPr>
          <p:cNvSpPr txBox="1"/>
          <p:nvPr/>
        </p:nvSpPr>
        <p:spPr>
          <a:xfrm>
            <a:off x="1710904" y="2914866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고성능 콘솔 로그 출력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C5A10A-DD77-41C7-9DE0-039DBF1D9AED}"/>
              </a:ext>
            </a:extLst>
          </p:cNvPr>
          <p:cNvSpPr txBox="1"/>
          <p:nvPr/>
        </p:nvSpPr>
        <p:spPr>
          <a:xfrm>
            <a:off x="2036725" y="3215648"/>
            <a:ext cx="8640000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콘솔 창에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printf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나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std::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cout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으로 출력화는 과정은 생각보다 높은 부하를 차지합니다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비동기 처리와 함께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gathering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적용해 성능을 대폭 향상시켰습니다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62703C-B5BA-4E48-BBDE-ABA020055A0A}"/>
              </a:ext>
            </a:extLst>
          </p:cNvPr>
          <p:cNvSpPr txBox="1"/>
          <p:nvPr/>
        </p:nvSpPr>
        <p:spPr>
          <a:xfrm>
            <a:off x="1717648" y="3722718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칼라 콘솔 로그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71A454-6ABD-4094-BDED-800B715418E4}"/>
              </a:ext>
            </a:extLst>
          </p:cNvPr>
          <p:cNvSpPr txBox="1"/>
          <p:nvPr/>
        </p:nvSpPr>
        <p:spPr>
          <a:xfrm>
            <a:off x="2051561" y="4023500"/>
            <a:ext cx="8640000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콘솔 로그 출력은 </a:t>
            </a:r>
            <a:r>
              <a:rPr lang="en-US" altLang="ko-KR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mfc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controls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의한 출력처럼 컬러로 출력되지 않았습니다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이것을 확대 적용해 콘솔 로그 출력 역시 로그의 종류에 따라 색상을 다르게 출력해 가시성을 개선했습니다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D01FB0-74E1-45C1-AC32-5E95BFFDB741}"/>
              </a:ext>
            </a:extLst>
          </p:cNvPr>
          <p:cNvSpPr txBox="1"/>
          <p:nvPr/>
        </p:nvSpPr>
        <p:spPr>
          <a:xfrm>
            <a:off x="1693372" y="1732086"/>
            <a:ext cx="8640000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완전 비동기 로그처리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CEFA83-0C6C-437D-8E6F-6F4746B941EE}"/>
              </a:ext>
            </a:extLst>
          </p:cNvPr>
          <p:cNvSpPr txBox="1"/>
          <p:nvPr/>
        </p:nvSpPr>
        <p:spPr>
          <a:xfrm>
            <a:off x="2027285" y="2032868"/>
            <a:ext cx="8640000" cy="43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기존에는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file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사용한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log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에만 비동기 처리를 하였습니다만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log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 자체의 비동기 처리를 지원합니다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복잡한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log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처리로 인한 지연을 최소화했습니다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4221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8182CDA-BD26-4323-AB69-56559F41F23A}"/>
              </a:ext>
            </a:extLst>
          </p:cNvPr>
          <p:cNvSpPr/>
          <p:nvPr/>
        </p:nvSpPr>
        <p:spPr>
          <a:xfrm>
            <a:off x="7516465" y="2865487"/>
            <a:ext cx="1589167" cy="2433551"/>
          </a:xfrm>
          <a:prstGeom prst="roundRect">
            <a:avLst>
              <a:gd name="adj" fmla="val 5618"/>
            </a:avLst>
          </a:prstGeom>
          <a:solidFill>
            <a:schemeClr val="accent4"/>
          </a:solidFill>
          <a:ln>
            <a:solidFill>
              <a:schemeClr val="accent1">
                <a:shade val="50000"/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87396-7E38-4459-8386-A43CDEA91BB0}"/>
              </a:ext>
            </a:extLst>
          </p:cNvPr>
          <p:cNvSpPr txBox="1"/>
          <p:nvPr/>
        </p:nvSpPr>
        <p:spPr>
          <a:xfrm>
            <a:off x="3525586" y="1099674"/>
            <a:ext cx="4064495" cy="81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 dirty="0">
                <a:latin typeface="HY견명조" panose="02030600000101010101" pitchFamily="18" charset="-127"/>
                <a:ea typeface="HY견명조" panose="02030600000101010101" pitchFamily="18" charset="-127"/>
              </a:rPr>
              <a:t>NATIVE API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특정 </a:t>
            </a:r>
            <a:r>
              <a:rPr lang="en-US" altLang="ko-KR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OS/</a:t>
            </a: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플랫폼 전용 함수들</a:t>
            </a:r>
            <a:r>
              <a:rPr lang="en-US" altLang="ko-KR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(</a:t>
            </a:r>
            <a:r>
              <a:rPr lang="en-US" altLang="ko-KR" sz="9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api</a:t>
            </a:r>
            <a:r>
              <a:rPr lang="en-US" altLang="ko-KR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) 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플랫폼 고유 기능을 사용하여 </a:t>
            </a:r>
            <a:r>
              <a:rPr lang="ko-KR" altLang="en-US" sz="90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최적화된 구현이 가능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하지만 </a:t>
            </a:r>
            <a:r>
              <a:rPr lang="ko-KR" altLang="en-US" sz="9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플래폼마다</a:t>
            </a: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다른 </a:t>
            </a:r>
            <a:r>
              <a:rPr lang="en-US" altLang="ko-KR" sz="9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api</a:t>
            </a: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에 맞춰 직접 </a:t>
            </a:r>
            <a:r>
              <a:rPr lang="ko-KR" altLang="en-US" sz="9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구현해야하는</a:t>
            </a: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어려움이 있음</a:t>
            </a:r>
            <a:r>
              <a:rPr lang="en-US" altLang="ko-KR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CC54502-DE88-4F8A-8089-1ED964270728}"/>
              </a:ext>
            </a:extLst>
          </p:cNvPr>
          <p:cNvSpPr/>
          <p:nvPr/>
        </p:nvSpPr>
        <p:spPr>
          <a:xfrm>
            <a:off x="7545370" y="1370408"/>
            <a:ext cx="949958" cy="230466"/>
          </a:xfrm>
          <a:prstGeom prst="roundRect">
            <a:avLst/>
          </a:prstGeom>
          <a:solidFill>
            <a:schemeClr val="bg1"/>
          </a:solidFill>
          <a:ln>
            <a:prstDash val="sysDot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socket </a:t>
            </a:r>
            <a:r>
              <a:rPr lang="en-US" altLang="ko-KR" sz="800" dirty="0" err="1">
                <a:solidFill>
                  <a:schemeClr val="tx1"/>
                </a:solidFill>
              </a:rPr>
              <a:t>api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81DB042-8347-41CF-AB25-EC35FC6EF510}"/>
              </a:ext>
            </a:extLst>
          </p:cNvPr>
          <p:cNvSpPr/>
          <p:nvPr/>
        </p:nvSpPr>
        <p:spPr>
          <a:xfrm>
            <a:off x="7551991" y="2187269"/>
            <a:ext cx="949958" cy="230466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boost:asio</a:t>
            </a:r>
            <a:endParaRPr lang="ko-KR" altLang="en-US" sz="800">
              <a:solidFill>
                <a:schemeClr val="tx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C0E5D14-DC44-45BD-9055-87DEA6BCAD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767" y="4794216"/>
            <a:ext cx="415031" cy="8754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C1CC46C-2598-4D0B-BCF8-AC8D9F8BB0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304" y="4694108"/>
            <a:ext cx="473776" cy="2368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2326941-5FE2-449F-92FB-43417FFA51EF}"/>
              </a:ext>
            </a:extLst>
          </p:cNvPr>
          <p:cNvSpPr txBox="1"/>
          <p:nvPr/>
        </p:nvSpPr>
        <p:spPr>
          <a:xfrm>
            <a:off x="3525586" y="1892473"/>
            <a:ext cx="2979862" cy="81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 dirty="0">
                <a:latin typeface="HY견명조" panose="02030600000101010101" pitchFamily="18" charset="-127"/>
                <a:ea typeface="HY견명조" panose="02030600000101010101" pitchFamily="18" charset="-127"/>
              </a:rPr>
              <a:t>STANDARD API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저수준</a:t>
            </a: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  <a:r>
              <a:rPr lang="en-US" altLang="ko-KR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socket </a:t>
            </a:r>
            <a:r>
              <a:rPr lang="en-US" altLang="ko-KR" sz="9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api</a:t>
            </a:r>
            <a:r>
              <a:rPr lang="ko-KR" altLang="en-US" sz="9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를</a:t>
            </a: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표준화한 레벨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서버 플랫폼에 관계없이 동일한 구현 가능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최적화는 일부 희생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E0907F-AF45-4F92-A2FB-8A89A846CA6F}"/>
              </a:ext>
            </a:extLst>
          </p:cNvPr>
          <p:cNvSpPr txBox="1"/>
          <p:nvPr/>
        </p:nvSpPr>
        <p:spPr>
          <a:xfrm>
            <a:off x="3525586" y="2789566"/>
            <a:ext cx="2979862" cy="635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 dirty="0">
                <a:latin typeface="HY견명조" panose="02030600000101010101" pitchFamily="18" charset="-127"/>
                <a:ea typeface="HY견명조" panose="02030600000101010101" pitchFamily="18" charset="-127"/>
              </a:rPr>
              <a:t>ENGINE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핵심 기능을 구현해 놓은 모듈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자동차의 엔진과 같은 개념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0FBA1E-27BD-4C1B-A8BE-96A2646D241A}"/>
              </a:ext>
            </a:extLst>
          </p:cNvPr>
          <p:cNvSpPr txBox="1"/>
          <p:nvPr/>
        </p:nvSpPr>
        <p:spPr>
          <a:xfrm>
            <a:off x="3562628" y="5533854"/>
            <a:ext cx="2979862" cy="43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 dirty="0">
                <a:latin typeface="HY견명조" panose="02030600000101010101" pitchFamily="18" charset="-127"/>
                <a:ea typeface="HY견명조" panose="02030600000101010101" pitchFamily="18" charset="-127"/>
              </a:rPr>
              <a:t>SERVICE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실제 서비스되는 서버를 구현하는 레벨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8EEFD50-E911-4A68-81BE-CD6C3204047A}"/>
              </a:ext>
            </a:extLst>
          </p:cNvPr>
          <p:cNvSpPr/>
          <p:nvPr/>
        </p:nvSpPr>
        <p:spPr>
          <a:xfrm>
            <a:off x="8564114" y="2185647"/>
            <a:ext cx="1088931" cy="230466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C++ Network.TS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0A203EB-FFE9-412C-B025-BEF14D5DBEE4}"/>
              </a:ext>
            </a:extLst>
          </p:cNvPr>
          <p:cNvSpPr/>
          <p:nvPr/>
        </p:nvSpPr>
        <p:spPr>
          <a:xfrm>
            <a:off x="9632520" y="5589121"/>
            <a:ext cx="920354" cy="34637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Web Service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4A1459F-6CFA-4F79-8E54-EA05CEA6E137}"/>
              </a:ext>
            </a:extLst>
          </p:cNvPr>
          <p:cNvSpPr/>
          <p:nvPr/>
        </p:nvSpPr>
        <p:spPr>
          <a:xfrm>
            <a:off x="7630523" y="5608170"/>
            <a:ext cx="920354" cy="34637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Game server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B9B354A-F5BD-4594-B6A9-7956C37B6F59}"/>
              </a:ext>
            </a:extLst>
          </p:cNvPr>
          <p:cNvSpPr/>
          <p:nvPr/>
        </p:nvSpPr>
        <p:spPr>
          <a:xfrm>
            <a:off x="8635567" y="5599414"/>
            <a:ext cx="920354" cy="34637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Game server</a:t>
            </a:r>
            <a:endParaRPr lang="ko-KR" altLang="en-US" sz="800">
              <a:solidFill>
                <a:schemeClr val="tx1"/>
              </a:solidFill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9424B91-D80C-490A-AA8E-AD0CA0874C56}"/>
              </a:ext>
            </a:extLst>
          </p:cNvPr>
          <p:cNvCxnSpPr>
            <a:cxnSpLocks/>
          </p:cNvCxnSpPr>
          <p:nvPr/>
        </p:nvCxnSpPr>
        <p:spPr>
          <a:xfrm>
            <a:off x="3397522" y="2759935"/>
            <a:ext cx="762056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F1E0811-4AB3-45AF-BD22-FF1A71690551}"/>
              </a:ext>
            </a:extLst>
          </p:cNvPr>
          <p:cNvCxnSpPr>
            <a:cxnSpLocks/>
          </p:cNvCxnSpPr>
          <p:nvPr/>
        </p:nvCxnSpPr>
        <p:spPr>
          <a:xfrm flipH="1" flipV="1">
            <a:off x="3397522" y="1902364"/>
            <a:ext cx="7620559" cy="299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6A4C9B-E083-4AC8-952D-E327717C0902}"/>
              </a:ext>
            </a:extLst>
          </p:cNvPr>
          <p:cNvSpPr/>
          <p:nvPr/>
        </p:nvSpPr>
        <p:spPr>
          <a:xfrm>
            <a:off x="9959448" y="4590968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…</a:t>
            </a:r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0C9F34-A373-40AC-8DEF-658A09F7C00F}"/>
              </a:ext>
            </a:extLst>
          </p:cNvPr>
          <p:cNvSpPr txBox="1"/>
          <p:nvPr/>
        </p:nvSpPr>
        <p:spPr>
          <a:xfrm>
            <a:off x="3525585" y="4343192"/>
            <a:ext cx="3418911" cy="97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 dirty="0">
                <a:latin typeface="HY견명조" panose="02030600000101010101" pitchFamily="18" charset="-127"/>
                <a:ea typeface="HY견명조" panose="02030600000101010101" pitchFamily="18" charset="-127"/>
              </a:rPr>
              <a:t>SOLUTION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특정 서비스에 특화해 필요한 기능들을 통합</a:t>
            </a:r>
            <a:r>
              <a:rPr lang="en-US" altLang="ko-KR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/</a:t>
            </a: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구현해 간단한 구현만으로 서비스를 구성할 수 있도록 한 것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대상 서비스에 구체적 특화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주식거래 시스템</a:t>
            </a:r>
            <a:r>
              <a:rPr lang="en-US" altLang="ko-KR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웹솔루션</a:t>
            </a:r>
            <a:r>
              <a:rPr lang="en-US" altLang="ko-KR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채팅 시스템 </a:t>
            </a:r>
            <a:r>
              <a:rPr lang="en-US" altLang="ko-KR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…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350F846-2D8E-4995-B7A7-04CB2FECB79B}"/>
              </a:ext>
            </a:extLst>
          </p:cNvPr>
          <p:cNvCxnSpPr>
            <a:cxnSpLocks/>
          </p:cNvCxnSpPr>
          <p:nvPr/>
        </p:nvCxnSpPr>
        <p:spPr>
          <a:xfrm>
            <a:off x="3397522" y="5537389"/>
            <a:ext cx="762056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A77BABE-5784-4C7B-8144-1C5C9E310048}"/>
              </a:ext>
            </a:extLst>
          </p:cNvPr>
          <p:cNvSpPr/>
          <p:nvPr/>
        </p:nvSpPr>
        <p:spPr>
          <a:xfrm>
            <a:off x="9635877" y="2047155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…</a:t>
            </a:r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2A25E5A-B0CD-4BF9-AE72-1BA9F71B3426}"/>
              </a:ext>
            </a:extLst>
          </p:cNvPr>
          <p:cNvSpPr/>
          <p:nvPr/>
        </p:nvSpPr>
        <p:spPr>
          <a:xfrm>
            <a:off x="10674355" y="5365398"/>
            <a:ext cx="666333" cy="34637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paas</a:t>
            </a:r>
            <a:endParaRPr lang="ko-KR" altLang="en-US" sz="1200">
              <a:solidFill>
                <a:schemeClr val="tx1"/>
              </a:solidFill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C9BF0565-5665-4D18-8FE0-00EB0F69364A}"/>
              </a:ext>
            </a:extLst>
          </p:cNvPr>
          <p:cNvCxnSpPr>
            <a:cxnSpLocks/>
          </p:cNvCxnSpPr>
          <p:nvPr/>
        </p:nvCxnSpPr>
        <p:spPr>
          <a:xfrm flipH="1" flipV="1">
            <a:off x="3397522" y="4313452"/>
            <a:ext cx="7620559" cy="299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DCB6C4C-5D2B-4821-A9BE-4B5BD5E1A069}"/>
              </a:ext>
            </a:extLst>
          </p:cNvPr>
          <p:cNvCxnSpPr>
            <a:cxnSpLocks/>
          </p:cNvCxnSpPr>
          <p:nvPr/>
        </p:nvCxnSpPr>
        <p:spPr>
          <a:xfrm flipH="1" flipV="1">
            <a:off x="3397522" y="3608602"/>
            <a:ext cx="7620559" cy="299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9258C0A-A457-4BE3-B52B-4D78FFBED20E}"/>
              </a:ext>
            </a:extLst>
          </p:cNvPr>
          <p:cNvSpPr txBox="1"/>
          <p:nvPr/>
        </p:nvSpPr>
        <p:spPr>
          <a:xfrm>
            <a:off x="3525586" y="3622241"/>
            <a:ext cx="3746708" cy="43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 dirty="0">
                <a:latin typeface="HY견명조" panose="02030600000101010101" pitchFamily="18" charset="-127"/>
                <a:ea typeface="HY견명조" panose="02030600000101010101" pitchFamily="18" charset="-127"/>
              </a:rPr>
              <a:t>FRAMEWORK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구조까지 제공해 일부만 제정의 혹은 설정하여 서비스 제작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95A3DC-90C1-4A6D-A5B9-B6813935CE11}"/>
              </a:ext>
            </a:extLst>
          </p:cNvPr>
          <p:cNvSpPr txBox="1"/>
          <p:nvPr/>
        </p:nvSpPr>
        <p:spPr>
          <a:xfrm>
            <a:off x="7523325" y="2849963"/>
            <a:ext cx="90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CGC.II.</a:t>
            </a:r>
            <a:endParaRPr lang="ko-KR" altLang="en-US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7CE019C-2BCE-4AF8-A5E5-E00EF2C9B68E}"/>
              </a:ext>
            </a:extLst>
          </p:cNvPr>
          <p:cNvSpPr/>
          <p:nvPr/>
        </p:nvSpPr>
        <p:spPr>
          <a:xfrm>
            <a:off x="8620331" y="1370408"/>
            <a:ext cx="949958" cy="230466"/>
          </a:xfrm>
          <a:prstGeom prst="roundRect">
            <a:avLst/>
          </a:prstGeom>
          <a:solidFill>
            <a:schemeClr val="bg1"/>
          </a:solidFill>
          <a:ln>
            <a:prstDash val="sysDot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winsock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en-US" altLang="ko-KR" sz="800" dirty="0" err="1">
                <a:solidFill>
                  <a:schemeClr val="tx1"/>
                </a:solidFill>
              </a:rPr>
              <a:t>api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2D2C180-47F5-486C-96DA-4B5DE53D4930}"/>
              </a:ext>
            </a:extLst>
          </p:cNvPr>
          <p:cNvSpPr/>
          <p:nvPr/>
        </p:nvSpPr>
        <p:spPr>
          <a:xfrm>
            <a:off x="7590081" y="3163850"/>
            <a:ext cx="10583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CGDK.system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CGDK.net.socket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CGDK.server.log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C4F9C41-515B-456B-A263-807391362ED6}"/>
              </a:ext>
            </a:extLst>
          </p:cNvPr>
          <p:cNvSpPr/>
          <p:nvPr/>
        </p:nvSpPr>
        <p:spPr>
          <a:xfrm>
            <a:off x="7590081" y="3680876"/>
            <a:ext cx="1197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CGDK.net.p2p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CGDK.server.group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CGDK.server.service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A57DB02-6327-4184-93C7-6923C62BB48B}"/>
              </a:ext>
            </a:extLst>
          </p:cNvPr>
          <p:cNvSpPr/>
          <p:nvPr/>
        </p:nvSpPr>
        <p:spPr>
          <a:xfrm>
            <a:off x="7590081" y="4398737"/>
            <a:ext cx="13773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CGDK.server.doss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CGDK.server.time_event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CGDK.server.admin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2FCA8B-A33E-4E89-8064-209158D751F4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About CGCII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0828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2EC70-2EC7-401B-BBF0-212DF69FEBCE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Why CGCII?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572A47-F593-4665-814C-90CD55A53A93}"/>
              </a:ext>
            </a:extLst>
          </p:cNvPr>
          <p:cNvSpPr txBox="1"/>
          <p:nvPr/>
        </p:nvSpPr>
        <p:spPr>
          <a:xfrm>
            <a:off x="1199660" y="1111876"/>
            <a:ext cx="6110416" cy="2620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압도적 성능</a:t>
            </a:r>
            <a:endParaRPr lang="en-US" altLang="ko-KR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압도적 안정성</a:t>
            </a:r>
            <a:endParaRPr lang="en-US" altLang="ko-KR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초대규모 동시 접속 능력</a:t>
            </a:r>
            <a:endParaRPr lang="en-US" altLang="ko-KR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서버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클라이언트 플랫폼 지원</a:t>
            </a:r>
            <a:endParaRPr lang="en-US" altLang="ko-KR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강력한 </a:t>
            </a:r>
            <a:r>
              <a:rPr lang="ko-KR" altLang="en-US" sz="16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웹지원</a:t>
            </a:r>
            <a:endParaRPr lang="en-US" altLang="ko-KR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7717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압도적 성능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F43C4-B6F0-49EE-A406-F7B80C21BA1E}"/>
              </a:ext>
            </a:extLst>
          </p:cNvPr>
          <p:cNvSpPr txBox="1"/>
          <p:nvPr/>
        </p:nvSpPr>
        <p:spPr>
          <a:xfrm>
            <a:off x="1341783" y="1120072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고성능 풀 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TLS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사용한 풀 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tcmalloc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보다도 월등한 성능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0593B6-6576-4CCC-83C1-15680DE1A7DE}"/>
              </a:ext>
            </a:extLst>
          </p:cNvPr>
          <p:cNvSpPr txBox="1"/>
          <p:nvPr/>
        </p:nvSpPr>
        <p:spPr>
          <a:xfrm>
            <a:off x="1295402" y="2301039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더욱 향상된 다중코어 최적화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통합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쓰레드풀의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구현으로 최고의 쓰레드 효율 제공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락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(lock)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으로 인한 비효율을 최소화 설계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코어가 많으면 많을 수록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락으로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인한 성능 손실문제가 커진다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2432DE-C8A3-4440-92E0-E307A03A2090}"/>
              </a:ext>
            </a:extLst>
          </p:cNvPr>
          <p:cNvSpPr txBox="1"/>
          <p:nvPr/>
        </p:nvSpPr>
        <p:spPr>
          <a:xfrm>
            <a:off x="1295402" y="3472994"/>
            <a:ext cx="9203634" cy="2950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초고성능 소켓 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i/o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windows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iocp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linux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epoll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최적화하여 구현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linux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i/o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역시 최적화 알고리즘으로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iocp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수준의 성능을 구현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고효율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send gathering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알고리즘 적용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Host 4GHz 4core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일 경우 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⇒ 100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접속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8Byte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송수신 초당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억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5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천만 수준의 성능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⇒ 50,000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접속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8Byte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송수신 초당 소켓당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1000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수준의 성능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⇒ 200,000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접속시도 채팅서버의 동작이 가능한 수준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코어 수가 많으면 그만큼 비례해 성능 증가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3528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F43C4-B6F0-49EE-A406-F7B80C21BA1E}"/>
              </a:ext>
            </a:extLst>
          </p:cNvPr>
          <p:cNvSpPr txBox="1"/>
          <p:nvPr/>
        </p:nvSpPr>
        <p:spPr>
          <a:xfrm>
            <a:off x="1341783" y="1886185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각종 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i/o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처리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최적화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File i/o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에도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gathering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알고리즘을 적용해 압도적 성능 향상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console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화면 출력 역시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gathering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알고리즘을 적용해 압도적 성능 향상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0593B6-6576-4CCC-83C1-15680DE1A7DE}"/>
              </a:ext>
            </a:extLst>
          </p:cNvPr>
          <p:cNvSpPr txBox="1"/>
          <p:nvPr/>
        </p:nvSpPr>
        <p:spPr>
          <a:xfrm>
            <a:off x="1287161" y="3042438"/>
            <a:ext cx="9203634" cy="688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고효율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스케쥴러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time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event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처리를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폴링방식이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아닌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priority queue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 고효율화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58C00E-01AD-4D3B-9B4E-97BA25D034BE}"/>
              </a:ext>
            </a:extLst>
          </p:cNvPr>
          <p:cNvSpPr txBox="1"/>
          <p:nvPr/>
        </p:nvSpPr>
        <p:spPr>
          <a:xfrm>
            <a:off x="1287160" y="649348"/>
            <a:ext cx="10167553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짧은 </a:t>
            </a:r>
            <a:r>
              <a:rPr lang="en-US" altLang="ko-KR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tcp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소켓 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i/o delay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소켓의 송수신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through-put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향상시키기 위해 송수신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delay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주어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gathering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처리하는 경우가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gathering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처리를 하면서도 송수신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delay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주지 않도록 하는 알고리즘 사용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8018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압도적 안정성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EBF0C-1B3C-41C0-BDD5-438498059C61}"/>
              </a:ext>
            </a:extLst>
          </p:cNvPr>
          <p:cNvSpPr txBox="1"/>
          <p:nvPr/>
        </p:nvSpPr>
        <p:spPr>
          <a:xfrm>
            <a:off x="1331847" y="1104262"/>
            <a:ext cx="7056782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초고부하 내성 처리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초고부하에 견디기 위해서는 그만큼의 안정성이 필요하다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부하 쏠림 최소화 처리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부하 적응형 알고리즘 적용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A9883D-66CE-4CFF-9492-B91FD5B07C41}"/>
              </a:ext>
            </a:extLst>
          </p:cNvPr>
          <p:cNvSpPr txBox="1"/>
          <p:nvPr/>
        </p:nvSpPr>
        <p:spPr>
          <a:xfrm>
            <a:off x="1331847" y="2574131"/>
            <a:ext cx="9203634" cy="1657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완벽한 접속 종료 처리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서버의 오류 혹은 다운의 상당 비중이 접속 종료 처리시의 문제인 경우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Graceful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close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Abortive close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모두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케이스를 고려한 정확한 접속 종료 처리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제대로 처리를 하지 못하면 고스트 소켓 발생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오류 소켓들에 대한 적절한 처리 필요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.(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linux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경우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ulimits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connect reset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등등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…)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A4D3D0-4357-40A1-9E42-A2696ECD0580}"/>
              </a:ext>
            </a:extLst>
          </p:cNvPr>
          <p:cNvSpPr txBox="1"/>
          <p:nvPr/>
        </p:nvSpPr>
        <p:spPr>
          <a:xfrm>
            <a:off x="1323606" y="4431767"/>
            <a:ext cx="9203634" cy="688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i/o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쓰로틀링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처리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 능력을 초과한 소켓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i/o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요구될 경우 실패 혹은 접속 종료 처리를 해 서버의 안정성을 확보한다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5379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BE3CA2-BDAC-43F3-B3C2-25E3BB75947B}"/>
              </a:ext>
            </a:extLst>
          </p:cNvPr>
          <p:cNvSpPr txBox="1"/>
          <p:nvPr/>
        </p:nvSpPr>
        <p:spPr>
          <a:xfrm>
            <a:off x="1354139" y="713409"/>
            <a:ext cx="10609523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강한 예외 안전 보장 지원 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서버의 정합성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(consistency)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처리의 기반이 되는 핵심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 엔진의 모든 로직이 강한 예외안전 보장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(Strong exception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safty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guarantee)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보장하도록 설계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즉 어떤 상황에서 예외가 발생하더라도 완벽하게 롤백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(roll-back)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처리가 되어 지속적으로 서버가 동작할 수 있도록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6439E9-239D-475B-9980-3CABAB399CDC}"/>
              </a:ext>
            </a:extLst>
          </p:cNvPr>
          <p:cNvSpPr txBox="1"/>
          <p:nvPr/>
        </p:nvSpPr>
        <p:spPr>
          <a:xfrm>
            <a:off x="1354140" y="2193225"/>
            <a:ext cx="10485782" cy="1657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다운 당하지 않는 서버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잘못된 포인터를 접근하거나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0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으로 나누거나 해서 발생하는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os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차원에서의 예외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즉 서버를 비정상 종료 시킬 수 있는 예외가 발생해도 서버는 다운되지 않는다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엔진 내부적으로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SEH(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Structred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Exception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Handling)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혹은  시그널을 처리해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Os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차원에서의 예외가 발생하면 자동적으로 덤프를 남긴 후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c++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예외로 던져 처리를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롤백하거나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정상적으로 종료할 수 있는 기회 제공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70FA24-4E41-4C69-AF6A-CCE07F3027A8}"/>
              </a:ext>
            </a:extLst>
          </p:cNvPr>
          <p:cNvSpPr txBox="1"/>
          <p:nvPr/>
        </p:nvSpPr>
        <p:spPr>
          <a:xfrm>
            <a:off x="1331846" y="3971295"/>
            <a:ext cx="10157791" cy="1980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순차적 소켓 이벤트 처리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접속 지향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tcp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소켓의 경우 처리의 송수신 순서와 접속과 종료 처리의 순차화 처리가 필요하다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다중 코어 다중 쓰레드가 일반화 되면서 이로 인한 오류가 상당수를 차지한다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예를 들어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…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나중에 받은 메시지가 다른 쓰레드에서 먼저 받은 메시지보다 먼저 처리되는 경우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on_connect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()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 중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on_message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()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호출되거나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on_close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()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다른 쓰레드에서 호출되는 경우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4493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초대규모 동시 접속 능력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E6BD7-2F89-4765-9333-1159CE25240D}"/>
              </a:ext>
            </a:extLst>
          </p:cNvPr>
          <p:cNvSpPr txBox="1"/>
          <p:nvPr/>
        </p:nvSpPr>
        <p:spPr>
          <a:xfrm>
            <a:off x="1331843" y="1141333"/>
            <a:ext cx="7056782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10K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를 넘어 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10M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접속 능력이 목표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천만 동시접속 능력을 구현하기 위해 다양한 최적화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부하 쏠림 최소화 처리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부하 적응형 알고리즘 적용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(gathering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27E2B4-8F10-4025-9958-13D98B2C5613}"/>
              </a:ext>
            </a:extLst>
          </p:cNvPr>
          <p:cNvSpPr txBox="1"/>
          <p:nvPr/>
        </p:nvSpPr>
        <p:spPr>
          <a:xfrm>
            <a:off x="1335158" y="3755691"/>
            <a:ext cx="8912084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소켓당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매모리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사용량 최적화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소켓의 성능을 올리거나 더 큰 메시지를 받기 위해서는 더 큰 송수신 버퍼들이 필요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가변형 메모리 사용량 알고리즘을 적용하여 소켓당 최소 사용 메모리를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4kbyte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수준으로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최소화했으면도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고성능과 수십 수백메가 단위의 메시지도 받을 수 있도록 구현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D3D7C2-10ED-4090-9664-2BCF1D85A9BE}"/>
              </a:ext>
            </a:extLst>
          </p:cNvPr>
          <p:cNvSpPr txBox="1"/>
          <p:nvPr/>
        </p:nvSpPr>
        <p:spPr>
          <a:xfrm>
            <a:off x="1328533" y="5208506"/>
            <a:ext cx="9992135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무동작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무부하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소켓이 송신과 수신 등 동작을 하지 않아도  존재하는 것만으로 부하를 잡아먹는 경우는 초대규모 접속 능력을 위해서는 있어서는 안된다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동작을 하지 않을 시에는 아무런 부하를 먹지 않는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무동작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무부하를 구현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1A905-5048-4AD4-B620-5449DAEBE16B}"/>
              </a:ext>
            </a:extLst>
          </p:cNvPr>
          <p:cNvSpPr txBox="1"/>
          <p:nvPr/>
        </p:nvSpPr>
        <p:spPr>
          <a:xfrm>
            <a:off x="1335158" y="2611857"/>
            <a:ext cx="891208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비동기 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accept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처리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소켓의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accept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처리를 비동기 처리해 접속 효율을 높임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windows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경우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acceptEx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linux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경우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epoll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사용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4713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압도적 안정성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F43C4-B6F0-49EE-A406-F7B80C21BA1E}"/>
              </a:ext>
            </a:extLst>
          </p:cNvPr>
          <p:cNvSpPr txBox="1"/>
          <p:nvPr/>
        </p:nvSpPr>
        <p:spPr>
          <a:xfrm>
            <a:off x="1341783" y="1120072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다양한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재접속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기능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재접속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간격 설정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다목표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순환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재접속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기능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0593B6-6576-4CCC-83C1-15680DE1A7DE}"/>
              </a:ext>
            </a:extLst>
          </p:cNvPr>
          <p:cNvSpPr txBox="1"/>
          <p:nvPr/>
        </p:nvSpPr>
        <p:spPr>
          <a:xfrm>
            <a:off x="1295402" y="2276325"/>
            <a:ext cx="9203634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다양한 소켓 튜닝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소켓 튜닝 파라미터들이 존재해 필요에 따라 최적의 설정으로 튜닝이 가능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최소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최대 전송 버퍼 크기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최대 메시지 크기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최대 송신 지연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메시지수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바이트수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기타 등등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…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튜닝 파라미터들은 기본적으로는 자동 설정되므로 필요시에만 설정하면 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2432DE-C8A3-4440-92E0-E307A03A2090}"/>
              </a:ext>
            </a:extLst>
          </p:cNvPr>
          <p:cNvSpPr txBox="1"/>
          <p:nvPr/>
        </p:nvSpPr>
        <p:spPr>
          <a:xfrm>
            <a:off x="1268069" y="3677863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개당된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컴퍼넌트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조합 구조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소켓을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6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개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layer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인터페이스로 구현하여 필요에 따라 다양한 소켓 구현이 가능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독자적인 프로토콜을 사용하고 싶다면 해당 레이어만 조합해 사용이 가능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96806F-48E9-4FD3-A748-1222BB1CD813}"/>
              </a:ext>
            </a:extLst>
          </p:cNvPr>
          <p:cNvSpPr txBox="1"/>
          <p:nvPr/>
        </p:nvSpPr>
        <p:spPr>
          <a:xfrm>
            <a:off x="1268069" y="4755327"/>
            <a:ext cx="9203634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기타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훅함수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암호화 소켓 송수신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http/https/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ws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wss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등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웹관련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서버와 클라이언트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7113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마법같은</a:t>
            </a:r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 직렬화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F43C4-B6F0-49EE-A406-F7B80C21BA1E}"/>
              </a:ext>
            </a:extLst>
          </p:cNvPr>
          <p:cNvSpPr txBox="1"/>
          <p:nvPr/>
        </p:nvSpPr>
        <p:spPr>
          <a:xfrm>
            <a:off x="1341783" y="1120072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구조체 직렬화 기능 제공 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(C++)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번거러운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메시지 구조 정의나 컴파일 과정 없이 단지 구조체의 정의만으로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마법같은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직렬화가 가능하다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Static reflection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구현해 구조체 정의만으로 직렬화를 정의할 수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0593B6-6576-4CCC-83C1-15680DE1A7DE}"/>
              </a:ext>
            </a:extLst>
          </p:cNvPr>
          <p:cNvSpPr txBox="1"/>
          <p:nvPr/>
        </p:nvSpPr>
        <p:spPr>
          <a:xfrm>
            <a:off x="1295402" y="2276325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Reflection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을 사용한 직렬화 기능 제공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C#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경우 역시 구조체 정의만으로 직렬화가 가능하다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C#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reflection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기능을 사용해 직렬화가 구현되었다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2432DE-C8A3-4440-92E0-E307A03A2090}"/>
              </a:ext>
            </a:extLst>
          </p:cNvPr>
          <p:cNvSpPr txBox="1"/>
          <p:nvPr/>
        </p:nvSpPr>
        <p:spPr>
          <a:xfrm>
            <a:off x="1268069" y="3665506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복잡화된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다계층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데이터의 직렬화 가능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구좆체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직렬화로 매우 복잡하거나 큰 규모의 메시지 정의도 손쉽게 할 수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구조체 직렬화로 구조체 안에 구조가 포함된 다층의 복잡한 메시지 역시 손쉽게 직렬화가 가능하다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0901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4434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서버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클라이언트 플랫폼 지원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F43C4-B6F0-49EE-A406-F7B80C21BA1E}"/>
              </a:ext>
            </a:extLst>
          </p:cNvPr>
          <p:cNvSpPr txBox="1"/>
          <p:nvPr/>
        </p:nvSpPr>
        <p:spPr>
          <a:xfrm>
            <a:off x="1341783" y="1120072"/>
            <a:ext cx="9203634" cy="688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C++, C#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언어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C++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용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CGDK10.C++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과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C#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용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CGDK10.C#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제공한다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0593B6-6576-4CCC-83C1-15680DE1A7DE}"/>
              </a:ext>
            </a:extLst>
          </p:cNvPr>
          <p:cNvSpPr txBox="1"/>
          <p:nvPr/>
        </p:nvSpPr>
        <p:spPr>
          <a:xfrm>
            <a:off x="1295402" y="2029189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윈도우와 리눅스 서버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Window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linux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서버의 크로스 플랫폼 지원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즉 동일한 소스로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Windows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linux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컴파일해 실행 가능하다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2432DE-C8A3-4440-92E0-E307A03A2090}"/>
              </a:ext>
            </a:extLst>
          </p:cNvPr>
          <p:cNvSpPr txBox="1"/>
          <p:nvPr/>
        </p:nvSpPr>
        <p:spPr>
          <a:xfrm>
            <a:off x="1295402" y="4436824"/>
            <a:ext cx="9203634" cy="1657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다양한 클라이언트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특정 프로토콜만 지원하는 것이 아니기 때문에 특별한 클라이언트 모듈이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필요없다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따라서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C++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과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C#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사용할 수 있는 모든 클라이언트를 지원한다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Unreal 3D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위해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Fsocket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사용한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CGDK10.Fsocket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지원한다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Unity 3D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CGDK10.C#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지원한다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375D3-71A5-4F8A-885C-3B9BCFB2DFED}"/>
              </a:ext>
            </a:extLst>
          </p:cNvPr>
          <p:cNvSpPr txBox="1"/>
          <p:nvPr/>
        </p:nvSpPr>
        <p:spPr>
          <a:xfrm>
            <a:off x="1287161" y="3242331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다양한 프로토콜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메시지 처리를 재정의 가능해 어떤 프로토콜도 지원 가능하다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기본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프로토콜뿐만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아니라 사용자 정의 프로토콜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웹프로토콜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protobuf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도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사용가능하다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6344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강력한 통계 정보 제공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F43C4-B6F0-49EE-A406-F7B80C21BA1E}"/>
              </a:ext>
            </a:extLst>
          </p:cNvPr>
          <p:cNvSpPr txBox="1"/>
          <p:nvPr/>
        </p:nvSpPr>
        <p:spPr>
          <a:xfrm>
            <a:off x="1341783" y="1120072"/>
            <a:ext cx="10001720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다양한 내부 데이터들에 대한 통계 정보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객체의 할당과 해제 쓰레드의 동작 상황 등등 모든 내부 처리에 대한 통계 정보가 제공된다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i/o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송수신 정보에 대해 소켓별로 통계 정보를 얻을 수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전송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바이트수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전송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메시지수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수신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메시지수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수신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바이트수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접속시간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마지막 송신시간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마지막 수신 시간 등등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2432DE-C8A3-4440-92E0-E307A03A2090}"/>
              </a:ext>
            </a:extLst>
          </p:cNvPr>
          <p:cNvSpPr txBox="1"/>
          <p:nvPr/>
        </p:nvSpPr>
        <p:spPr>
          <a:xfrm>
            <a:off x="1295402" y="4053760"/>
            <a:ext cx="9203634" cy="688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관리툴과의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연동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admin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시스템을 통해 통계 정보를 연동해 전달받을 수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375D3-71A5-4F8A-885C-3B9BCFB2DFED}"/>
              </a:ext>
            </a:extLst>
          </p:cNvPr>
          <p:cNvSpPr txBox="1"/>
          <p:nvPr/>
        </p:nvSpPr>
        <p:spPr>
          <a:xfrm>
            <a:off x="1287161" y="2661559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에러 및 예외 발생시 통보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서버에 치명적인 오류가 발생해 덤프가 남거나 기타 심각한 오류가 발생하면 그 정보를 다양한 경로로 통보해줄 수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0448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강력한 </a:t>
            </a:r>
            <a:r>
              <a:rPr lang="ko-KR" altLang="en-US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웹지원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F43C4-B6F0-49EE-A406-F7B80C21BA1E}"/>
              </a:ext>
            </a:extLst>
          </p:cNvPr>
          <p:cNvSpPr txBox="1"/>
          <p:nvPr/>
        </p:nvSpPr>
        <p:spPr>
          <a:xfrm>
            <a:off x="1341783" y="1120072"/>
            <a:ext cx="9203634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웹프로토콜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웹의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http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프로토콜을 지원한다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SSL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사용해 암호화 소켓을 즉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https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지원한다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ws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wss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즉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웹소켓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프로토콜을 지원한다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2432DE-C8A3-4440-92E0-E307A03A2090}"/>
              </a:ext>
            </a:extLst>
          </p:cNvPr>
          <p:cNvSpPr txBox="1"/>
          <p:nvPr/>
        </p:nvSpPr>
        <p:spPr>
          <a:xfrm>
            <a:off x="1295402" y="3645986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웹서비스와 강력한 연동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강력한 웹서비스 지원은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웹기술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기반의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devops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와의 연동을 가능하게 해준다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앱스토어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구글플레이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은행망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비트코인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까지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Oauth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기반으로한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웹서비스들과 연동을 지원한다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375D3-71A5-4F8A-885C-3B9BCFB2DFED}"/>
              </a:ext>
            </a:extLst>
          </p:cNvPr>
          <p:cNvSpPr txBox="1"/>
          <p:nvPr/>
        </p:nvSpPr>
        <p:spPr>
          <a:xfrm>
            <a:off x="1287161" y="2661559"/>
            <a:ext cx="9203634" cy="688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자체 웹서버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웹클라이언트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뿐만 아니라 웹서버 구현이 가능하다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05745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풍부한 </a:t>
            </a:r>
            <a:r>
              <a:rPr lang="ko-KR" altLang="en-US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튜터리얼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F43C4-B6F0-49EE-A406-F7B80C21BA1E}"/>
              </a:ext>
            </a:extLst>
          </p:cNvPr>
          <p:cNvSpPr txBox="1"/>
          <p:nvPr/>
        </p:nvSpPr>
        <p:spPr>
          <a:xfrm>
            <a:off x="1341783" y="2948874"/>
            <a:ext cx="9203634" cy="688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바로 사용할 수 있는 수준의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튜터리얼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튜터리얼의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소스를 그대로 활용해 개발도 가능하다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2432DE-C8A3-4440-92E0-E307A03A2090}"/>
              </a:ext>
            </a:extLst>
          </p:cNvPr>
          <p:cNvSpPr txBox="1"/>
          <p:nvPr/>
        </p:nvSpPr>
        <p:spPr>
          <a:xfrm>
            <a:off x="1295402" y="3843696"/>
            <a:ext cx="9203634" cy="688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다양한 예제 소스 제공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실제 서비스에 사용할 수 있을 정도로 구현된 예제 소스들을 제공한다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375D3-71A5-4F8A-885C-3B9BCFB2DFED}"/>
              </a:ext>
            </a:extLst>
          </p:cNvPr>
          <p:cNvSpPr txBox="1"/>
          <p:nvPr/>
        </p:nvSpPr>
        <p:spPr>
          <a:xfrm>
            <a:off x="1287161" y="1327023"/>
            <a:ext cx="9203634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풍부한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튜터리얼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엔진의 기능을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튜터리얼을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통해 제공한다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분야를 나눠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수십여개의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튜터리얼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프로젝트를 제공한다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튜터리얼을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차례로 학습함으로써 쉽게 엔진을 익힐 수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5944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관리 시스템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375D3-71A5-4F8A-885C-3B9BCFB2DFED}"/>
              </a:ext>
            </a:extLst>
          </p:cNvPr>
          <p:cNvSpPr txBox="1"/>
          <p:nvPr/>
        </p:nvSpPr>
        <p:spPr>
          <a:xfrm>
            <a:off x="1287161" y="2117859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실시간 모니터링을 위한 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 내의 각종 동작과 통계 정보를 실시간으로 확인할 수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내장 웹서버로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웹브라우저를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통한 실시간 동작과 통계 정보 그리고 제어를 할 수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0EAC0E-4E6E-432A-B49F-FAB9E421FD31}"/>
              </a:ext>
            </a:extLst>
          </p:cNvPr>
          <p:cNvSpPr txBox="1"/>
          <p:nvPr/>
        </p:nvSpPr>
        <p:spPr>
          <a:xfrm>
            <a:off x="1278921" y="1145790"/>
            <a:ext cx="9203634" cy="688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통합 중앙 관리 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Admin server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 많은 서버들의 시작과 종료 시작 파라미터 상태 정보 등을 통제 관리할 수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48786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기타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375D3-71A5-4F8A-885C-3B9BCFB2DFED}"/>
              </a:ext>
            </a:extLst>
          </p:cNvPr>
          <p:cNvSpPr txBox="1"/>
          <p:nvPr/>
        </p:nvSpPr>
        <p:spPr>
          <a:xfrm>
            <a:off x="1287161" y="1327023"/>
            <a:ext cx="9203634" cy="2627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다양한 서버 기능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group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time_event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분산 처리 지원 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로그 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쿼리 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Redis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쿼리 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39729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11104483" y="2973320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License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77563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엔진 라이선스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DDD579-DB70-43B8-B9DD-8DB3C63CE1AE}"/>
              </a:ext>
            </a:extLst>
          </p:cNvPr>
          <p:cNvSpPr txBox="1"/>
          <p:nvPr/>
        </p:nvSpPr>
        <p:spPr>
          <a:xfrm>
            <a:off x="1653837" y="1326003"/>
            <a:ext cx="3968487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type.1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프로젝트별 라이센스 구매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년 단위 혹은 다년 단위 계약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무기한 라이선스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⇒ 4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년치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라이선스료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70C555-87B9-4977-A949-3FEF860DCB06}"/>
              </a:ext>
            </a:extLst>
          </p:cNvPr>
          <p:cNvSpPr txBox="1"/>
          <p:nvPr/>
        </p:nvSpPr>
        <p:spPr>
          <a:xfrm>
            <a:off x="1657151" y="2700912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type.2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머신별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라이센스 구매 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(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예정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)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특정 머신 전용 라이선스 발행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개발자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최대접속 허용 수에 따른 차등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라이센스료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206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개발 지원 컨설팅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3A8592-6D68-47AE-93E1-86408F7498B0}"/>
              </a:ext>
            </a:extLst>
          </p:cNvPr>
          <p:cNvSpPr txBox="1"/>
          <p:nvPr/>
        </p:nvSpPr>
        <p:spPr>
          <a:xfrm>
            <a:off x="1654372" y="1323782"/>
            <a:ext cx="9203634" cy="1657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type.1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엔진을 사용한 개발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온오프라인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코드 리뷰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엔진 및 서버 개발 교육을 통한 개발팀 및 인력 구축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건별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혹은 기간별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8B1188-E403-4A87-A94A-95B851413922}"/>
              </a:ext>
            </a:extLst>
          </p:cNvPr>
          <p:cNvSpPr txBox="1"/>
          <p:nvPr/>
        </p:nvSpPr>
        <p:spPr>
          <a:xfrm>
            <a:off x="1667626" y="3076377"/>
            <a:ext cx="9203634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type.2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프로젝트 초기 설계 및 개발 주도적 지원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프로젝트 개발 지원 내역 설정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후 진행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기간별 계약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69686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10957007" y="297332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59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23092</TotalTime>
  <Words>4605</Words>
  <Application>Microsoft Office PowerPoint</Application>
  <PresentationFormat>와이드스크린</PresentationFormat>
  <Paragraphs>499</Paragraphs>
  <Slides>34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3" baseType="lpstr">
      <vt:lpstr>HY견명조</vt:lpstr>
      <vt:lpstr>HY신명조</vt:lpstr>
      <vt:lpstr>나눔명조</vt:lpstr>
      <vt:lpstr>나눔명조 ExtraBold</vt:lpstr>
      <vt:lpstr>맑은 고딕</vt:lpstr>
      <vt:lpstr>바탕</vt:lpstr>
      <vt:lpstr>Arial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조상현</dc:creator>
  <cp:lastModifiedBy>조 상현</cp:lastModifiedBy>
  <cp:revision>4187</cp:revision>
  <dcterms:created xsi:type="dcterms:W3CDTF">2016-03-23T14:08:17Z</dcterms:created>
  <dcterms:modified xsi:type="dcterms:W3CDTF">2021-12-08T17:09:06Z</dcterms:modified>
</cp:coreProperties>
</file>