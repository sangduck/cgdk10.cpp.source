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34" userDrawn="1">
          <p15:clr>
            <a:srgbClr val="A4A3A4"/>
          </p15:clr>
        </p15:guide>
        <p15:guide id="2" pos="72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21" d="100"/>
          <a:sy n="121" d="100"/>
        </p:scale>
        <p:origin x="138" y="108"/>
      </p:cViewPr>
      <p:guideLst>
        <p:guide orient="horz" pos="3634"/>
        <p:guide pos="72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16784A-A114-4E65-844B-5BC6AF19A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A16CC4-2E2D-449A-A7FD-CFA9E539E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6FE6E7-291D-4553-9A88-CBB517F3D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FB68-53F3-4FE8-9144-2ECCFF2F1EC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B43E7-E5A6-4D58-96D2-F75FF1EB8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A14F13-B397-4467-BD42-EAAF429A5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9D3E-6133-4875-BFB3-46C868033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223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43BFC-AF43-45D5-88DD-58B3A99EB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E54C7E-89C5-49EE-B6B3-03A993CF3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7408C-A02E-4B4E-AC31-60DCA2F6E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FB68-53F3-4FE8-9144-2ECCFF2F1EC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99A2CD-6667-45D1-9821-DC666210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A6B97D-D56E-48AF-A253-9B6759D09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9D3E-6133-4875-BFB3-46C868033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98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AE9DD-7F02-4E30-9BE2-F8F37A135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DFAEB5-82D2-48D5-822E-B05158DE9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2719BD-6B26-44A4-A821-03D57B34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FB68-53F3-4FE8-9144-2ECCFF2F1EC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49D190-FB02-4452-B2E7-9A7172DD1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A90EAA-16BA-465A-B90F-E7B441CA4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9D3E-6133-4875-BFB3-46C868033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056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33823-79B5-4E16-8715-57687BB5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1CF42B-50A7-4DF2-BEE7-0EB6CA1D8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B434D5-7C21-4A2A-82F2-293405043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F63E17-03CA-425D-82C1-DC936729E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FB68-53F3-4FE8-9144-2ECCFF2F1EC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A9576F-08B0-4EDB-A950-CC78097D1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0F75E9-0A6C-42A7-9AB7-20AAB4CD9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9D3E-6133-4875-BFB3-46C868033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688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32951-655D-4E8B-AB4C-9E4E82880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F22AAC-505C-419F-BC32-420AC9C1F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5A6809-8646-4C1C-92E4-A830A23AC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3419C3-FE85-4FFC-B31E-3D69BA89E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F3F7547-244E-433A-BE14-A3800412A8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DEF768D-2506-467B-AEC2-9A8A5A01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FB68-53F3-4FE8-9144-2ECCFF2F1EC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F08D708-1120-448C-83E0-7162731D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7EAB3C-36D1-455A-AA2B-970E2F11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9D3E-6133-4875-BFB3-46C868033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299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6086E-14E2-42EF-B824-EC291B07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59CCC8-31DC-471B-A6BC-5BE079001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FB68-53F3-4FE8-9144-2ECCFF2F1EC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870BD2-1631-4D16-B1A9-5CCE68923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23A67C-8235-488D-9E59-0D930CB4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9D3E-6133-4875-BFB3-46C868033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717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661F31B-90C4-4BCF-9C74-CDBE19E1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FB68-53F3-4FE8-9144-2ECCFF2F1EC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CC3AFB-4415-4E2B-8DA7-18EC227C4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C7A39D-7D09-456C-8F4D-7363B9B7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9D3E-6133-4875-BFB3-46C868033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900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07F37-97F6-4598-8668-A64078EE4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0D9942-FA52-4BEB-9CC1-D3E5536A2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731E03-22DF-42DC-BC20-625230795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19D053-9D4F-4B67-A8C4-D13DAD27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FB68-53F3-4FE8-9144-2ECCFF2F1EC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133DDD-B35E-4ED3-BA1C-8AB6B4F1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316E7D-2C80-4B3F-9C54-4CF612442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9D3E-6133-4875-BFB3-46C868033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746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62A5E-F573-41E2-9A63-47855CF30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26D761-E1A9-48B4-94FC-EE56592349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DBD861-1084-4336-B9FA-964485722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EEF2CC-FC48-4DCF-8277-BA65ECB0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FB68-53F3-4FE8-9144-2ECCFF2F1EC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34ED93-99E5-4F91-BE1A-EBFA13ED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C7009D-6632-4710-95DD-06B14F0CF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9D3E-6133-4875-BFB3-46C868033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07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AF6FE-BEF3-4B9E-B6BF-89A8ABD4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F09203-7888-438A-833E-28B8ED137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E0B465-C88B-4497-B3B6-45E839B6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FB68-53F3-4FE8-9144-2ECCFF2F1EC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2EC323-6EFE-459B-A6B3-7703B5EC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F46BB9-B463-411C-A8FF-5694619A9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9D3E-6133-4875-BFB3-46C868033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142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6035D8-4950-4A10-9A25-E58D5048C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357F97-1AE4-471C-9413-8F7F8ED78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6D13D9-029C-4151-B376-7FDE1346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FB68-53F3-4FE8-9144-2ECCFF2F1EC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B3E6B-A33D-48F2-8974-2869E54D8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02BF93-6D25-446A-9542-95066077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9D3E-6133-4875-BFB3-46C868033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504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2BA3DB-F1E5-46F8-8CED-6B0AA340C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9D37A-3300-48ED-8D1C-4135BAD3A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AC28B-E7F0-43FD-9278-0F3F8EEC1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1FB68-53F3-4FE8-9144-2ECCFF2F1EC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9CE236-5404-4896-8A12-62E7D17BE0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5DF87A-ECAA-4F4C-BE93-B99E259AF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D9D3E-6133-4875-BFB3-46C868033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83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D53F01A-DEB0-46DE-BA7D-609217B4ABEE}"/>
              </a:ext>
            </a:extLst>
          </p:cNvPr>
          <p:cNvCxnSpPr>
            <a:cxnSpLocks/>
          </p:cNvCxnSpPr>
          <p:nvPr/>
        </p:nvCxnSpPr>
        <p:spPr>
          <a:xfrm>
            <a:off x="4624066" y="799536"/>
            <a:ext cx="0" cy="3460315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2D5AA90-6340-4F84-9876-F17303344725}"/>
              </a:ext>
            </a:extLst>
          </p:cNvPr>
          <p:cNvCxnSpPr>
            <a:cxnSpLocks/>
          </p:cNvCxnSpPr>
          <p:nvPr/>
        </p:nvCxnSpPr>
        <p:spPr>
          <a:xfrm>
            <a:off x="7058624" y="815488"/>
            <a:ext cx="0" cy="3444363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0741DFC-97C9-4AD5-95E4-1A5C23E15C14}"/>
              </a:ext>
            </a:extLst>
          </p:cNvPr>
          <p:cNvSpPr/>
          <p:nvPr/>
        </p:nvSpPr>
        <p:spPr>
          <a:xfrm>
            <a:off x="3392697" y="795631"/>
            <a:ext cx="1224000" cy="4011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3497D07-8511-4E61-9F6F-A4B411A58535}"/>
              </a:ext>
            </a:extLst>
          </p:cNvPr>
          <p:cNvSpPr/>
          <p:nvPr/>
        </p:nvSpPr>
        <p:spPr>
          <a:xfrm>
            <a:off x="3392697" y="2554012"/>
            <a:ext cx="1224000" cy="762503"/>
          </a:xfrm>
          <a:prstGeom prst="rect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7D281B6-2395-495B-9B04-EB866E5096D1}"/>
              </a:ext>
            </a:extLst>
          </p:cNvPr>
          <p:cNvSpPr/>
          <p:nvPr/>
        </p:nvSpPr>
        <p:spPr>
          <a:xfrm>
            <a:off x="3392697" y="3318092"/>
            <a:ext cx="1224000" cy="656948"/>
          </a:xfrm>
          <a:prstGeom prst="rect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39C3752-6336-4D43-BF17-E60CD1A2AFA8}"/>
              </a:ext>
            </a:extLst>
          </p:cNvPr>
          <p:cNvSpPr/>
          <p:nvPr/>
        </p:nvSpPr>
        <p:spPr>
          <a:xfrm>
            <a:off x="3386104" y="1193224"/>
            <a:ext cx="1215745" cy="1360789"/>
          </a:xfrm>
          <a:prstGeom prst="rect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2674B3-0654-4749-8E3D-781492F94079}"/>
              </a:ext>
            </a:extLst>
          </p:cNvPr>
          <p:cNvSpPr/>
          <p:nvPr/>
        </p:nvSpPr>
        <p:spPr>
          <a:xfrm>
            <a:off x="7074960" y="2011382"/>
            <a:ext cx="1224000" cy="818804"/>
          </a:xfrm>
          <a:prstGeom prst="rect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D245E82-5799-4FFA-AC2C-437485DF85F3}"/>
              </a:ext>
            </a:extLst>
          </p:cNvPr>
          <p:cNvSpPr/>
          <p:nvPr/>
        </p:nvSpPr>
        <p:spPr>
          <a:xfrm>
            <a:off x="7074960" y="826891"/>
            <a:ext cx="1224000" cy="1195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623E055-22C0-4077-B06C-A711C3B6C21E}"/>
              </a:ext>
            </a:extLst>
          </p:cNvPr>
          <p:cNvSpPr/>
          <p:nvPr/>
        </p:nvSpPr>
        <p:spPr>
          <a:xfrm>
            <a:off x="7074960" y="2820890"/>
            <a:ext cx="1224000" cy="1061057"/>
          </a:xfrm>
          <a:prstGeom prst="rect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1D2B75-8784-4D4F-B735-991088E61626}"/>
              </a:ext>
            </a:extLst>
          </p:cNvPr>
          <p:cNvSpPr txBox="1"/>
          <p:nvPr/>
        </p:nvSpPr>
        <p:spPr>
          <a:xfrm>
            <a:off x="3607749" y="846751"/>
            <a:ext cx="8082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/>
              <a:t>ESTABLISHED</a:t>
            </a:r>
            <a:endParaRPr lang="ko-KR" altLang="en-US" sz="800" i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C8E190-C498-4506-8010-6A9DC48D872E}"/>
              </a:ext>
            </a:extLst>
          </p:cNvPr>
          <p:cNvSpPr txBox="1"/>
          <p:nvPr/>
        </p:nvSpPr>
        <p:spPr>
          <a:xfrm>
            <a:off x="3684694" y="2083852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/>
              <a:t>FIN_WAIT_1</a:t>
            </a:r>
            <a:endParaRPr lang="ko-KR" altLang="en-US" sz="800" i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C54B3D-6A83-44BF-A371-1BF0459E1C3B}"/>
              </a:ext>
            </a:extLst>
          </p:cNvPr>
          <p:cNvSpPr txBox="1"/>
          <p:nvPr/>
        </p:nvSpPr>
        <p:spPr>
          <a:xfrm>
            <a:off x="3684694" y="2758703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/>
              <a:t>FIN_WAIT_2</a:t>
            </a:r>
            <a:endParaRPr lang="ko-KR" altLang="en-US" sz="800" i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AF73F6-13C0-49D2-B7B7-DAA9F7BEB0DF}"/>
              </a:ext>
            </a:extLst>
          </p:cNvPr>
          <p:cNvSpPr txBox="1"/>
          <p:nvPr/>
        </p:nvSpPr>
        <p:spPr>
          <a:xfrm>
            <a:off x="3711945" y="3564934"/>
            <a:ext cx="7040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/>
              <a:t>TIME_WAIT</a:t>
            </a:r>
            <a:endParaRPr lang="ko-KR" altLang="en-US" sz="800" i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8215DB-E539-4BCB-AA45-CC72B66F5B54}"/>
              </a:ext>
            </a:extLst>
          </p:cNvPr>
          <p:cNvSpPr txBox="1"/>
          <p:nvPr/>
        </p:nvSpPr>
        <p:spPr>
          <a:xfrm>
            <a:off x="7245714" y="873982"/>
            <a:ext cx="8082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/>
              <a:t>ESTABLISHED</a:t>
            </a:r>
            <a:endParaRPr lang="ko-KR" altLang="en-US" sz="800" i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B217A7-3A40-49EC-9C30-34A7DAF1D85C}"/>
              </a:ext>
            </a:extLst>
          </p:cNvPr>
          <p:cNvSpPr txBox="1"/>
          <p:nvPr/>
        </p:nvSpPr>
        <p:spPr>
          <a:xfrm>
            <a:off x="7245714" y="2548912"/>
            <a:ext cx="7793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/>
              <a:t>CLOSE_WAIT</a:t>
            </a:r>
            <a:endParaRPr lang="ko-KR" altLang="en-US" sz="800" i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A91890-4E3C-4757-B2F1-7A835F69DBFE}"/>
              </a:ext>
            </a:extLst>
          </p:cNvPr>
          <p:cNvSpPr txBox="1"/>
          <p:nvPr/>
        </p:nvSpPr>
        <p:spPr>
          <a:xfrm>
            <a:off x="7245714" y="3344751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/>
              <a:t>LAST_ACK</a:t>
            </a:r>
            <a:endParaRPr lang="ko-KR" altLang="en-US" sz="800" i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0961F-B9BA-477B-A9C1-873F302B127F}"/>
              </a:ext>
            </a:extLst>
          </p:cNvPr>
          <p:cNvSpPr txBox="1"/>
          <p:nvPr/>
        </p:nvSpPr>
        <p:spPr>
          <a:xfrm>
            <a:off x="7245714" y="3943022"/>
            <a:ext cx="5629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/>
              <a:t>CLOSED</a:t>
            </a:r>
            <a:endParaRPr lang="ko-KR" altLang="en-US" sz="800" i="1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8EA7E19-B074-4F69-BA15-D4DE7F57CADD}"/>
              </a:ext>
            </a:extLst>
          </p:cNvPr>
          <p:cNvCxnSpPr>
            <a:cxnSpLocks/>
          </p:cNvCxnSpPr>
          <p:nvPr/>
        </p:nvCxnSpPr>
        <p:spPr>
          <a:xfrm>
            <a:off x="4636511" y="1765161"/>
            <a:ext cx="2419190" cy="2462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2772FCB-02C3-4F58-9D6F-D6AD1BC31CF1}"/>
              </a:ext>
            </a:extLst>
          </p:cNvPr>
          <p:cNvCxnSpPr>
            <a:cxnSpLocks/>
          </p:cNvCxnSpPr>
          <p:nvPr/>
        </p:nvCxnSpPr>
        <p:spPr>
          <a:xfrm flipH="1">
            <a:off x="4635062" y="2294558"/>
            <a:ext cx="2397194" cy="49593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2014162-1C0A-4F7A-89C2-B8DD78C0B8C8}"/>
              </a:ext>
            </a:extLst>
          </p:cNvPr>
          <p:cNvCxnSpPr>
            <a:cxnSpLocks/>
          </p:cNvCxnSpPr>
          <p:nvPr/>
        </p:nvCxnSpPr>
        <p:spPr>
          <a:xfrm>
            <a:off x="4642945" y="1347952"/>
            <a:ext cx="2389311" cy="26337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4534679-A96D-43EE-86F0-9E97A32CA25C}"/>
              </a:ext>
            </a:extLst>
          </p:cNvPr>
          <p:cNvCxnSpPr>
            <a:cxnSpLocks/>
          </p:cNvCxnSpPr>
          <p:nvPr/>
        </p:nvCxnSpPr>
        <p:spPr>
          <a:xfrm>
            <a:off x="4642945" y="1213945"/>
            <a:ext cx="2389311" cy="24242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66DAB5B-2ABF-4547-9916-D675734E3752}"/>
              </a:ext>
            </a:extLst>
          </p:cNvPr>
          <p:cNvSpPr txBox="1"/>
          <p:nvPr/>
        </p:nvSpPr>
        <p:spPr>
          <a:xfrm>
            <a:off x="5621436" y="1540268"/>
            <a:ext cx="235962" cy="295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"/>
              </a:lnSpc>
            </a:pPr>
            <a:r>
              <a:rPr lang="en-US" altLang="ko-KR"/>
              <a:t>.</a:t>
            </a:r>
          </a:p>
          <a:p>
            <a:pPr>
              <a:lnSpc>
                <a:spcPct val="20000"/>
              </a:lnSpc>
            </a:pPr>
            <a:r>
              <a:rPr lang="en-US" altLang="ko-KR"/>
              <a:t>.</a:t>
            </a:r>
          </a:p>
          <a:p>
            <a:pPr>
              <a:lnSpc>
                <a:spcPct val="20000"/>
              </a:lnSpc>
            </a:pP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7BC49C-92AC-43D3-ACB0-0D30002514C3}"/>
              </a:ext>
            </a:extLst>
          </p:cNvPr>
          <p:cNvSpPr txBox="1"/>
          <p:nvPr/>
        </p:nvSpPr>
        <p:spPr>
          <a:xfrm rot="306533">
            <a:off x="5681082" y="1858257"/>
            <a:ext cx="341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/>
              <a:t>FIN</a:t>
            </a:r>
            <a:endParaRPr lang="ko-KR" altLang="en-US" sz="800" i="1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771DE2D-FFE2-4AA3-82E6-A3BD50AE0603}"/>
              </a:ext>
            </a:extLst>
          </p:cNvPr>
          <p:cNvCxnSpPr>
            <a:cxnSpLocks/>
          </p:cNvCxnSpPr>
          <p:nvPr/>
        </p:nvCxnSpPr>
        <p:spPr>
          <a:xfrm flipH="1">
            <a:off x="4642945" y="2454375"/>
            <a:ext cx="2389311" cy="5174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903164B-6E54-4347-AA33-9B839A7BDE95}"/>
              </a:ext>
            </a:extLst>
          </p:cNvPr>
          <p:cNvCxnSpPr>
            <a:cxnSpLocks/>
          </p:cNvCxnSpPr>
          <p:nvPr/>
        </p:nvCxnSpPr>
        <p:spPr>
          <a:xfrm flipH="1">
            <a:off x="4644244" y="2830186"/>
            <a:ext cx="2406499" cy="4770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2B040AE-E0D3-40CD-B5E1-A11535E149DF}"/>
              </a:ext>
            </a:extLst>
          </p:cNvPr>
          <p:cNvSpPr txBox="1"/>
          <p:nvPr/>
        </p:nvSpPr>
        <p:spPr>
          <a:xfrm>
            <a:off x="5593743" y="2809089"/>
            <a:ext cx="235962" cy="295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"/>
              </a:lnSpc>
            </a:pPr>
            <a:r>
              <a:rPr lang="en-US" altLang="ko-KR"/>
              <a:t>.</a:t>
            </a:r>
          </a:p>
          <a:p>
            <a:pPr>
              <a:lnSpc>
                <a:spcPct val="20000"/>
              </a:lnSpc>
            </a:pPr>
            <a:r>
              <a:rPr lang="en-US" altLang="ko-KR"/>
              <a:t>.</a:t>
            </a:r>
          </a:p>
          <a:p>
            <a:pPr>
              <a:lnSpc>
                <a:spcPct val="20000"/>
              </a:lnSpc>
            </a:pP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990291-087F-4EF5-9827-1B6EF743A58A}"/>
              </a:ext>
            </a:extLst>
          </p:cNvPr>
          <p:cNvSpPr txBox="1"/>
          <p:nvPr/>
        </p:nvSpPr>
        <p:spPr>
          <a:xfrm rot="20875052">
            <a:off x="5690931" y="3046983"/>
            <a:ext cx="341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/>
              <a:t>FIN</a:t>
            </a:r>
            <a:endParaRPr lang="ko-KR" altLang="en-US" sz="800" i="1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8DBBB8E-7C76-435D-B813-8F5AED368772}"/>
              </a:ext>
            </a:extLst>
          </p:cNvPr>
          <p:cNvCxnSpPr>
            <a:cxnSpLocks/>
          </p:cNvCxnSpPr>
          <p:nvPr/>
        </p:nvCxnSpPr>
        <p:spPr>
          <a:xfrm flipH="1">
            <a:off x="4640443" y="2063066"/>
            <a:ext cx="2418183" cy="4745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FC9CA1E-CB9A-464E-AF97-A994036CD64D}"/>
              </a:ext>
            </a:extLst>
          </p:cNvPr>
          <p:cNvSpPr txBox="1"/>
          <p:nvPr/>
        </p:nvSpPr>
        <p:spPr>
          <a:xfrm rot="20875052">
            <a:off x="5690523" y="2286437"/>
            <a:ext cx="3786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/>
              <a:t>ACK</a:t>
            </a:r>
            <a:endParaRPr lang="ko-KR" altLang="en-US" sz="800" i="1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2D97FFB-8997-4F92-93E5-69A04D557754}"/>
              </a:ext>
            </a:extLst>
          </p:cNvPr>
          <p:cNvCxnSpPr>
            <a:cxnSpLocks/>
          </p:cNvCxnSpPr>
          <p:nvPr/>
        </p:nvCxnSpPr>
        <p:spPr>
          <a:xfrm>
            <a:off x="4652175" y="3384196"/>
            <a:ext cx="2395711" cy="4977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4F01672-0088-41DB-B5F2-40B7C9785C67}"/>
              </a:ext>
            </a:extLst>
          </p:cNvPr>
          <p:cNvCxnSpPr>
            <a:cxnSpLocks/>
          </p:cNvCxnSpPr>
          <p:nvPr/>
        </p:nvCxnSpPr>
        <p:spPr>
          <a:xfrm flipH="1">
            <a:off x="4635062" y="3111936"/>
            <a:ext cx="2397194" cy="522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34924FB-08BD-4894-9149-BEAE1AFC2046}"/>
              </a:ext>
            </a:extLst>
          </p:cNvPr>
          <p:cNvSpPr txBox="1"/>
          <p:nvPr/>
        </p:nvSpPr>
        <p:spPr>
          <a:xfrm rot="20875052">
            <a:off x="5690931" y="3322327"/>
            <a:ext cx="341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/>
              <a:t>FIN</a:t>
            </a:r>
            <a:endParaRPr lang="ko-KR" altLang="en-US" sz="800" i="1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E17DEB1-3A83-4F7C-B4A3-356645A8464C}"/>
              </a:ext>
            </a:extLst>
          </p:cNvPr>
          <p:cNvCxnSpPr>
            <a:cxnSpLocks/>
          </p:cNvCxnSpPr>
          <p:nvPr/>
        </p:nvCxnSpPr>
        <p:spPr>
          <a:xfrm flipH="1">
            <a:off x="4640444" y="3390732"/>
            <a:ext cx="2391812" cy="515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7F7078D-DFC6-4423-89F5-A3749DE73AE6}"/>
              </a:ext>
            </a:extLst>
          </p:cNvPr>
          <p:cNvSpPr txBox="1"/>
          <p:nvPr/>
        </p:nvSpPr>
        <p:spPr>
          <a:xfrm rot="20875052">
            <a:off x="6233119" y="3493868"/>
            <a:ext cx="341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/>
              <a:t>FIN</a:t>
            </a:r>
            <a:endParaRPr lang="ko-KR" altLang="en-US" sz="800" i="1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CB5250F-26B2-47B3-994C-F02AA2106075}"/>
              </a:ext>
            </a:extLst>
          </p:cNvPr>
          <p:cNvCxnSpPr>
            <a:cxnSpLocks/>
          </p:cNvCxnSpPr>
          <p:nvPr/>
        </p:nvCxnSpPr>
        <p:spPr>
          <a:xfrm>
            <a:off x="2906335" y="1196990"/>
            <a:ext cx="317933" cy="0"/>
          </a:xfrm>
          <a:prstGeom prst="straightConnector1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A744F5C-8B64-4FCF-A072-5A7FC9A389B4}"/>
              </a:ext>
            </a:extLst>
          </p:cNvPr>
          <p:cNvSpPr txBox="1"/>
          <p:nvPr/>
        </p:nvSpPr>
        <p:spPr>
          <a:xfrm>
            <a:off x="1395223" y="1063358"/>
            <a:ext cx="16049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0000FF"/>
                </a:solidFill>
              </a:rPr>
              <a:t>shutdown(h, SD_SEND)</a:t>
            </a:r>
            <a:endParaRPr lang="ko-KR" altLang="en-US" sz="1000" b="1">
              <a:solidFill>
                <a:srgbClr val="0000FF"/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3A6A494E-619C-4455-8BFA-0AC26CAF33B1}"/>
              </a:ext>
            </a:extLst>
          </p:cNvPr>
          <p:cNvCxnSpPr>
            <a:cxnSpLocks/>
          </p:cNvCxnSpPr>
          <p:nvPr/>
        </p:nvCxnSpPr>
        <p:spPr>
          <a:xfrm flipH="1">
            <a:off x="3268852" y="1195018"/>
            <a:ext cx="1338788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7A4161F-B653-4147-975D-CD7E53206A86}"/>
              </a:ext>
            </a:extLst>
          </p:cNvPr>
          <p:cNvSpPr txBox="1"/>
          <p:nvPr/>
        </p:nvSpPr>
        <p:spPr>
          <a:xfrm>
            <a:off x="4271527" y="484882"/>
            <a:ext cx="712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/>
              <a:t>ACTIVE</a:t>
            </a:r>
            <a:endParaRPr lang="ko-KR" altLang="en-US" sz="1200" b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ADED47-430A-4A3A-873F-6EA70C7E7EB0}"/>
              </a:ext>
            </a:extLst>
          </p:cNvPr>
          <p:cNvSpPr txBox="1"/>
          <p:nvPr/>
        </p:nvSpPr>
        <p:spPr>
          <a:xfrm>
            <a:off x="6757857" y="484882"/>
            <a:ext cx="7852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/>
              <a:t>PASSIVE</a:t>
            </a:r>
            <a:endParaRPr lang="ko-KR" altLang="en-US" sz="1200" b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B515E9-2978-4F97-A977-3E214E397AA3}"/>
              </a:ext>
            </a:extLst>
          </p:cNvPr>
          <p:cNvSpPr txBox="1"/>
          <p:nvPr/>
        </p:nvSpPr>
        <p:spPr>
          <a:xfrm>
            <a:off x="3853009" y="4054959"/>
            <a:ext cx="5629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/>
              <a:t>CLOSED</a:t>
            </a:r>
            <a:endParaRPr lang="ko-KR" altLang="en-US" sz="800" i="1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E09F3331-2F84-49F9-8111-ED282570D066}"/>
              </a:ext>
            </a:extLst>
          </p:cNvPr>
          <p:cNvCxnSpPr>
            <a:cxnSpLocks/>
          </p:cNvCxnSpPr>
          <p:nvPr/>
        </p:nvCxnSpPr>
        <p:spPr>
          <a:xfrm flipH="1">
            <a:off x="7068348" y="2022785"/>
            <a:ext cx="1338788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9FED7C0-B87F-41D4-8B9C-71C5C0BD7E47}"/>
              </a:ext>
            </a:extLst>
          </p:cNvPr>
          <p:cNvSpPr txBox="1"/>
          <p:nvPr/>
        </p:nvSpPr>
        <p:spPr>
          <a:xfrm rot="337564">
            <a:off x="5754238" y="3672656"/>
            <a:ext cx="3786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/>
              <a:t>ACK</a:t>
            </a:r>
            <a:endParaRPr lang="ko-KR" altLang="en-US" sz="800" i="1"/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8689595B-0295-4A05-820B-2435D693F28B}"/>
              </a:ext>
            </a:extLst>
          </p:cNvPr>
          <p:cNvCxnSpPr>
            <a:cxnSpLocks/>
          </p:cNvCxnSpPr>
          <p:nvPr/>
        </p:nvCxnSpPr>
        <p:spPr>
          <a:xfrm flipH="1">
            <a:off x="3261629" y="3970126"/>
            <a:ext cx="1338788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F7E2008D-9F53-4E0C-BDA5-4A3501C89189}"/>
              </a:ext>
            </a:extLst>
          </p:cNvPr>
          <p:cNvCxnSpPr>
            <a:cxnSpLocks/>
          </p:cNvCxnSpPr>
          <p:nvPr/>
        </p:nvCxnSpPr>
        <p:spPr>
          <a:xfrm flipH="1">
            <a:off x="7076299" y="3888065"/>
            <a:ext cx="1338788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오른쪽 중괄호 71">
            <a:extLst>
              <a:ext uri="{FF2B5EF4-FFF2-40B4-BE49-F238E27FC236}">
                <a16:creationId xmlns:a16="http://schemas.microsoft.com/office/drawing/2014/main" id="{64F9071C-8724-4592-964F-4603C440E79D}"/>
              </a:ext>
            </a:extLst>
          </p:cNvPr>
          <p:cNvSpPr/>
          <p:nvPr/>
        </p:nvSpPr>
        <p:spPr>
          <a:xfrm>
            <a:off x="7117544" y="2082662"/>
            <a:ext cx="129339" cy="4710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오른쪽 중괄호 72">
            <a:extLst>
              <a:ext uri="{FF2B5EF4-FFF2-40B4-BE49-F238E27FC236}">
                <a16:creationId xmlns:a16="http://schemas.microsoft.com/office/drawing/2014/main" id="{469F60F8-4AAC-4F3A-A5DF-42510D379A93}"/>
              </a:ext>
            </a:extLst>
          </p:cNvPr>
          <p:cNvSpPr/>
          <p:nvPr/>
        </p:nvSpPr>
        <p:spPr>
          <a:xfrm>
            <a:off x="7110671" y="2870386"/>
            <a:ext cx="148392" cy="4710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CF89FD94-5228-45A8-924B-6849297E3483}"/>
              </a:ext>
            </a:extLst>
          </p:cNvPr>
          <p:cNvCxnSpPr>
            <a:cxnSpLocks/>
          </p:cNvCxnSpPr>
          <p:nvPr/>
        </p:nvCxnSpPr>
        <p:spPr>
          <a:xfrm flipH="1">
            <a:off x="3263061" y="3318092"/>
            <a:ext cx="1338788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오른쪽 중괄호 79">
            <a:extLst>
              <a:ext uri="{FF2B5EF4-FFF2-40B4-BE49-F238E27FC236}">
                <a16:creationId xmlns:a16="http://schemas.microsoft.com/office/drawing/2014/main" id="{DF089D40-6E0E-4777-B612-054ECF3FF361}"/>
              </a:ext>
            </a:extLst>
          </p:cNvPr>
          <p:cNvSpPr/>
          <p:nvPr/>
        </p:nvSpPr>
        <p:spPr>
          <a:xfrm rot="10800000">
            <a:off x="4426722" y="1234205"/>
            <a:ext cx="148392" cy="4710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오른쪽 중괄호 80">
            <a:extLst>
              <a:ext uri="{FF2B5EF4-FFF2-40B4-BE49-F238E27FC236}">
                <a16:creationId xmlns:a16="http://schemas.microsoft.com/office/drawing/2014/main" id="{2B75B23B-45B7-401B-AD75-CEC6653E07C5}"/>
              </a:ext>
            </a:extLst>
          </p:cNvPr>
          <p:cNvSpPr/>
          <p:nvPr/>
        </p:nvSpPr>
        <p:spPr>
          <a:xfrm rot="10800000">
            <a:off x="3092183" y="3332002"/>
            <a:ext cx="129327" cy="65694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F43DB13-DA55-4C00-9429-C56AA4ADF13B}"/>
              </a:ext>
            </a:extLst>
          </p:cNvPr>
          <p:cNvSpPr txBox="1"/>
          <p:nvPr/>
        </p:nvSpPr>
        <p:spPr>
          <a:xfrm>
            <a:off x="1492085" y="3736657"/>
            <a:ext cx="1619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>
                <a:solidFill>
                  <a:srgbClr val="0000FF"/>
                </a:solidFill>
              </a:rPr>
              <a:t>CONNECT_REST </a:t>
            </a:r>
            <a:r>
              <a:rPr lang="ko-KR" altLang="en-US" sz="800">
                <a:solidFill>
                  <a:srgbClr val="0000FF"/>
                </a:solidFill>
              </a:rPr>
              <a:t>신호를 받거나</a:t>
            </a:r>
            <a:br>
              <a:rPr lang="en-US" altLang="ko-KR" sz="800">
                <a:solidFill>
                  <a:srgbClr val="0000FF"/>
                </a:solidFill>
              </a:rPr>
            </a:br>
            <a:r>
              <a:rPr lang="en-US" altLang="ko-KR" sz="800">
                <a:solidFill>
                  <a:srgbClr val="0000FF"/>
                </a:solidFill>
              </a:rPr>
              <a:t>2MSL </a:t>
            </a:r>
            <a:r>
              <a:rPr lang="ko-KR" altLang="en-US" sz="800">
                <a:solidFill>
                  <a:srgbClr val="0000FF"/>
                </a:solidFill>
              </a:rPr>
              <a:t>시간 후 </a:t>
            </a:r>
            <a:r>
              <a:rPr lang="en-US" altLang="ko-KR" sz="800">
                <a:solidFill>
                  <a:srgbClr val="0000FF"/>
                </a:solidFill>
              </a:rPr>
              <a:t>CLOSED </a:t>
            </a:r>
            <a:r>
              <a:rPr lang="ko-KR" altLang="en-US" sz="800">
                <a:solidFill>
                  <a:srgbClr val="0000FF"/>
                </a:solidFill>
              </a:rPr>
              <a:t>상태로</a:t>
            </a:r>
            <a:endParaRPr lang="en-US" altLang="ko-KR" sz="800">
              <a:solidFill>
                <a:srgbClr val="0000FF"/>
              </a:solidFill>
            </a:endParaRPr>
          </a:p>
          <a:p>
            <a:pPr algn="r"/>
            <a:r>
              <a:rPr lang="ko-KR" altLang="en-US" sz="800">
                <a:solidFill>
                  <a:srgbClr val="0000FF"/>
                </a:solidFill>
              </a:rPr>
              <a:t> 전환된다</a:t>
            </a:r>
            <a:r>
              <a:rPr lang="en-US" altLang="ko-KR" sz="800">
                <a:solidFill>
                  <a:srgbClr val="0000FF"/>
                </a:solidFill>
              </a:rPr>
              <a:t>.</a:t>
            </a:r>
            <a:endParaRPr lang="ko-KR" altLang="en-US" sz="800">
              <a:solidFill>
                <a:srgbClr val="0000FF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D17F903-0598-4850-948A-81540C28CC3A}"/>
              </a:ext>
            </a:extLst>
          </p:cNvPr>
          <p:cNvSpPr txBox="1"/>
          <p:nvPr/>
        </p:nvSpPr>
        <p:spPr>
          <a:xfrm>
            <a:off x="2577038" y="1333228"/>
            <a:ext cx="17684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800">
                <a:solidFill>
                  <a:srgbClr val="0000FF"/>
                </a:solidFill>
              </a:rPr>
              <a:t>송신버퍼 데이터를 모두 전송한</a:t>
            </a:r>
            <a:r>
              <a:rPr lang="en-US" altLang="ko-KR" sz="800">
                <a:solidFill>
                  <a:srgbClr val="0000FF"/>
                </a:solidFill>
              </a:rPr>
              <a:t> </a:t>
            </a:r>
            <a:r>
              <a:rPr lang="ko-KR" altLang="en-US" sz="800">
                <a:solidFill>
                  <a:srgbClr val="0000FF"/>
                </a:solidFill>
              </a:rPr>
              <a:t>후</a:t>
            </a:r>
            <a:br>
              <a:rPr lang="en-US" altLang="ko-KR" sz="800">
                <a:solidFill>
                  <a:srgbClr val="0000FF"/>
                </a:solidFill>
              </a:rPr>
            </a:br>
            <a:r>
              <a:rPr lang="ko-KR" altLang="en-US" sz="800">
                <a:solidFill>
                  <a:srgbClr val="0000FF"/>
                </a:solidFill>
              </a:rPr>
              <a:t>마지막에 </a:t>
            </a:r>
            <a:r>
              <a:rPr lang="en-US" altLang="ko-KR" sz="800">
                <a:solidFill>
                  <a:srgbClr val="0000FF"/>
                </a:solidFill>
              </a:rPr>
              <a:t>FIN </a:t>
            </a:r>
            <a:r>
              <a:rPr lang="ko-KR" altLang="en-US" sz="800">
                <a:solidFill>
                  <a:srgbClr val="0000FF"/>
                </a:solidFill>
              </a:rPr>
              <a:t>신호를 붙혀 보낸다</a:t>
            </a:r>
            <a:r>
              <a:rPr lang="en-US" altLang="ko-KR" sz="800">
                <a:solidFill>
                  <a:srgbClr val="0000FF"/>
                </a:solidFill>
              </a:rPr>
              <a:t>.</a:t>
            </a:r>
            <a:endParaRPr lang="ko-KR" altLang="en-US" sz="800">
              <a:solidFill>
                <a:srgbClr val="0000FF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EB7CE77-29C5-4A54-92C2-7CCC667CD4F8}"/>
              </a:ext>
            </a:extLst>
          </p:cNvPr>
          <p:cNvSpPr txBox="1"/>
          <p:nvPr/>
        </p:nvSpPr>
        <p:spPr>
          <a:xfrm>
            <a:off x="7332938" y="2227239"/>
            <a:ext cx="17684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800">
                <a:solidFill>
                  <a:srgbClr val="0000FF"/>
                </a:solidFill>
              </a:rPr>
              <a:t>송신버퍼 데이터를 모두 전송한</a:t>
            </a:r>
            <a:r>
              <a:rPr lang="en-US" altLang="ko-KR" sz="800">
                <a:solidFill>
                  <a:srgbClr val="0000FF"/>
                </a:solidFill>
              </a:rPr>
              <a:t> </a:t>
            </a:r>
            <a:r>
              <a:rPr lang="ko-KR" altLang="en-US" sz="800">
                <a:solidFill>
                  <a:srgbClr val="0000FF"/>
                </a:solidFill>
              </a:rPr>
              <a:t>후</a:t>
            </a:r>
            <a:br>
              <a:rPr lang="en-US" altLang="ko-KR" sz="800">
                <a:solidFill>
                  <a:srgbClr val="0000FF"/>
                </a:solidFill>
              </a:rPr>
            </a:br>
            <a:r>
              <a:rPr lang="ko-KR" altLang="en-US" sz="800">
                <a:solidFill>
                  <a:srgbClr val="0000FF"/>
                </a:solidFill>
              </a:rPr>
              <a:t>마지막에 </a:t>
            </a:r>
            <a:r>
              <a:rPr lang="en-US" altLang="ko-KR" sz="800">
                <a:solidFill>
                  <a:srgbClr val="0000FF"/>
                </a:solidFill>
              </a:rPr>
              <a:t>FIN </a:t>
            </a:r>
            <a:r>
              <a:rPr lang="ko-KR" altLang="en-US" sz="800">
                <a:solidFill>
                  <a:srgbClr val="0000FF"/>
                </a:solidFill>
              </a:rPr>
              <a:t>신호를 붙혀 보낸다</a:t>
            </a:r>
            <a:r>
              <a:rPr lang="en-US" altLang="ko-KR" sz="800">
                <a:solidFill>
                  <a:srgbClr val="0000FF"/>
                </a:solidFill>
              </a:rPr>
              <a:t>.</a:t>
            </a:r>
            <a:endParaRPr lang="ko-KR" altLang="en-US" sz="800">
              <a:solidFill>
                <a:srgbClr val="0000FF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B6CD234-88A4-47AD-8D99-A2337E1DFAB3}"/>
              </a:ext>
            </a:extLst>
          </p:cNvPr>
          <p:cNvSpPr txBox="1"/>
          <p:nvPr/>
        </p:nvSpPr>
        <p:spPr>
          <a:xfrm>
            <a:off x="7440368" y="2932439"/>
            <a:ext cx="2502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0000FF"/>
                </a:solidFill>
              </a:rPr>
              <a:t>ACK</a:t>
            </a:r>
            <a:r>
              <a:rPr lang="ko-KR" altLang="en-US" sz="800">
                <a:solidFill>
                  <a:srgbClr val="0000FF"/>
                </a:solidFill>
              </a:rPr>
              <a:t>를 받을 때까지 계속 </a:t>
            </a:r>
            <a:r>
              <a:rPr lang="en-US" altLang="ko-KR" sz="800">
                <a:solidFill>
                  <a:srgbClr val="0000FF"/>
                </a:solidFill>
              </a:rPr>
              <a:t>FIN</a:t>
            </a:r>
            <a:r>
              <a:rPr lang="ko-KR" altLang="en-US" sz="800">
                <a:solidFill>
                  <a:srgbClr val="0000FF"/>
                </a:solidFill>
              </a:rPr>
              <a:t>신호를 보낸다</a:t>
            </a:r>
            <a:r>
              <a:rPr lang="en-US" altLang="ko-KR" sz="800">
                <a:solidFill>
                  <a:srgbClr val="0000FF"/>
                </a:solidFill>
              </a:rPr>
              <a:t>.</a:t>
            </a:r>
          </a:p>
          <a:p>
            <a:r>
              <a:rPr lang="en-US" altLang="ko-KR" sz="800">
                <a:solidFill>
                  <a:srgbClr val="0000FF"/>
                </a:solidFill>
              </a:rPr>
              <a:t>ACK</a:t>
            </a:r>
            <a:r>
              <a:rPr lang="ko-KR" altLang="en-US" sz="800">
                <a:solidFill>
                  <a:srgbClr val="0000FF"/>
                </a:solidFill>
              </a:rPr>
              <a:t>를 받으며 바로 </a:t>
            </a:r>
            <a:r>
              <a:rPr lang="en-US" altLang="ko-KR" sz="800">
                <a:solidFill>
                  <a:srgbClr val="0000FF"/>
                </a:solidFill>
              </a:rPr>
              <a:t>CLOSED </a:t>
            </a:r>
            <a:r>
              <a:rPr lang="ko-KR" altLang="en-US" sz="800">
                <a:solidFill>
                  <a:srgbClr val="0000FF"/>
                </a:solidFill>
              </a:rPr>
              <a:t>상태로 전환한다</a:t>
            </a:r>
            <a:r>
              <a:rPr lang="en-US" altLang="ko-KR" sz="800">
                <a:solidFill>
                  <a:srgbClr val="0000FF"/>
                </a:solidFill>
              </a:rPr>
              <a:t>.</a:t>
            </a:r>
            <a:endParaRPr lang="ko-KR" altLang="en-US" sz="800">
              <a:solidFill>
                <a:srgbClr val="0000FF"/>
              </a:solidFill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ACF1FE00-4463-4E4E-B498-EFCD798B257D}"/>
              </a:ext>
            </a:extLst>
          </p:cNvPr>
          <p:cNvSpPr/>
          <p:nvPr/>
        </p:nvSpPr>
        <p:spPr>
          <a:xfrm>
            <a:off x="1300931" y="1125935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8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3A84486-9E84-4975-BFF3-C1770DEE1497}"/>
              </a:ext>
            </a:extLst>
          </p:cNvPr>
          <p:cNvSpPr/>
          <p:nvPr/>
        </p:nvSpPr>
        <p:spPr>
          <a:xfrm>
            <a:off x="4311950" y="140341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endParaRPr lang="ko-KR" altLang="en-US" sz="8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C6986806-616E-497C-ABCE-585C66D01442}"/>
              </a:ext>
            </a:extLst>
          </p:cNvPr>
          <p:cNvSpPr/>
          <p:nvPr/>
        </p:nvSpPr>
        <p:spPr>
          <a:xfrm>
            <a:off x="5565506" y="191207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latin typeface="HY견명조" panose="02030600000101010101" pitchFamily="18" charset="-127"/>
                <a:ea typeface="HY견명조" panose="02030600000101010101" pitchFamily="18" charset="-127"/>
              </a:rPr>
              <a:t>3</a:t>
            </a:r>
            <a:endParaRPr lang="ko-KR" altLang="en-US" sz="8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FDC14086-8B82-443D-BB30-8F8B32B4F6EA}"/>
              </a:ext>
            </a:extLst>
          </p:cNvPr>
          <p:cNvSpPr/>
          <p:nvPr/>
        </p:nvSpPr>
        <p:spPr>
          <a:xfrm>
            <a:off x="8472450" y="195971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latin typeface="HY견명조" panose="02030600000101010101" pitchFamily="18" charset="-127"/>
                <a:ea typeface="HY견명조" panose="02030600000101010101" pitchFamily="18" charset="-127"/>
              </a:rPr>
              <a:t>4</a:t>
            </a:r>
            <a:endParaRPr lang="ko-KR" altLang="en-US" sz="8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8739FAD1-1EBA-441E-A2ED-D2AC27A3ED6E}"/>
              </a:ext>
            </a:extLst>
          </p:cNvPr>
          <p:cNvSpPr/>
          <p:nvPr/>
        </p:nvSpPr>
        <p:spPr>
          <a:xfrm>
            <a:off x="7245173" y="2249215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latin typeface="HY견명조" panose="02030600000101010101" pitchFamily="18" charset="-127"/>
                <a:ea typeface="HY견명조" panose="02030600000101010101" pitchFamily="18" charset="-127"/>
              </a:rPr>
              <a:t>5</a:t>
            </a:r>
            <a:endParaRPr lang="ko-KR" altLang="en-US" sz="8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1F013726-B6F9-46E5-B76A-1CCE2E695A63}"/>
              </a:ext>
            </a:extLst>
          </p:cNvPr>
          <p:cNvSpPr/>
          <p:nvPr/>
        </p:nvSpPr>
        <p:spPr>
          <a:xfrm>
            <a:off x="5995648" y="3055291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latin typeface="HY견명조" panose="02030600000101010101" pitchFamily="18" charset="-127"/>
                <a:ea typeface="HY견명조" panose="02030600000101010101" pitchFamily="18" charset="-127"/>
              </a:rPr>
              <a:t>6</a:t>
            </a:r>
            <a:endParaRPr lang="ko-KR" altLang="en-US" sz="8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4CA6B4D3-DDBB-4B27-BC9C-5CA8A3D75334}"/>
              </a:ext>
            </a:extLst>
          </p:cNvPr>
          <p:cNvSpPr/>
          <p:nvPr/>
        </p:nvSpPr>
        <p:spPr>
          <a:xfrm>
            <a:off x="1465158" y="315922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latin typeface="HY견명조" panose="02030600000101010101" pitchFamily="18" charset="-127"/>
                <a:ea typeface="HY견명조" panose="02030600000101010101" pitchFamily="18" charset="-127"/>
              </a:rPr>
              <a:t>7</a:t>
            </a:r>
            <a:endParaRPr lang="ko-KR" altLang="en-US" sz="8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B72AF832-94A8-4193-890B-8C691E03287E}"/>
              </a:ext>
            </a:extLst>
          </p:cNvPr>
          <p:cNvSpPr/>
          <p:nvPr/>
        </p:nvSpPr>
        <p:spPr>
          <a:xfrm>
            <a:off x="7260938" y="303374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latin typeface="HY견명조" panose="02030600000101010101" pitchFamily="18" charset="-127"/>
                <a:ea typeface="HY견명조" panose="02030600000101010101" pitchFamily="18" charset="-127"/>
              </a:rPr>
              <a:t>8</a:t>
            </a:r>
            <a:endParaRPr lang="ko-KR" altLang="en-US" sz="8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2B8D0852-508C-4484-891B-C4F7364556AC}"/>
              </a:ext>
            </a:extLst>
          </p:cNvPr>
          <p:cNvSpPr/>
          <p:nvPr/>
        </p:nvSpPr>
        <p:spPr>
          <a:xfrm>
            <a:off x="6104269" y="375493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latin typeface="HY견명조" panose="02030600000101010101" pitchFamily="18" charset="-127"/>
                <a:ea typeface="HY견명조" panose="02030600000101010101" pitchFamily="18" charset="-127"/>
              </a:rPr>
              <a:t>9</a:t>
            </a:r>
            <a:endParaRPr lang="ko-KR" altLang="en-US" sz="8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5663F3E2-1E64-4DAC-9BFD-86888A37FD64}"/>
              </a:ext>
            </a:extLst>
          </p:cNvPr>
          <p:cNvSpPr/>
          <p:nvPr/>
        </p:nvSpPr>
        <p:spPr>
          <a:xfrm>
            <a:off x="8475384" y="380994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>
                <a:latin typeface="HY견명조" panose="02030600000101010101" pitchFamily="18" charset="-127"/>
                <a:ea typeface="HY견명조" panose="02030600000101010101" pitchFamily="18" charset="-127"/>
              </a:rPr>
              <a:t>10</a:t>
            </a:r>
            <a:endParaRPr lang="ko-KR" altLang="en-US" sz="8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84169426-401F-49AC-BE16-4FB738116F78}"/>
              </a:ext>
            </a:extLst>
          </p:cNvPr>
          <p:cNvSpPr/>
          <p:nvPr/>
        </p:nvSpPr>
        <p:spPr>
          <a:xfrm>
            <a:off x="1414538" y="3543895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>
                <a:latin typeface="HY견명조" panose="02030600000101010101" pitchFamily="18" charset="-127"/>
                <a:ea typeface="HY견명조" panose="02030600000101010101" pitchFamily="18" charset="-127"/>
              </a:rPr>
              <a:t>11</a:t>
            </a:r>
            <a:endParaRPr lang="ko-KR" altLang="en-US" sz="8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6A2A5AE-AB2D-408D-B82B-BB73E974E195}"/>
              </a:ext>
            </a:extLst>
          </p:cNvPr>
          <p:cNvSpPr txBox="1"/>
          <p:nvPr/>
        </p:nvSpPr>
        <p:spPr>
          <a:xfrm>
            <a:off x="8650063" y="1793569"/>
            <a:ext cx="1589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rgbClr val="0000FF"/>
                </a:solidFill>
              </a:rPr>
              <a:t>접속 종료 시그널이 뜬다</a:t>
            </a:r>
            <a:r>
              <a:rPr lang="en-US" altLang="ko-KR" sz="800">
                <a:solidFill>
                  <a:srgbClr val="0000FF"/>
                </a:solidFill>
              </a:rPr>
              <a:t>.</a:t>
            </a:r>
          </a:p>
          <a:p>
            <a:r>
              <a:rPr lang="en-US" altLang="ko-KR" sz="800">
                <a:solidFill>
                  <a:srgbClr val="0000FF"/>
                </a:solidFill>
              </a:rPr>
              <a:t>(FD_CLOSE, EPOLLHUP, …)</a:t>
            </a:r>
            <a:br>
              <a:rPr lang="en-US" altLang="ko-KR" sz="800">
                <a:solidFill>
                  <a:srgbClr val="0000FF"/>
                </a:solidFill>
              </a:rPr>
            </a:br>
            <a:r>
              <a:rPr lang="ko-KR" altLang="en-US" sz="800">
                <a:solidFill>
                  <a:srgbClr val="0000FF"/>
                </a:solidFill>
              </a:rPr>
              <a:t>보통 여기서 </a:t>
            </a:r>
            <a:r>
              <a:rPr lang="en-US" altLang="ko-KR" sz="800" b="1">
                <a:solidFill>
                  <a:srgbClr val="0000FF"/>
                </a:solidFill>
              </a:rPr>
              <a:t>closesocket (…)</a:t>
            </a:r>
            <a:endParaRPr lang="ko-KR" altLang="en-US" sz="800">
              <a:solidFill>
                <a:srgbClr val="0000FF"/>
              </a:solidFill>
            </a:endParaRP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7C59274D-8CDD-4E07-8C42-1890D9F23E39}"/>
              </a:ext>
            </a:extLst>
          </p:cNvPr>
          <p:cNvCxnSpPr>
            <a:cxnSpLocks/>
          </p:cNvCxnSpPr>
          <p:nvPr/>
        </p:nvCxnSpPr>
        <p:spPr>
          <a:xfrm flipH="1">
            <a:off x="3364108" y="2552568"/>
            <a:ext cx="1260000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AFA63D4E-D977-456C-AADE-F643EEB074D4}"/>
              </a:ext>
            </a:extLst>
          </p:cNvPr>
          <p:cNvSpPr txBox="1"/>
          <p:nvPr/>
        </p:nvSpPr>
        <p:spPr>
          <a:xfrm>
            <a:off x="1553292" y="3124708"/>
            <a:ext cx="15263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solidFill>
                  <a:srgbClr val="0000FF"/>
                </a:solidFill>
              </a:rPr>
              <a:t>접속 종료 시그널이 뜬다</a:t>
            </a:r>
            <a:r>
              <a:rPr lang="en-US" altLang="ko-KR" sz="800">
                <a:solidFill>
                  <a:srgbClr val="0000FF"/>
                </a:solidFill>
              </a:rPr>
              <a:t>.</a:t>
            </a:r>
            <a:br>
              <a:rPr lang="en-US" altLang="ko-KR" sz="800">
                <a:solidFill>
                  <a:srgbClr val="0000FF"/>
                </a:solidFill>
              </a:rPr>
            </a:br>
            <a:r>
              <a:rPr lang="en-US" altLang="ko-KR" sz="800">
                <a:solidFill>
                  <a:srgbClr val="0000FF"/>
                </a:solidFill>
              </a:rPr>
              <a:t>(FD_CLOSE, EPOLLHUP)</a:t>
            </a:r>
            <a:br>
              <a:rPr lang="en-US" altLang="ko-KR" sz="800">
                <a:solidFill>
                  <a:srgbClr val="0000FF"/>
                </a:solidFill>
              </a:rPr>
            </a:br>
            <a:r>
              <a:rPr lang="ko-KR" altLang="en-US" sz="800">
                <a:solidFill>
                  <a:srgbClr val="0000FF"/>
                </a:solidFill>
              </a:rPr>
              <a:t>보통 여기서 </a:t>
            </a:r>
            <a:r>
              <a:rPr lang="en-US" altLang="ko-KR" sz="800" b="1">
                <a:solidFill>
                  <a:srgbClr val="0000FF"/>
                </a:solidFill>
              </a:rPr>
              <a:t>closesocket(…)</a:t>
            </a:r>
            <a:endParaRPr lang="ko-KR" altLang="en-US" sz="800" b="1">
              <a:solidFill>
                <a:srgbClr val="0000FF"/>
              </a:solidFill>
            </a:endParaRPr>
          </a:p>
          <a:p>
            <a:endParaRPr lang="ko-KR" altLang="en-US" sz="800">
              <a:solidFill>
                <a:srgbClr val="0000FF"/>
              </a:solidFill>
            </a:endParaRPr>
          </a:p>
        </p:txBody>
      </p: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6CF5BB8A-008A-40DD-A1E6-177286739099}"/>
              </a:ext>
            </a:extLst>
          </p:cNvPr>
          <p:cNvCxnSpPr>
            <a:cxnSpLocks/>
          </p:cNvCxnSpPr>
          <p:nvPr/>
        </p:nvCxnSpPr>
        <p:spPr>
          <a:xfrm>
            <a:off x="2979195" y="3316515"/>
            <a:ext cx="172212" cy="0"/>
          </a:xfrm>
          <a:prstGeom prst="straightConnector1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374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147</Words>
  <Application>Microsoft Office PowerPoint</Application>
  <PresentationFormat>와이드스크린</PresentationFormat>
  <Paragraphs>44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HY견명조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 상현</dc:creator>
  <cp:lastModifiedBy>조 상현</cp:lastModifiedBy>
  <cp:revision>71</cp:revision>
  <dcterms:created xsi:type="dcterms:W3CDTF">2020-03-01T09:21:05Z</dcterms:created>
  <dcterms:modified xsi:type="dcterms:W3CDTF">2020-03-01T10:18:45Z</dcterms:modified>
</cp:coreProperties>
</file>