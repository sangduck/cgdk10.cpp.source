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859CC2"/>
    <a:srgbClr val="E8E7DC"/>
    <a:srgbClr val="FDFCF9"/>
    <a:srgbClr val="FDFDF9"/>
    <a:srgbClr val="FAF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90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4445B-8456-461F-A495-3B2AED47D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F12F05-7054-4536-88F4-E7DB71F8F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83310-AF8A-45D7-8DCA-9AE9E880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6CBCC3-086C-472A-9DF4-BFC01590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B62EF3-3914-41B4-A1F6-6E4D37E0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89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0F493-7022-45D7-A7F9-AAB6B7647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D8F5B-F019-4BB0-82E3-D9D804F9E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58DFCA-57E7-468D-BF9A-761164B6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F6C725-E0C5-4AA0-BA84-53B00A88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DC2BF4-0EF9-4ACC-8375-2E3DCE00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52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5D5FA-8CFE-45C3-8443-7E1462E94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A5E540-0CE9-482D-8C72-13477D6A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52357-5FA2-477A-B4F4-E37CEC1F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6ABE7E-2664-4C1C-9415-D4421529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FE9C1-77B7-4DD9-B6C1-68F6F28B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2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EA283-7035-4961-A9CC-6A4D8855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A239F7-6581-4CC0-AE4B-E707C5672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1E62B7-E13F-4D24-AF7F-ED0BA3A26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D7809B-2A89-40D5-8044-71BAD90D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0FDFBA-C0C4-422A-895B-6D2E16B4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4C204B-51F1-4D08-995B-587DF283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23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C1A66-9FF7-40D5-8C55-D08120B7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8485D6-E409-4889-9571-1C4BDB4D7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4C7C17-F793-428A-92E2-6495F2146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FE8B57-D37C-4C16-9A7B-0076462E7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CA610A-4894-4FC6-8F8C-4F33D6544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B8756D-AB51-4DB5-A718-2AD13155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76CAAA-1C53-4DD5-9FB8-9B665E53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DFF4D8-2C29-4B8C-99DC-E801E62F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5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83A38-4FFA-40A8-996D-C8236BB9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9A9307-1A27-41E4-B059-DAFF91982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91FF75-BAAB-42A5-AD76-13AE9AE8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114AD7-9301-4047-AD47-F9F9829A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27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1F2C5A-B547-4C44-93AA-12EB6E0C3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939289-EBBF-4030-8F94-84187A74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6048A2-6899-476F-AAE3-238CA536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584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98609-ECF2-4B6E-BD47-D61767C7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25D169-B7B4-44C1-AF19-E1740EA95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E69250-B2C8-4870-BC81-BC797D9FD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A892F9-3E48-4B30-B377-ADE986C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F15F1-70E8-4ABE-86F2-75E8CA6B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F04CD-7E0F-449F-8DFA-0F6CD096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02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8A59F-9472-4D41-8E30-A44001ED8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DF2A92-35C9-461F-8884-31C2F097C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A18446-420E-406A-AB31-28E4EA8A7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4BB7D2-8422-4D17-8F4B-A8C7FD2FF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82BC90-9F8D-40DA-93A9-BD6DF35F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FECD9F-156D-4D4A-8E6F-85382BABA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27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F768F-8FDB-46EF-B412-C6CD1138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3F96A4-09AB-47AA-AFF3-285BA9B16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ECDF61-6143-4663-938A-472017E4F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31C30C-FF94-4AD6-969A-7940DB41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8559B9-04C4-459B-91DC-1ADC6A61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1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5605AE-6180-4EC0-9979-F3249A991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9CF840-2AE5-47C0-8CC4-B367FF67B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83FA4D-3ABA-46AE-A783-5999353D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646320-6EDF-4BDC-9DFD-06A7355A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24D150-0798-4C70-90BF-816E02D4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54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C8BDD9-8924-4D9A-B811-CA15B6FA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389058-196A-4A3C-A9FA-D123BF0D1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1ABAE9-2225-4A11-AAC6-BB0820C95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C8748-E543-435C-B606-AB330D7C2B1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F7C784-6D44-4870-A29E-4E4552E06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87293A-BCAE-4096-9364-920D36AD0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B038B-50C1-407A-822F-6A3DD9EDAD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43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Databas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jpg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C54581-C319-4A67-B477-52318FC52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68" y="407006"/>
            <a:ext cx="1955353" cy="28702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4ADFE6-31F8-4E33-AAB9-6C7BC3BF3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268" y="3737322"/>
            <a:ext cx="1824430" cy="28702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A484EB-8236-4444-9FF9-8217CD608933}"/>
              </a:ext>
            </a:extLst>
          </p:cNvPr>
          <p:cNvSpPr txBox="1"/>
          <p:nvPr/>
        </p:nvSpPr>
        <p:spPr>
          <a:xfrm>
            <a:off x="6924135" y="98684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WINDOWS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3D81A1-ACF4-47D7-B736-707BE6972CF0}"/>
              </a:ext>
            </a:extLst>
          </p:cNvPr>
          <p:cNvSpPr txBox="1"/>
          <p:nvPr/>
        </p:nvSpPr>
        <p:spPr>
          <a:xfrm>
            <a:off x="7090416" y="3429000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LINUX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D9659E-BB3A-4817-8C66-4E4222A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023" y="2305755"/>
            <a:ext cx="1794077" cy="194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0D0923-40D6-4916-82C1-4ACA81067FDA}"/>
              </a:ext>
            </a:extLst>
          </p:cNvPr>
          <p:cNvSpPr txBox="1"/>
          <p:nvPr/>
        </p:nvSpPr>
        <p:spPr>
          <a:xfrm>
            <a:off x="1414875" y="1935342"/>
            <a:ext cx="171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source y CGCII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34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F3A6DA-66DF-42ED-BE92-CF9301F8E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3" y="395037"/>
            <a:ext cx="5383437" cy="58306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E9D491-6550-44B4-827D-ADE7B1269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9" y="1246631"/>
            <a:ext cx="822962" cy="4602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5ACF24-94EB-4C3B-87BA-BFF58B385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00" y="1558670"/>
            <a:ext cx="9144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AD73540-0907-4CC6-AC92-959018A4083F}"/>
              </a:ext>
            </a:extLst>
          </p:cNvPr>
          <p:cNvSpPr/>
          <p:nvPr/>
        </p:nvSpPr>
        <p:spPr>
          <a:xfrm>
            <a:off x="7417370" y="2914124"/>
            <a:ext cx="723900" cy="335280"/>
          </a:xfrm>
          <a:prstGeom prst="roundRect">
            <a:avLst/>
          </a:prstGeom>
          <a:solidFill>
            <a:schemeClr val="bg1"/>
          </a:solidFill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acceptor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355EE8F-3DF0-469A-AE4C-71D5B251C395}"/>
              </a:ext>
            </a:extLst>
          </p:cNvPr>
          <p:cNvSpPr/>
          <p:nvPr/>
        </p:nvSpPr>
        <p:spPr>
          <a:xfrm>
            <a:off x="7429186" y="2321268"/>
            <a:ext cx="723900" cy="335280"/>
          </a:xfrm>
          <a:prstGeom prst="roundRect">
            <a:avLst/>
          </a:prstGeom>
          <a:solidFill>
            <a:schemeClr val="bg1"/>
          </a:solidFill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querier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635FF5A-AD7C-4A60-AFF9-3D0F0FEB57F8}"/>
              </a:ext>
            </a:extLst>
          </p:cNvPr>
          <p:cNvSpPr/>
          <p:nvPr/>
        </p:nvSpPr>
        <p:spPr>
          <a:xfrm>
            <a:off x="6243822" y="1574577"/>
            <a:ext cx="723900" cy="335280"/>
          </a:xfrm>
          <a:prstGeom prst="roundRect">
            <a:avLst/>
          </a:prstGeom>
          <a:solidFill>
            <a:schemeClr val="bg1"/>
          </a:solidFill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socket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0A5C4A5-498E-47F4-B976-2767B2598EF3}"/>
              </a:ext>
            </a:extLst>
          </p:cNvPr>
          <p:cNvSpPr/>
          <p:nvPr/>
        </p:nvSpPr>
        <p:spPr>
          <a:xfrm>
            <a:off x="6243822" y="2914124"/>
            <a:ext cx="723900" cy="335280"/>
          </a:xfrm>
          <a:prstGeom prst="roundRect">
            <a:avLst/>
          </a:prstGeom>
          <a:solidFill>
            <a:schemeClr val="bg1"/>
          </a:solidFill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acceptor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A7B8B45-DEE3-4DD6-A320-C7A506019AB2}"/>
              </a:ext>
            </a:extLst>
          </p:cNvPr>
          <p:cNvSpPr/>
          <p:nvPr/>
        </p:nvSpPr>
        <p:spPr>
          <a:xfrm>
            <a:off x="5998129" y="998289"/>
            <a:ext cx="2327805" cy="2527813"/>
          </a:xfrm>
          <a:prstGeom prst="roundRect">
            <a:avLst>
              <a:gd name="adj" fmla="val 549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EFCB45-A5E9-4A09-883D-0B5252299D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16262" y="1998971"/>
            <a:ext cx="692892" cy="9797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C6657E-8FFD-4B7C-AC6B-A098E2D0E812}"/>
              </a:ext>
            </a:extLst>
          </p:cNvPr>
          <p:cNvSpPr txBox="1"/>
          <p:nvPr/>
        </p:nvSpPr>
        <p:spPr>
          <a:xfrm>
            <a:off x="9085277" y="2455525"/>
            <a:ext cx="587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>
                <a:latin typeface="+mj-lt"/>
              </a:rPr>
              <a:t>RDB.B</a:t>
            </a:r>
            <a:endParaRPr lang="ko-KR" altLang="en-US" sz="1000" b="1">
              <a:latin typeface="+mj-lt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B774187-FFF9-4FC2-82D7-D651FA1B0E3B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8153086" y="2488838"/>
            <a:ext cx="863176" cy="70"/>
          </a:xfrm>
          <a:prstGeom prst="line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91AA2C39-700B-4080-AC56-E5FBA2F8A0D2}"/>
              </a:ext>
            </a:extLst>
          </p:cNvPr>
          <p:cNvSpPr/>
          <p:nvPr/>
        </p:nvSpPr>
        <p:spPr>
          <a:xfrm>
            <a:off x="6517082" y="3436102"/>
            <a:ext cx="180000" cy="18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F300388-B0F8-4FAC-B650-D91B493FE383}"/>
              </a:ext>
            </a:extLst>
          </p:cNvPr>
          <p:cNvSpPr/>
          <p:nvPr/>
        </p:nvSpPr>
        <p:spPr>
          <a:xfrm>
            <a:off x="7689320" y="3443404"/>
            <a:ext cx="180000" cy="18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E319AF-90D9-4715-B5FB-FE314F952D3C}"/>
              </a:ext>
            </a:extLst>
          </p:cNvPr>
          <p:cNvSpPr/>
          <p:nvPr/>
        </p:nvSpPr>
        <p:spPr>
          <a:xfrm>
            <a:off x="6243822" y="2038890"/>
            <a:ext cx="723900" cy="335280"/>
          </a:xfrm>
          <a:prstGeom prst="roundRect">
            <a:avLst/>
          </a:prstGeom>
          <a:solidFill>
            <a:schemeClr val="bg1"/>
          </a:solidFill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socket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B162A8C-AB65-4648-A778-DC7ACA42B88C}"/>
              </a:ext>
            </a:extLst>
          </p:cNvPr>
          <p:cNvCxnSpPr>
            <a:cxnSpLocks/>
            <a:stCxn id="17" idx="0"/>
            <a:endCxn id="10" idx="2"/>
          </p:cNvCxnSpPr>
          <p:nvPr/>
        </p:nvCxnSpPr>
        <p:spPr>
          <a:xfrm flipH="1" flipV="1">
            <a:off x="6605772" y="3249404"/>
            <a:ext cx="1310" cy="18669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7BA03BA-047B-4AA1-AE82-29F41C824505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V="1">
            <a:off x="7779320" y="3249404"/>
            <a:ext cx="0" cy="1940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8DED91-1805-4E9F-93CB-6B078B49AF11}"/>
              </a:ext>
            </a:extLst>
          </p:cNvPr>
          <p:cNvSpPr/>
          <p:nvPr/>
        </p:nvSpPr>
        <p:spPr>
          <a:xfrm>
            <a:off x="6269306" y="3247936"/>
            <a:ext cx="3930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/>
              <a:t>bind</a:t>
            </a:r>
            <a:endParaRPr lang="ko-KR" altLang="en-US" sz="8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F64A1D-D643-433D-B040-D504742DB8EE}"/>
              </a:ext>
            </a:extLst>
          </p:cNvPr>
          <p:cNvSpPr/>
          <p:nvPr/>
        </p:nvSpPr>
        <p:spPr>
          <a:xfrm>
            <a:off x="7440025" y="3238682"/>
            <a:ext cx="3930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/>
              <a:t>bind</a:t>
            </a:r>
            <a:endParaRPr lang="ko-KR" altLang="en-US" sz="80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CEB1FDB-439D-4EE8-964F-7736DE83D8A6}"/>
              </a:ext>
            </a:extLst>
          </p:cNvPr>
          <p:cNvSpPr/>
          <p:nvPr/>
        </p:nvSpPr>
        <p:spPr>
          <a:xfrm>
            <a:off x="7429186" y="1563581"/>
            <a:ext cx="723900" cy="335280"/>
          </a:xfrm>
          <a:prstGeom prst="roundRect">
            <a:avLst/>
          </a:prstGeom>
          <a:solidFill>
            <a:schemeClr val="bg1"/>
          </a:solidFill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querier</a:t>
            </a:r>
            <a:endParaRPr lang="ko-KR" altLang="en-US" sz="1000">
              <a:solidFill>
                <a:schemeClr val="tx1"/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3121ED6-EDB0-4DE8-8B95-0C1B3A06B7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16262" y="1241284"/>
            <a:ext cx="692892" cy="97973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0F8ABE3-132F-49E3-9690-658ED41EC9CC}"/>
              </a:ext>
            </a:extLst>
          </p:cNvPr>
          <p:cNvSpPr txBox="1"/>
          <p:nvPr/>
        </p:nvSpPr>
        <p:spPr>
          <a:xfrm>
            <a:off x="9085277" y="1669410"/>
            <a:ext cx="5793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>
                <a:latin typeface="+mj-lt"/>
              </a:rPr>
              <a:t>RDB.A</a:t>
            </a:r>
            <a:endParaRPr lang="ko-KR" altLang="en-US" sz="1000" b="1">
              <a:latin typeface="+mj-lt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AC107C5-4153-4D8D-AEB2-F35B935268FB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 flipV="1">
            <a:off x="8153086" y="1731151"/>
            <a:ext cx="863176" cy="70"/>
          </a:xfrm>
          <a:prstGeom prst="line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F5CAF2C-6C3F-45B5-9160-FC2044DA1F94}"/>
              </a:ext>
            </a:extLst>
          </p:cNvPr>
          <p:cNvSpPr/>
          <p:nvPr/>
        </p:nvSpPr>
        <p:spPr>
          <a:xfrm>
            <a:off x="4011996" y="1312337"/>
            <a:ext cx="1073791" cy="413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SERVER.A</a:t>
            </a:r>
            <a:endParaRPr lang="ko-KR" altLang="en-US" sz="120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A2B9F9B-E202-4F48-BC23-A528CEC38AEE}"/>
              </a:ext>
            </a:extLst>
          </p:cNvPr>
          <p:cNvSpPr/>
          <p:nvPr/>
        </p:nvSpPr>
        <p:spPr>
          <a:xfrm>
            <a:off x="4011996" y="2206530"/>
            <a:ext cx="1073791" cy="413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SERVER.B</a:t>
            </a:r>
            <a:endParaRPr lang="ko-KR" altLang="en-US" sz="120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E13D2D0-7F60-460A-97BE-166C99D84EEB}"/>
              </a:ext>
            </a:extLst>
          </p:cNvPr>
          <p:cNvCxnSpPr>
            <a:cxnSpLocks/>
            <a:stCxn id="33" idx="3"/>
            <a:endCxn id="9" idx="1"/>
          </p:cNvCxnSpPr>
          <p:nvPr/>
        </p:nvCxnSpPr>
        <p:spPr>
          <a:xfrm>
            <a:off x="5085787" y="1519133"/>
            <a:ext cx="1158035" cy="223084"/>
          </a:xfrm>
          <a:prstGeom prst="line">
            <a:avLst/>
          </a:prstGeom>
          <a:ln>
            <a:prstDash val="sys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083213C-65C3-4F69-A987-EEC89B76ECFB}"/>
              </a:ext>
            </a:extLst>
          </p:cNvPr>
          <p:cNvCxnSpPr>
            <a:cxnSpLocks/>
            <a:stCxn id="34" idx="3"/>
            <a:endCxn id="19" idx="1"/>
          </p:cNvCxnSpPr>
          <p:nvPr/>
        </p:nvCxnSpPr>
        <p:spPr>
          <a:xfrm flipV="1">
            <a:off x="5085787" y="2206530"/>
            <a:ext cx="1158035" cy="206796"/>
          </a:xfrm>
          <a:prstGeom prst="line">
            <a:avLst/>
          </a:prstGeom>
          <a:ln>
            <a:prstDash val="sys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38E44B9B-AF5A-42D0-B683-37C3815DEA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455" y="3904805"/>
            <a:ext cx="407885" cy="42671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BEA3A0C-4BAF-47F9-AF16-7F5B57A0E2C1}"/>
              </a:ext>
            </a:extLst>
          </p:cNvPr>
          <p:cNvSpPr txBox="1"/>
          <p:nvPr/>
        </p:nvSpPr>
        <p:spPr>
          <a:xfrm>
            <a:off x="5722080" y="4236824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USER</a:t>
            </a:r>
            <a:endParaRPr lang="ko-KR" altLang="en-US" sz="80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CCE2BDAF-CFBC-421A-9F33-0AB6669F1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85" y="3904805"/>
            <a:ext cx="407885" cy="42671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83AD060-0F4A-4356-9927-9AEDE7722F07}"/>
              </a:ext>
            </a:extLst>
          </p:cNvPr>
          <p:cNvSpPr txBox="1"/>
          <p:nvPr/>
        </p:nvSpPr>
        <p:spPr>
          <a:xfrm>
            <a:off x="6327486" y="4236824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USER</a:t>
            </a:r>
            <a:endParaRPr lang="ko-KR" altLang="en-US" sz="800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59F953B9-63CC-4EC3-8F0B-72234D2D4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500" y="3904805"/>
            <a:ext cx="407885" cy="42671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0060C3F-9AEA-44D2-9179-676FBCE9E700}"/>
              </a:ext>
            </a:extLst>
          </p:cNvPr>
          <p:cNvSpPr txBox="1"/>
          <p:nvPr/>
        </p:nvSpPr>
        <p:spPr>
          <a:xfrm>
            <a:off x="6773501" y="4236824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USER</a:t>
            </a:r>
            <a:endParaRPr lang="ko-KR" altLang="en-US" sz="80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9E39BF5C-95B5-4130-AA8B-F94A4B229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242" y="3904805"/>
            <a:ext cx="407885" cy="42671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720AEB8-6FFF-4920-A743-E9D421ECA740}"/>
              </a:ext>
            </a:extLst>
          </p:cNvPr>
          <p:cNvSpPr txBox="1"/>
          <p:nvPr/>
        </p:nvSpPr>
        <p:spPr>
          <a:xfrm>
            <a:off x="7580243" y="4236824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USER</a:t>
            </a:r>
            <a:endParaRPr lang="ko-KR" altLang="en-US" sz="800"/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BC82FE5C-CCF3-4EAA-8775-AD99CB2FB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701" y="3904805"/>
            <a:ext cx="407885" cy="42671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D106B62-F173-4ECB-8CBA-10FA7A4776D3}"/>
              </a:ext>
            </a:extLst>
          </p:cNvPr>
          <p:cNvSpPr txBox="1"/>
          <p:nvPr/>
        </p:nvSpPr>
        <p:spPr>
          <a:xfrm>
            <a:off x="7992702" y="4236824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USER</a:t>
            </a:r>
            <a:endParaRPr lang="ko-KR" altLang="en-US" sz="80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EE299161-1498-42AD-90D8-81563AAE6CA4}"/>
              </a:ext>
            </a:extLst>
          </p:cNvPr>
          <p:cNvCxnSpPr>
            <a:stCxn id="48" idx="0"/>
            <a:endCxn id="17" idx="3"/>
          </p:cNvCxnSpPr>
          <p:nvPr/>
        </p:nvCxnSpPr>
        <p:spPr>
          <a:xfrm flipV="1">
            <a:off x="5953398" y="3589742"/>
            <a:ext cx="590044" cy="31506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AA46888-C3EC-4767-A0B0-B1A8008DD0C9}"/>
              </a:ext>
            </a:extLst>
          </p:cNvPr>
          <p:cNvCxnSpPr>
            <a:cxnSpLocks/>
            <a:stCxn id="50" idx="0"/>
            <a:endCxn id="17" idx="4"/>
          </p:cNvCxnSpPr>
          <p:nvPr/>
        </p:nvCxnSpPr>
        <p:spPr>
          <a:xfrm flipV="1">
            <a:off x="6531428" y="3616102"/>
            <a:ext cx="75654" cy="28870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9AC69C7-DF2B-4602-89B9-7E74A7B0DBE7}"/>
              </a:ext>
            </a:extLst>
          </p:cNvPr>
          <p:cNvCxnSpPr>
            <a:cxnSpLocks/>
            <a:stCxn id="52" idx="0"/>
            <a:endCxn id="17" idx="5"/>
          </p:cNvCxnSpPr>
          <p:nvPr/>
        </p:nvCxnSpPr>
        <p:spPr>
          <a:xfrm flipH="1" flipV="1">
            <a:off x="6670722" y="3589742"/>
            <a:ext cx="306721" cy="31506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7422848-A61B-49E6-9F1F-FC98C9AD1AB2}"/>
              </a:ext>
            </a:extLst>
          </p:cNvPr>
          <p:cNvCxnSpPr>
            <a:cxnSpLocks/>
            <a:stCxn id="54" idx="0"/>
            <a:endCxn id="18" idx="4"/>
          </p:cNvCxnSpPr>
          <p:nvPr/>
        </p:nvCxnSpPr>
        <p:spPr>
          <a:xfrm flipH="1" flipV="1">
            <a:off x="7779320" y="3623404"/>
            <a:ext cx="4865" cy="28140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FEC7A613-BE91-4E5A-92E3-03A892430108}"/>
              </a:ext>
            </a:extLst>
          </p:cNvPr>
          <p:cNvCxnSpPr>
            <a:cxnSpLocks/>
            <a:stCxn id="56" idx="0"/>
            <a:endCxn id="18" idx="5"/>
          </p:cNvCxnSpPr>
          <p:nvPr/>
        </p:nvCxnSpPr>
        <p:spPr>
          <a:xfrm flipH="1" flipV="1">
            <a:off x="7842960" y="3597044"/>
            <a:ext cx="353684" cy="307761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5A4C72F-80BC-46CC-9048-387150BB62BA}"/>
              </a:ext>
            </a:extLst>
          </p:cNvPr>
          <p:cNvSpPr/>
          <p:nvPr/>
        </p:nvSpPr>
        <p:spPr>
          <a:xfrm>
            <a:off x="5677916" y="3597044"/>
            <a:ext cx="5501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</a:rPr>
              <a:t>connect</a:t>
            </a:r>
            <a:endParaRPr lang="ko-KR" altLang="en-US" sz="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117CB62-6F39-426C-A4D5-B54BC4E31F7E}"/>
              </a:ext>
            </a:extLst>
          </p:cNvPr>
          <p:cNvSpPr/>
          <p:nvPr/>
        </p:nvSpPr>
        <p:spPr>
          <a:xfrm>
            <a:off x="8075208" y="3642016"/>
            <a:ext cx="5501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</a:rPr>
              <a:t>connect</a:t>
            </a:r>
            <a:endParaRPr lang="ko-KR" altLang="en-US" sz="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206DFB3-F286-4A9A-B74B-DC06D94F1EAB}"/>
              </a:ext>
            </a:extLst>
          </p:cNvPr>
          <p:cNvSpPr/>
          <p:nvPr/>
        </p:nvSpPr>
        <p:spPr>
          <a:xfrm>
            <a:off x="5456118" y="2304517"/>
            <a:ext cx="5501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</a:rPr>
              <a:t>connect</a:t>
            </a:r>
            <a:endParaRPr lang="ko-KR" altLang="en-US" sz="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2135E86-3FE3-45A0-86CE-B51A18706D7F}"/>
              </a:ext>
            </a:extLst>
          </p:cNvPr>
          <p:cNvSpPr/>
          <p:nvPr/>
        </p:nvSpPr>
        <p:spPr>
          <a:xfrm>
            <a:off x="5498714" y="1396724"/>
            <a:ext cx="5501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</a:rPr>
              <a:t>connect</a:t>
            </a:r>
            <a:endParaRPr lang="ko-KR" altLang="en-US" sz="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64C29C8-B52F-4F4D-A4E2-222BC03BBEF9}"/>
              </a:ext>
            </a:extLst>
          </p:cNvPr>
          <p:cNvSpPr/>
          <p:nvPr/>
        </p:nvSpPr>
        <p:spPr>
          <a:xfrm>
            <a:off x="6011975" y="1029617"/>
            <a:ext cx="101021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/>
              <a:t>CGCII server</a:t>
            </a:r>
            <a:endParaRPr lang="ko-KR" altLang="en-US" sz="1100" b="1"/>
          </a:p>
        </p:txBody>
      </p:sp>
    </p:spTree>
    <p:extLst>
      <p:ext uri="{BB962C8B-B14F-4D97-AF65-F5344CB8AC3E}">
        <p14:creationId xmlns:p14="http://schemas.microsoft.com/office/powerpoint/2010/main" val="121349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3FD39AC-2D68-4B6E-9574-7B5A63080028}"/>
              </a:ext>
            </a:extLst>
          </p:cNvPr>
          <p:cNvSpPr/>
          <p:nvPr/>
        </p:nvSpPr>
        <p:spPr>
          <a:xfrm>
            <a:off x="4278386" y="1400961"/>
            <a:ext cx="2327805" cy="2527813"/>
          </a:xfrm>
          <a:prstGeom prst="roundRect">
            <a:avLst>
              <a:gd name="adj" fmla="val 549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BFC027-2A67-4829-A8F0-35CB1DCB289D}"/>
              </a:ext>
            </a:extLst>
          </p:cNvPr>
          <p:cNvSpPr/>
          <p:nvPr/>
        </p:nvSpPr>
        <p:spPr>
          <a:xfrm>
            <a:off x="5079060" y="1406073"/>
            <a:ext cx="59182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/>
              <a:t>server</a:t>
            </a:r>
            <a:endParaRPr lang="ko-KR" altLang="en-US" sz="1100" b="1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0687209-C12E-43F5-AE6D-89103F5C1FE8}"/>
              </a:ext>
            </a:extLst>
          </p:cNvPr>
          <p:cNvSpPr/>
          <p:nvPr/>
        </p:nvSpPr>
        <p:spPr>
          <a:xfrm>
            <a:off x="4816960" y="1982947"/>
            <a:ext cx="1279040" cy="1657876"/>
          </a:xfrm>
          <a:prstGeom prst="roundRect">
            <a:avLst/>
          </a:prstGeom>
          <a:solidFill>
            <a:schemeClr val="bg1"/>
          </a:solidFill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server 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</a:rPr>
              <a:t>engine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6548D87-589B-4E1C-9862-7B05D5C53F0F}"/>
              </a:ext>
            </a:extLst>
          </p:cNvPr>
          <p:cNvSpPr/>
          <p:nvPr/>
        </p:nvSpPr>
        <p:spPr>
          <a:xfrm>
            <a:off x="5414189" y="3828990"/>
            <a:ext cx="180000" cy="18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41330B5-3FC2-4BC8-9E85-CF5DB18E5967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502879" y="3642292"/>
            <a:ext cx="1310" cy="18669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733247-52A4-4C6C-B34E-A050CF40A3FB}"/>
              </a:ext>
            </a:extLst>
          </p:cNvPr>
          <p:cNvSpPr/>
          <p:nvPr/>
        </p:nvSpPr>
        <p:spPr>
          <a:xfrm>
            <a:off x="5166413" y="3640824"/>
            <a:ext cx="3930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/>
              <a:t>bind</a:t>
            </a:r>
            <a:endParaRPr lang="ko-KR" altLang="en-US" sz="8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6F8ADB-9E6E-419C-9D05-8CAEB0AB6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562" y="4297693"/>
            <a:ext cx="407885" cy="4267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0F7604-56C0-4163-8CA4-AB6FBAE7092D}"/>
              </a:ext>
            </a:extLst>
          </p:cNvPr>
          <p:cNvSpPr txBox="1"/>
          <p:nvPr/>
        </p:nvSpPr>
        <p:spPr>
          <a:xfrm>
            <a:off x="4619187" y="4629712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USER</a:t>
            </a:r>
            <a:endParaRPr lang="ko-KR" altLang="en-US" sz="8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80FB45-AC6E-4F38-8C1F-8661984B6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592" y="4297693"/>
            <a:ext cx="407885" cy="426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24C9FA-B3F9-4401-A27F-CEF45A698C5D}"/>
              </a:ext>
            </a:extLst>
          </p:cNvPr>
          <p:cNvSpPr txBox="1"/>
          <p:nvPr/>
        </p:nvSpPr>
        <p:spPr>
          <a:xfrm>
            <a:off x="5224593" y="4629712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USER</a:t>
            </a:r>
            <a:endParaRPr lang="ko-KR" altLang="en-US" sz="80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EA25F8E-67AD-440C-A765-858D230C1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607" y="4297693"/>
            <a:ext cx="407885" cy="4267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139991-CEE7-4736-86B6-4620877A7530}"/>
              </a:ext>
            </a:extLst>
          </p:cNvPr>
          <p:cNvSpPr txBox="1"/>
          <p:nvPr/>
        </p:nvSpPr>
        <p:spPr>
          <a:xfrm>
            <a:off x="5670608" y="4629712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USER</a:t>
            </a:r>
            <a:endParaRPr lang="ko-KR" altLang="en-US" sz="80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9A28AB-23D4-43CD-8951-0F5C62D9761E}"/>
              </a:ext>
            </a:extLst>
          </p:cNvPr>
          <p:cNvCxnSpPr>
            <a:stCxn id="10" idx="0"/>
            <a:endCxn id="7" idx="3"/>
          </p:cNvCxnSpPr>
          <p:nvPr/>
        </p:nvCxnSpPr>
        <p:spPr>
          <a:xfrm flipV="1">
            <a:off x="4850505" y="3982630"/>
            <a:ext cx="590044" cy="31506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29D9972-3B70-40AA-A4E1-C8C6ED60F177}"/>
              </a:ext>
            </a:extLst>
          </p:cNvPr>
          <p:cNvCxnSpPr>
            <a:cxnSpLocks/>
            <a:stCxn id="12" idx="0"/>
            <a:endCxn id="7" idx="4"/>
          </p:cNvCxnSpPr>
          <p:nvPr/>
        </p:nvCxnSpPr>
        <p:spPr>
          <a:xfrm flipV="1">
            <a:off x="5428535" y="4008990"/>
            <a:ext cx="75654" cy="28870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1EC71C1-DD56-4A26-97E5-4F80F86D1415}"/>
              </a:ext>
            </a:extLst>
          </p:cNvPr>
          <p:cNvCxnSpPr>
            <a:cxnSpLocks/>
            <a:stCxn id="14" idx="0"/>
            <a:endCxn id="7" idx="5"/>
          </p:cNvCxnSpPr>
          <p:nvPr/>
        </p:nvCxnSpPr>
        <p:spPr>
          <a:xfrm flipH="1" flipV="1">
            <a:off x="5567829" y="3982630"/>
            <a:ext cx="306721" cy="31506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F95227-CC37-4A1A-AA21-1336AD22AB81}"/>
              </a:ext>
            </a:extLst>
          </p:cNvPr>
          <p:cNvSpPr/>
          <p:nvPr/>
        </p:nvSpPr>
        <p:spPr>
          <a:xfrm>
            <a:off x="4575023" y="3989932"/>
            <a:ext cx="5501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</a:rPr>
              <a:t>connect</a:t>
            </a:r>
            <a:endParaRPr lang="ko-KR" altLang="en-US" sz="8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F8FC76C-2AF3-4681-8111-AD44F7B83B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120810" y="2430799"/>
            <a:ext cx="692892" cy="9797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D990FA8-833F-42A8-8683-0678BB3A5FD7}"/>
              </a:ext>
            </a:extLst>
          </p:cNvPr>
          <p:cNvSpPr txBox="1"/>
          <p:nvPr/>
        </p:nvSpPr>
        <p:spPr>
          <a:xfrm>
            <a:off x="7189825" y="2887353"/>
            <a:ext cx="587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>
                <a:latin typeface="+mj-lt"/>
              </a:rPr>
              <a:t>RDB.B</a:t>
            </a:r>
            <a:endParaRPr lang="ko-KR" altLang="en-US" sz="1000" b="1">
              <a:latin typeface="+mj-lt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59EB1D0-A819-407E-A72C-D60BC04DC45D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096000" y="2592198"/>
            <a:ext cx="1024810" cy="328468"/>
          </a:xfrm>
          <a:prstGeom prst="line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14ED3F7-D7E8-4560-9F8C-DCD71E4834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120810" y="1673112"/>
            <a:ext cx="692892" cy="97973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EE562EA-4D58-45D6-8264-76AC54EB0328}"/>
              </a:ext>
            </a:extLst>
          </p:cNvPr>
          <p:cNvSpPr txBox="1"/>
          <p:nvPr/>
        </p:nvSpPr>
        <p:spPr>
          <a:xfrm>
            <a:off x="7189825" y="2101238"/>
            <a:ext cx="5793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>
                <a:latin typeface="+mj-lt"/>
              </a:rPr>
              <a:t>RDB.A</a:t>
            </a:r>
            <a:endParaRPr lang="ko-KR" altLang="en-US" sz="1000" b="1">
              <a:latin typeface="+mj-lt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54092F9-3380-4C73-934D-C82806DCD05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6096000" y="2162979"/>
            <a:ext cx="1024810" cy="429219"/>
          </a:xfrm>
          <a:prstGeom prst="line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0B8216F-145D-40BD-8E82-031853C64228}"/>
              </a:ext>
            </a:extLst>
          </p:cNvPr>
          <p:cNvSpPr/>
          <p:nvPr/>
        </p:nvSpPr>
        <p:spPr>
          <a:xfrm>
            <a:off x="2592749" y="1967097"/>
            <a:ext cx="1073791" cy="413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SERVER.A</a:t>
            </a:r>
            <a:endParaRPr lang="ko-KR" altLang="en-US" sz="120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C7CCE21-84F2-491F-9F1B-F33ADAF084CC}"/>
              </a:ext>
            </a:extLst>
          </p:cNvPr>
          <p:cNvSpPr/>
          <p:nvPr/>
        </p:nvSpPr>
        <p:spPr>
          <a:xfrm>
            <a:off x="2592749" y="2861290"/>
            <a:ext cx="1073791" cy="413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SERVER.B</a:t>
            </a:r>
            <a:endParaRPr lang="ko-KR" altLang="en-US" sz="120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7AEDF46-B72F-4968-8943-BB45B82EC78D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3666540" y="2173893"/>
            <a:ext cx="1150420" cy="461674"/>
          </a:xfrm>
          <a:prstGeom prst="line">
            <a:avLst/>
          </a:prstGeom>
          <a:ln>
            <a:prstDash val="sys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B5B4F51-544E-4A3F-8109-0C8371B26D8B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666540" y="2643711"/>
            <a:ext cx="1150420" cy="424375"/>
          </a:xfrm>
          <a:prstGeom prst="line">
            <a:avLst/>
          </a:prstGeom>
          <a:ln>
            <a:prstDash val="sys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ACAF4D3-D539-4968-BE5F-98C968980CA3}"/>
              </a:ext>
            </a:extLst>
          </p:cNvPr>
          <p:cNvSpPr/>
          <p:nvPr/>
        </p:nvSpPr>
        <p:spPr>
          <a:xfrm>
            <a:off x="4246829" y="2830657"/>
            <a:ext cx="5501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</a:rPr>
              <a:t>connect</a:t>
            </a:r>
            <a:endParaRPr lang="ko-KR" altLang="en-US" sz="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4A5EAB5-F52C-4BAA-AA5B-7994CCD8A3B2}"/>
              </a:ext>
            </a:extLst>
          </p:cNvPr>
          <p:cNvSpPr/>
          <p:nvPr/>
        </p:nvSpPr>
        <p:spPr>
          <a:xfrm>
            <a:off x="4215992" y="2189521"/>
            <a:ext cx="55015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</a:rPr>
              <a:t>connect</a:t>
            </a:r>
            <a:endParaRPr lang="ko-KR" altLang="en-US" sz="8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54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74580DB6-01F6-4293-A126-9EB5325A9A8F}"/>
              </a:ext>
            </a:extLst>
          </p:cNvPr>
          <p:cNvSpPr txBox="1"/>
          <p:nvPr/>
        </p:nvSpPr>
        <p:spPr>
          <a:xfrm>
            <a:off x="4838525" y="91569"/>
            <a:ext cx="1798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CGCII</a:t>
            </a:r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비동기 </a:t>
            </a:r>
            <a:r>
              <a:rPr lang="en-US" altLang="ko-KR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I/O </a:t>
            </a:r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처리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6200CB7E-6728-4EDA-B67D-B0AC5F0992DD}"/>
              </a:ext>
            </a:extLst>
          </p:cNvPr>
          <p:cNvSpPr/>
          <p:nvPr/>
        </p:nvSpPr>
        <p:spPr>
          <a:xfrm>
            <a:off x="3086054" y="2163899"/>
            <a:ext cx="1057204" cy="422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executor</a:t>
            </a:r>
            <a:endParaRPr lang="ko-KR" altLang="en-US" sz="1000" b="1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C7558BE-1BCA-473C-A8E0-96A971358383}"/>
              </a:ext>
            </a:extLst>
          </p:cNvPr>
          <p:cNvSpPr txBox="1"/>
          <p:nvPr/>
        </p:nvSpPr>
        <p:spPr>
          <a:xfrm>
            <a:off x="5737759" y="2122270"/>
            <a:ext cx="3159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➊ schedulalble 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객체를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system_executor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에 등록합니다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D47601A-9459-4722-8EDE-10903A1A9B59}"/>
              </a:ext>
            </a:extLst>
          </p:cNvPr>
          <p:cNvCxnSpPr>
            <a:cxnSpLocks/>
            <a:stCxn id="78" idx="2"/>
            <a:endCxn id="67" idx="0"/>
          </p:cNvCxnSpPr>
          <p:nvPr/>
        </p:nvCxnSpPr>
        <p:spPr>
          <a:xfrm flipH="1">
            <a:off x="2550820" y="2586078"/>
            <a:ext cx="1063836" cy="43529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7FCFC13-008F-4389-8856-9CC709BE4E43}"/>
              </a:ext>
            </a:extLst>
          </p:cNvPr>
          <p:cNvCxnSpPr>
            <a:cxnSpLocks/>
            <a:stCxn id="78" idx="2"/>
            <a:endCxn id="126" idx="0"/>
          </p:cNvCxnSpPr>
          <p:nvPr/>
        </p:nvCxnSpPr>
        <p:spPr>
          <a:xfrm flipH="1">
            <a:off x="3265803" y="2586078"/>
            <a:ext cx="348853" cy="43529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30B02CA5-D548-4016-9E1E-81545C63B4C5}"/>
              </a:ext>
            </a:extLst>
          </p:cNvPr>
          <p:cNvCxnSpPr>
            <a:cxnSpLocks/>
            <a:endCxn id="127" idx="0"/>
          </p:cNvCxnSpPr>
          <p:nvPr/>
        </p:nvCxnSpPr>
        <p:spPr>
          <a:xfrm>
            <a:off x="3663435" y="2579453"/>
            <a:ext cx="803009" cy="44192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5A3B9946-D17A-4310-96FA-70F20F9C0EE6}"/>
              </a:ext>
            </a:extLst>
          </p:cNvPr>
          <p:cNvSpPr txBox="1"/>
          <p:nvPr/>
        </p:nvSpPr>
        <p:spPr>
          <a:xfrm>
            <a:off x="4164774" y="2460725"/>
            <a:ext cx="39970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➋ 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정해진 조건이 되면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schedulable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에서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executor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로 실행을 걸어줍니다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0C0B34C-3D30-4E1B-A0B5-E08A464D61F3}"/>
              </a:ext>
            </a:extLst>
          </p:cNvPr>
          <p:cNvSpPr txBox="1"/>
          <p:nvPr/>
        </p:nvSpPr>
        <p:spPr>
          <a:xfrm>
            <a:off x="4283902" y="355717"/>
            <a:ext cx="3317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❖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i/o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발생 했을 때만 처리하기 때문에 무동작 시 부하가 없다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6977699-0975-4330-A3EB-0D1085825149}"/>
              </a:ext>
            </a:extLst>
          </p:cNvPr>
          <p:cNvSpPr txBox="1"/>
          <p:nvPr/>
        </p:nvSpPr>
        <p:spPr>
          <a:xfrm>
            <a:off x="2781735" y="3316114"/>
            <a:ext cx="1763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➌ thread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에서 실행합니다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868549C9-D5B9-4B16-8BC8-A8D6BB4CCC09}"/>
              </a:ext>
            </a:extLst>
          </p:cNvPr>
          <p:cNvSpPr/>
          <p:nvPr/>
        </p:nvSpPr>
        <p:spPr>
          <a:xfrm>
            <a:off x="5428783" y="1745696"/>
            <a:ext cx="792000" cy="2598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schedulable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52D1015F-64C0-4BED-BFAE-906EA7183077}"/>
              </a:ext>
            </a:extLst>
          </p:cNvPr>
          <p:cNvSpPr/>
          <p:nvPr/>
        </p:nvSpPr>
        <p:spPr>
          <a:xfrm>
            <a:off x="6289310" y="1745696"/>
            <a:ext cx="792000" cy="2598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schedulable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F2A9F4D9-B8B0-46C3-897E-278D8A2AFE25}"/>
              </a:ext>
            </a:extLst>
          </p:cNvPr>
          <p:cNvSpPr/>
          <p:nvPr/>
        </p:nvSpPr>
        <p:spPr>
          <a:xfrm>
            <a:off x="7571269" y="1749513"/>
            <a:ext cx="792000" cy="2598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schedulable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EB170872-D3AB-4FD6-8AF8-40070C40A321}"/>
              </a:ext>
            </a:extLst>
          </p:cNvPr>
          <p:cNvCxnSpPr>
            <a:cxnSpLocks/>
            <a:stCxn id="137" idx="1"/>
            <a:endCxn id="136" idx="3"/>
          </p:cNvCxnSpPr>
          <p:nvPr/>
        </p:nvCxnSpPr>
        <p:spPr>
          <a:xfrm flipH="1">
            <a:off x="6220783" y="1875613"/>
            <a:ext cx="68527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882BB6D9-048E-4DF2-BD85-BCFE49309223}"/>
              </a:ext>
            </a:extLst>
          </p:cNvPr>
          <p:cNvSpPr txBox="1"/>
          <p:nvPr/>
        </p:nvSpPr>
        <p:spPr>
          <a:xfrm>
            <a:off x="7073510" y="1551958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…</a:t>
            </a:r>
            <a:endParaRPr lang="ko-KR" altLang="en-US" sz="2400"/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886F8FD6-22C3-48E9-8DCE-1E9916631E80}"/>
              </a:ext>
            </a:extLst>
          </p:cNvPr>
          <p:cNvCxnSpPr>
            <a:cxnSpLocks/>
            <a:stCxn id="138" idx="1"/>
          </p:cNvCxnSpPr>
          <p:nvPr/>
        </p:nvCxnSpPr>
        <p:spPr>
          <a:xfrm flipH="1">
            <a:off x="7437389" y="1879430"/>
            <a:ext cx="133880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2ED280BB-3430-41FC-941C-A4BEAB226C58}"/>
              </a:ext>
            </a:extLst>
          </p:cNvPr>
          <p:cNvCxnSpPr>
            <a:cxnSpLocks/>
            <a:stCxn id="136" idx="1"/>
            <a:endCxn id="80" idx="2"/>
          </p:cNvCxnSpPr>
          <p:nvPr/>
        </p:nvCxnSpPr>
        <p:spPr>
          <a:xfrm rot="10800000">
            <a:off x="4774405" y="1696075"/>
            <a:ext cx="654379" cy="179538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60F61C29-F297-40AF-8FF7-A48FD0F1E34A}"/>
              </a:ext>
            </a:extLst>
          </p:cNvPr>
          <p:cNvSpPr/>
          <p:nvPr/>
        </p:nvSpPr>
        <p:spPr>
          <a:xfrm>
            <a:off x="4245802" y="1311193"/>
            <a:ext cx="1057204" cy="384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bg1">
                    <a:lumMod val="75000"/>
                  </a:schemeClr>
                </a:solidFill>
              </a:rPr>
              <a:t>system_executor::</a:t>
            </a:r>
            <a:br>
              <a:rPr lang="en-US" altLang="ko-KR" sz="800"/>
            </a:br>
            <a:r>
              <a:rPr lang="en-US" altLang="ko-KR" sz="1000" b="1"/>
              <a:t>scheduler</a:t>
            </a:r>
            <a:endParaRPr lang="ko-KR" altLang="en-US" sz="1000" b="1"/>
          </a:p>
        </p:txBody>
      </p: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7022CEAF-303B-4466-8387-0BC718F4BDDF}"/>
              </a:ext>
            </a:extLst>
          </p:cNvPr>
          <p:cNvCxnSpPr>
            <a:cxnSpLocks/>
            <a:stCxn id="136" idx="2"/>
            <a:endCxn id="78" idx="3"/>
          </p:cNvCxnSpPr>
          <p:nvPr/>
        </p:nvCxnSpPr>
        <p:spPr>
          <a:xfrm rot="5400000">
            <a:off x="4799291" y="1349497"/>
            <a:ext cx="369460" cy="1681525"/>
          </a:xfrm>
          <a:prstGeom prst="curvedConnector2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DCD439-D4B8-485F-9933-2918B8733149}"/>
              </a:ext>
            </a:extLst>
          </p:cNvPr>
          <p:cNvSpPr/>
          <p:nvPr/>
        </p:nvSpPr>
        <p:spPr>
          <a:xfrm>
            <a:off x="5421570" y="1852438"/>
            <a:ext cx="50700" cy="164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9F5A2A1-6AFF-4952-BD81-81E9E8E95B34}"/>
              </a:ext>
            </a:extLst>
          </p:cNvPr>
          <p:cNvCxnSpPr>
            <a:cxnSpLocks/>
          </p:cNvCxnSpPr>
          <p:nvPr/>
        </p:nvCxnSpPr>
        <p:spPr>
          <a:xfrm>
            <a:off x="5399294" y="2045879"/>
            <a:ext cx="324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B1F96EE9-7CEC-4602-A8E1-D46E26CCA561}"/>
              </a:ext>
            </a:extLst>
          </p:cNvPr>
          <p:cNvCxnSpPr>
            <a:cxnSpLocks/>
          </p:cNvCxnSpPr>
          <p:nvPr/>
        </p:nvCxnSpPr>
        <p:spPr>
          <a:xfrm>
            <a:off x="5399294" y="1693454"/>
            <a:ext cx="324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60E71EC-9D19-456D-A207-D95D5CDC1D80}"/>
              </a:ext>
            </a:extLst>
          </p:cNvPr>
          <p:cNvSpPr txBox="1"/>
          <p:nvPr/>
        </p:nvSpPr>
        <p:spPr>
          <a:xfrm>
            <a:off x="3655216" y="2790542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…</a:t>
            </a:r>
            <a:endParaRPr lang="ko-KR" altLang="en-US" sz="240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079B77A-CA9A-412D-891D-E72C53A8FD14}"/>
              </a:ext>
            </a:extLst>
          </p:cNvPr>
          <p:cNvSpPr/>
          <p:nvPr/>
        </p:nvSpPr>
        <p:spPr>
          <a:xfrm>
            <a:off x="2225250" y="3021374"/>
            <a:ext cx="651140" cy="2308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thread.0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3D4E544F-DE6D-466E-991B-8D63B46D8977}"/>
              </a:ext>
            </a:extLst>
          </p:cNvPr>
          <p:cNvSpPr/>
          <p:nvPr/>
        </p:nvSpPr>
        <p:spPr>
          <a:xfrm>
            <a:off x="2940233" y="3021374"/>
            <a:ext cx="651140" cy="2308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thread.1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7621C3F0-6DCD-4B3B-A194-69423DF94680}"/>
              </a:ext>
            </a:extLst>
          </p:cNvPr>
          <p:cNvSpPr/>
          <p:nvPr/>
        </p:nvSpPr>
        <p:spPr>
          <a:xfrm>
            <a:off x="4140874" y="3021374"/>
            <a:ext cx="651140" cy="2308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thread.n</a:t>
            </a:r>
            <a:endParaRPr lang="ko-KR" alt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BABD55D-8CCC-4843-815B-691664E30751}"/>
              </a:ext>
            </a:extLst>
          </p:cNvPr>
          <p:cNvSpPr/>
          <p:nvPr/>
        </p:nvSpPr>
        <p:spPr>
          <a:xfrm>
            <a:off x="1524241" y="1143045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6DDB29-1B81-47F6-9961-9113C7639219}"/>
              </a:ext>
            </a:extLst>
          </p:cNvPr>
          <p:cNvSpPr/>
          <p:nvPr/>
        </p:nvSpPr>
        <p:spPr>
          <a:xfrm>
            <a:off x="1524241" y="1565289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2197D64-BEC3-468F-9ACC-CF1B26F8FAF9}"/>
              </a:ext>
            </a:extLst>
          </p:cNvPr>
          <p:cNvSpPr/>
          <p:nvPr/>
        </p:nvSpPr>
        <p:spPr>
          <a:xfrm>
            <a:off x="1524241" y="2288837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FAA98-392E-443C-BF76-2385716B0B40}"/>
              </a:ext>
            </a:extLst>
          </p:cNvPr>
          <p:cNvSpPr txBox="1"/>
          <p:nvPr/>
        </p:nvSpPr>
        <p:spPr>
          <a:xfrm>
            <a:off x="1653079" y="1859825"/>
            <a:ext cx="251992" cy="362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  <a:endParaRPr lang="ko-KR" altLang="en-US" sz="240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E16D288-EBD1-4D03-99A2-D1B7963947BA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1779076" y="1402878"/>
            <a:ext cx="0" cy="162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64BC80E-D62E-48BF-BE10-321F705C81F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779076" y="2155087"/>
            <a:ext cx="0" cy="133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9558FD54-468D-4261-8E50-C57591E6FAF1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rot="5400000" flipH="1">
            <a:off x="1076263" y="1845858"/>
            <a:ext cx="1405625" cy="12700"/>
          </a:xfrm>
          <a:prstGeom prst="bentConnector5">
            <a:avLst>
              <a:gd name="adj1" fmla="val -7908"/>
              <a:gd name="adj2" fmla="val 2617551"/>
              <a:gd name="adj3" fmla="val 1114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7006E92-A394-42E3-8767-4F3046FF9AE2}"/>
              </a:ext>
            </a:extLst>
          </p:cNvPr>
          <p:cNvSpPr txBox="1"/>
          <p:nvPr/>
        </p:nvSpPr>
        <p:spPr>
          <a:xfrm>
            <a:off x="991039" y="91569"/>
            <a:ext cx="1798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폴링방식 </a:t>
            </a:r>
            <a:r>
              <a:rPr lang="en-US" altLang="ko-KR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I/O </a:t>
            </a:r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처리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CAC9020-28CC-4DDE-806B-E37129CB003F}"/>
              </a:ext>
            </a:extLst>
          </p:cNvPr>
          <p:cNvSpPr/>
          <p:nvPr/>
        </p:nvSpPr>
        <p:spPr>
          <a:xfrm>
            <a:off x="440431" y="4950738"/>
            <a:ext cx="583772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eveent</a:t>
            </a:r>
            <a:endParaRPr lang="ko-KR" altLang="en-US" sz="80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F461472-BCE2-4ED9-A7AA-EFD0086046F1}"/>
              </a:ext>
            </a:extLst>
          </p:cNvPr>
          <p:cNvSpPr/>
          <p:nvPr/>
        </p:nvSpPr>
        <p:spPr>
          <a:xfrm>
            <a:off x="1193741" y="4944387"/>
            <a:ext cx="583772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eveent</a:t>
            </a:r>
            <a:endParaRPr lang="ko-KR" altLang="en-US" sz="80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7AD70B5-0503-4353-BD0E-334A47A5DDCB}"/>
              </a:ext>
            </a:extLst>
          </p:cNvPr>
          <p:cNvSpPr/>
          <p:nvPr/>
        </p:nvSpPr>
        <p:spPr>
          <a:xfrm>
            <a:off x="2226501" y="4954974"/>
            <a:ext cx="583772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eveent</a:t>
            </a:r>
            <a:endParaRPr lang="ko-KR" altLang="en-US" sz="8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A726C1C-955A-4F76-8529-4E179E763133}"/>
              </a:ext>
            </a:extLst>
          </p:cNvPr>
          <p:cNvSpPr/>
          <p:nvPr/>
        </p:nvSpPr>
        <p:spPr>
          <a:xfrm>
            <a:off x="2929110" y="4954571"/>
            <a:ext cx="583772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eveent</a:t>
            </a:r>
            <a:endParaRPr lang="ko-KR" altLang="en-US" sz="80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B36984E-0F2C-4ABD-9083-42F9203364F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 flipV="1">
            <a:off x="1024203" y="5074304"/>
            <a:ext cx="169538" cy="6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C9677A1-5E30-4617-85F9-758DF3BF5BA1}"/>
              </a:ext>
            </a:extLst>
          </p:cNvPr>
          <p:cNvCxnSpPr>
            <a:cxnSpLocks/>
          </p:cNvCxnSpPr>
          <p:nvPr/>
        </p:nvCxnSpPr>
        <p:spPr>
          <a:xfrm flipV="1">
            <a:off x="2063652" y="5084488"/>
            <a:ext cx="152393" cy="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D5E1B6A8-9779-4A0D-AD16-8BCFA5792CD4}"/>
              </a:ext>
            </a:extLst>
          </p:cNvPr>
          <p:cNvCxnSpPr>
            <a:cxnSpLocks/>
            <a:stCxn id="42" idx="3"/>
            <a:endCxn id="38" idx="1"/>
          </p:cNvCxnSpPr>
          <p:nvPr/>
        </p:nvCxnSpPr>
        <p:spPr>
          <a:xfrm flipH="1" flipV="1">
            <a:off x="440431" y="5080655"/>
            <a:ext cx="3072451" cy="3833"/>
          </a:xfrm>
          <a:prstGeom prst="bentConnector5">
            <a:avLst>
              <a:gd name="adj1" fmla="val -3617"/>
              <a:gd name="adj2" fmla="val -7617819"/>
              <a:gd name="adj3" fmla="val 1055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8172EFB-0896-4736-86E0-F37E50A25353}"/>
              </a:ext>
            </a:extLst>
          </p:cNvPr>
          <p:cNvSpPr txBox="1"/>
          <p:nvPr/>
        </p:nvSpPr>
        <p:spPr>
          <a:xfrm>
            <a:off x="1231959" y="3566743"/>
            <a:ext cx="19304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폴링방식 이벤트 처리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4580DB6-01F6-4293-A126-9EB5325A9A8F}"/>
              </a:ext>
            </a:extLst>
          </p:cNvPr>
          <p:cNvSpPr txBox="1"/>
          <p:nvPr/>
        </p:nvSpPr>
        <p:spPr>
          <a:xfrm>
            <a:off x="4838525" y="91569"/>
            <a:ext cx="1798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CGCII</a:t>
            </a:r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비동기 </a:t>
            </a:r>
            <a:r>
              <a:rPr lang="en-US" altLang="ko-KR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I/O </a:t>
            </a:r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처리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BD29D1-02E0-4BE3-BEBF-F68DBB7DBA3C}"/>
              </a:ext>
            </a:extLst>
          </p:cNvPr>
          <p:cNvSpPr txBox="1"/>
          <p:nvPr/>
        </p:nvSpPr>
        <p:spPr>
          <a:xfrm>
            <a:off x="4714808" y="3566743"/>
            <a:ext cx="1798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CGCII </a:t>
            </a:r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비동기 이벤트</a:t>
            </a:r>
            <a:r>
              <a:rPr lang="en-US" altLang="ko-KR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1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처리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013EA1C8-6FBA-4993-B621-AA1E826AB94A}"/>
              </a:ext>
            </a:extLst>
          </p:cNvPr>
          <p:cNvSpPr/>
          <p:nvPr/>
        </p:nvSpPr>
        <p:spPr>
          <a:xfrm>
            <a:off x="6875004" y="998497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515FC490-B4FE-4242-9EAE-1FE151FA395D}"/>
              </a:ext>
            </a:extLst>
          </p:cNvPr>
          <p:cNvSpPr/>
          <p:nvPr/>
        </p:nvSpPr>
        <p:spPr>
          <a:xfrm>
            <a:off x="6875004" y="1328462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648F069-2023-4D6F-B6FE-2B086D16F7A1}"/>
              </a:ext>
            </a:extLst>
          </p:cNvPr>
          <p:cNvSpPr/>
          <p:nvPr/>
        </p:nvSpPr>
        <p:spPr>
          <a:xfrm>
            <a:off x="6875004" y="1985598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3ED0553-176D-401B-843E-7DAC78354436}"/>
              </a:ext>
            </a:extLst>
          </p:cNvPr>
          <p:cNvSpPr/>
          <p:nvPr/>
        </p:nvSpPr>
        <p:spPr>
          <a:xfrm>
            <a:off x="6875004" y="2295291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8F94D1D-BD60-4FE4-B33F-7C13CF63DFD3}"/>
              </a:ext>
            </a:extLst>
          </p:cNvPr>
          <p:cNvSpPr txBox="1"/>
          <p:nvPr/>
        </p:nvSpPr>
        <p:spPr>
          <a:xfrm>
            <a:off x="7003843" y="1622659"/>
            <a:ext cx="251992" cy="362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  <a:endParaRPr lang="ko-KR" altLang="en-US" sz="240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6200CB7E-6728-4EDA-B67D-B0AC5F0992DD}"/>
              </a:ext>
            </a:extLst>
          </p:cNvPr>
          <p:cNvSpPr/>
          <p:nvPr/>
        </p:nvSpPr>
        <p:spPr>
          <a:xfrm>
            <a:off x="5239584" y="1362990"/>
            <a:ext cx="595619" cy="7197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EVENT QUEUE</a:t>
            </a:r>
            <a:endParaRPr lang="ko-KR" altLang="en-US" sz="800"/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8088CD8B-6DBC-466F-B9D5-64AD4C47D86F}"/>
              </a:ext>
            </a:extLst>
          </p:cNvPr>
          <p:cNvCxnSpPr>
            <a:cxnSpLocks/>
            <a:stCxn id="70" idx="1"/>
            <a:endCxn id="78" idx="0"/>
          </p:cNvCxnSpPr>
          <p:nvPr/>
        </p:nvCxnSpPr>
        <p:spPr>
          <a:xfrm rot="10800000" flipV="1">
            <a:off x="5537394" y="1128414"/>
            <a:ext cx="1337610" cy="234576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0">
            <a:extLst>
              <a:ext uri="{FF2B5EF4-FFF2-40B4-BE49-F238E27FC236}">
                <a16:creationId xmlns:a16="http://schemas.microsoft.com/office/drawing/2014/main" id="{60E5D633-D694-4A78-9520-BD265C1082E4}"/>
              </a:ext>
            </a:extLst>
          </p:cNvPr>
          <p:cNvCxnSpPr>
            <a:cxnSpLocks/>
            <a:stCxn id="71" idx="1"/>
            <a:endCxn id="78" idx="0"/>
          </p:cNvCxnSpPr>
          <p:nvPr/>
        </p:nvCxnSpPr>
        <p:spPr>
          <a:xfrm rot="10800000">
            <a:off x="5537394" y="1362991"/>
            <a:ext cx="1337610" cy="95389"/>
          </a:xfrm>
          <a:prstGeom prst="curvedConnector4">
            <a:avLst>
              <a:gd name="adj1" fmla="val -5281"/>
              <a:gd name="adj2" fmla="val 20984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C8F6DCE-A3D0-459D-8CE2-D3A205990A7D}"/>
              </a:ext>
            </a:extLst>
          </p:cNvPr>
          <p:cNvSpPr/>
          <p:nvPr/>
        </p:nvSpPr>
        <p:spPr>
          <a:xfrm>
            <a:off x="2445025" y="1143045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4EF51497-96E4-4256-983E-765E99188BAC}"/>
              </a:ext>
            </a:extLst>
          </p:cNvPr>
          <p:cNvSpPr/>
          <p:nvPr/>
        </p:nvSpPr>
        <p:spPr>
          <a:xfrm>
            <a:off x="2445025" y="1565289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981F5EEE-7D9F-40B8-A7C7-4552EA950FFD}"/>
              </a:ext>
            </a:extLst>
          </p:cNvPr>
          <p:cNvSpPr/>
          <p:nvPr/>
        </p:nvSpPr>
        <p:spPr>
          <a:xfrm>
            <a:off x="2445025" y="2288837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FF26D12-CA57-4206-9FEB-0BC1803E91BB}"/>
              </a:ext>
            </a:extLst>
          </p:cNvPr>
          <p:cNvSpPr txBox="1"/>
          <p:nvPr/>
        </p:nvSpPr>
        <p:spPr>
          <a:xfrm>
            <a:off x="2573863" y="1859825"/>
            <a:ext cx="251992" cy="362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  <a:endParaRPr lang="ko-KR" altLang="en-US" sz="2400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91AB0AE5-03DC-434D-A9D2-7728FB740768}"/>
              </a:ext>
            </a:extLst>
          </p:cNvPr>
          <p:cNvCxnSpPr>
            <a:cxnSpLocks/>
            <a:stCxn id="86" idx="2"/>
            <a:endCxn id="87" idx="0"/>
          </p:cNvCxnSpPr>
          <p:nvPr/>
        </p:nvCxnSpPr>
        <p:spPr>
          <a:xfrm>
            <a:off x="2699860" y="1402878"/>
            <a:ext cx="0" cy="162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565958C7-BBDB-45E5-86F3-EF483ABA0102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2699860" y="2155087"/>
            <a:ext cx="0" cy="133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FB19158E-E608-4E30-9685-86E78CC31F34}"/>
              </a:ext>
            </a:extLst>
          </p:cNvPr>
          <p:cNvCxnSpPr>
            <a:cxnSpLocks/>
            <a:stCxn id="89" idx="2"/>
            <a:endCxn id="86" idx="0"/>
          </p:cNvCxnSpPr>
          <p:nvPr/>
        </p:nvCxnSpPr>
        <p:spPr>
          <a:xfrm rot="5400000" flipH="1">
            <a:off x="1997047" y="1845858"/>
            <a:ext cx="1405625" cy="12700"/>
          </a:xfrm>
          <a:prstGeom prst="bentConnector5">
            <a:avLst>
              <a:gd name="adj1" fmla="val -6117"/>
              <a:gd name="adj2" fmla="val 2881795"/>
              <a:gd name="adj3" fmla="val 1126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BBDA9FF1-A2F2-4D4E-8485-E9C82713CF4F}"/>
              </a:ext>
            </a:extLst>
          </p:cNvPr>
          <p:cNvSpPr/>
          <p:nvPr/>
        </p:nvSpPr>
        <p:spPr>
          <a:xfrm>
            <a:off x="643821" y="1143045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9F54AC40-4C3B-4335-9B69-1350FC674294}"/>
              </a:ext>
            </a:extLst>
          </p:cNvPr>
          <p:cNvSpPr/>
          <p:nvPr/>
        </p:nvSpPr>
        <p:spPr>
          <a:xfrm>
            <a:off x="643821" y="1565289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13E0394E-E26B-4BFE-A790-893F65A9A468}"/>
              </a:ext>
            </a:extLst>
          </p:cNvPr>
          <p:cNvSpPr/>
          <p:nvPr/>
        </p:nvSpPr>
        <p:spPr>
          <a:xfrm>
            <a:off x="643821" y="2288837"/>
            <a:ext cx="509669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socket</a:t>
            </a:r>
            <a:endParaRPr lang="ko-KR" altLang="en-US" sz="8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D4857CD-1FA5-4DD4-9989-CDEDFAA50E69}"/>
              </a:ext>
            </a:extLst>
          </p:cNvPr>
          <p:cNvSpPr txBox="1"/>
          <p:nvPr/>
        </p:nvSpPr>
        <p:spPr>
          <a:xfrm>
            <a:off x="772659" y="1859825"/>
            <a:ext cx="251992" cy="362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2400"/>
              <a:t>.</a:t>
            </a:r>
            <a:endParaRPr lang="ko-KR" altLang="en-US" sz="2400"/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0A8DC132-F62B-476C-8EB9-EA4644147AA7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>
            <a:off x="898656" y="1402878"/>
            <a:ext cx="0" cy="162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C3BB7292-30BD-45F5-BA19-E4ACCE11F351}"/>
              </a:ext>
            </a:extLst>
          </p:cNvPr>
          <p:cNvCxnSpPr>
            <a:cxnSpLocks/>
            <a:endCxn id="97" idx="0"/>
          </p:cNvCxnSpPr>
          <p:nvPr/>
        </p:nvCxnSpPr>
        <p:spPr>
          <a:xfrm>
            <a:off x="898656" y="2155087"/>
            <a:ext cx="0" cy="133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51A65500-4224-4ED5-AEB2-93C29FAE803C}"/>
              </a:ext>
            </a:extLst>
          </p:cNvPr>
          <p:cNvCxnSpPr>
            <a:cxnSpLocks/>
            <a:stCxn id="97" idx="2"/>
            <a:endCxn id="94" idx="0"/>
          </p:cNvCxnSpPr>
          <p:nvPr/>
        </p:nvCxnSpPr>
        <p:spPr>
          <a:xfrm rot="5400000" flipH="1">
            <a:off x="195843" y="1845858"/>
            <a:ext cx="1405625" cy="12700"/>
          </a:xfrm>
          <a:prstGeom prst="bentConnector5">
            <a:avLst>
              <a:gd name="adj1" fmla="val -10892"/>
              <a:gd name="adj2" fmla="val 2881780"/>
              <a:gd name="adj3" fmla="val 1114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AEF6F1C-3F6B-479A-ADA4-4DE264954FA2}"/>
              </a:ext>
            </a:extLst>
          </p:cNvPr>
          <p:cNvSpPr/>
          <p:nvPr/>
        </p:nvSpPr>
        <p:spPr>
          <a:xfrm>
            <a:off x="527186" y="687316"/>
            <a:ext cx="7264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나눔명조" panose="02020603020101020101" pitchFamily="18" charset="-127"/>
                <a:ea typeface="나눔명조" panose="02020603020101020101" pitchFamily="18" charset="-127"/>
              </a:rPr>
              <a:t>threaed.1</a:t>
            </a:r>
            <a:endParaRPr lang="ko-KR" altLang="en-US" sz="105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2A72F18-0916-46A3-80E9-5C6E6A570C32}"/>
              </a:ext>
            </a:extLst>
          </p:cNvPr>
          <p:cNvSpPr/>
          <p:nvPr/>
        </p:nvSpPr>
        <p:spPr>
          <a:xfrm>
            <a:off x="1413702" y="689215"/>
            <a:ext cx="7264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나눔명조" panose="02020603020101020101" pitchFamily="18" charset="-127"/>
                <a:ea typeface="나눔명조" panose="02020603020101020101" pitchFamily="18" charset="-127"/>
              </a:rPr>
              <a:t>threaed.2</a:t>
            </a:r>
            <a:endParaRPr lang="ko-KR" altLang="en-US" sz="105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E9A52B1-DF00-4B95-844A-B1D78A7717B9}"/>
              </a:ext>
            </a:extLst>
          </p:cNvPr>
          <p:cNvSpPr/>
          <p:nvPr/>
        </p:nvSpPr>
        <p:spPr>
          <a:xfrm>
            <a:off x="2331531" y="689742"/>
            <a:ext cx="72648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나눔명조" panose="02020603020101020101" pitchFamily="18" charset="-127"/>
                <a:ea typeface="나눔명조" panose="02020603020101020101" pitchFamily="18" charset="-127"/>
              </a:rPr>
              <a:t>threaed.3</a:t>
            </a:r>
            <a:endParaRPr lang="ko-KR" altLang="en-US" sz="105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E5A1B5A-841E-4B9A-9966-15DF81A16F2B}"/>
              </a:ext>
            </a:extLst>
          </p:cNvPr>
          <p:cNvSpPr/>
          <p:nvPr/>
        </p:nvSpPr>
        <p:spPr>
          <a:xfrm>
            <a:off x="4487936" y="2506803"/>
            <a:ext cx="651140" cy="2308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threaed.1</a:t>
            </a:r>
            <a:endParaRPr lang="ko-KR" altLang="en-US" sz="90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1A527C3-250C-4981-89EA-A99DF21646C7}"/>
              </a:ext>
            </a:extLst>
          </p:cNvPr>
          <p:cNvSpPr/>
          <p:nvPr/>
        </p:nvSpPr>
        <p:spPr>
          <a:xfrm>
            <a:off x="5224026" y="2510680"/>
            <a:ext cx="651140" cy="2308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threaed.2</a:t>
            </a:r>
            <a:endParaRPr lang="ko-KR" altLang="en-US" sz="90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F6B6D56-12EF-44E6-851D-913C4E46930A}"/>
              </a:ext>
            </a:extLst>
          </p:cNvPr>
          <p:cNvSpPr/>
          <p:nvPr/>
        </p:nvSpPr>
        <p:spPr>
          <a:xfrm>
            <a:off x="5965072" y="2504884"/>
            <a:ext cx="651140" cy="2308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threaed.3</a:t>
            </a:r>
            <a:endParaRPr lang="ko-KR" altLang="en-US" sz="9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C7558BE-1BCA-473C-A8E0-96A971358383}"/>
              </a:ext>
            </a:extLst>
          </p:cNvPr>
          <p:cNvSpPr txBox="1"/>
          <p:nvPr/>
        </p:nvSpPr>
        <p:spPr>
          <a:xfrm>
            <a:off x="4616610" y="802191"/>
            <a:ext cx="21120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➊ i/o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이벤트 발생시 비동기적 통보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667F692-128B-46CF-AFB7-07230C18C45F}"/>
              </a:ext>
            </a:extLst>
          </p:cNvPr>
          <p:cNvSpPr txBox="1"/>
          <p:nvPr/>
        </p:nvSpPr>
        <p:spPr>
          <a:xfrm>
            <a:off x="359725" y="2758495"/>
            <a:ext cx="3361739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➊ 주기적으로 모든 소켓에서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i/o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이벤트 발생했는가를 검사</a:t>
            </a:r>
            <a:endParaRPr lang="en-US" altLang="ko-KR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➋ 발생한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i/o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이벤트 있으면 처리</a:t>
            </a: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D47601A-9459-4722-8EDE-10903A1A9B59}"/>
              </a:ext>
            </a:extLst>
          </p:cNvPr>
          <p:cNvCxnSpPr>
            <a:stCxn id="78" idx="2"/>
            <a:endCxn id="105" idx="0"/>
          </p:cNvCxnSpPr>
          <p:nvPr/>
        </p:nvCxnSpPr>
        <p:spPr>
          <a:xfrm flipH="1">
            <a:off x="4813506" y="2082705"/>
            <a:ext cx="723888" cy="424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7FCFC13-008F-4389-8856-9CC709BE4E43}"/>
              </a:ext>
            </a:extLst>
          </p:cNvPr>
          <p:cNvCxnSpPr>
            <a:cxnSpLocks/>
            <a:stCxn id="78" idx="2"/>
            <a:endCxn id="106" idx="0"/>
          </p:cNvCxnSpPr>
          <p:nvPr/>
        </p:nvCxnSpPr>
        <p:spPr>
          <a:xfrm>
            <a:off x="5537394" y="2082705"/>
            <a:ext cx="12202" cy="427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30B02CA5-D548-4016-9E1E-81545C63B4C5}"/>
              </a:ext>
            </a:extLst>
          </p:cNvPr>
          <p:cNvCxnSpPr>
            <a:cxnSpLocks/>
          </p:cNvCxnSpPr>
          <p:nvPr/>
        </p:nvCxnSpPr>
        <p:spPr>
          <a:xfrm>
            <a:off x="5592746" y="2076080"/>
            <a:ext cx="753248" cy="42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5A3B9946-D17A-4310-96FA-70F20F9C0EE6}"/>
              </a:ext>
            </a:extLst>
          </p:cNvPr>
          <p:cNvSpPr txBox="1"/>
          <p:nvPr/>
        </p:nvSpPr>
        <p:spPr>
          <a:xfrm>
            <a:off x="3637889" y="2078796"/>
            <a:ext cx="17305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➋ i/o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이벤트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threaed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에 배분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8017030-8F57-489C-A90F-0E6586A6146B}"/>
              </a:ext>
            </a:extLst>
          </p:cNvPr>
          <p:cNvSpPr txBox="1"/>
          <p:nvPr/>
        </p:nvSpPr>
        <p:spPr>
          <a:xfrm>
            <a:off x="359725" y="355717"/>
            <a:ext cx="320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❖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i/o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발생 여부와 상관없이 계속 검사를 해야 하기 때문에     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   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무동작이 없을 때도 부하를 차지한다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0C0B34C-3D30-4E1B-A0B5-E08A464D61F3}"/>
              </a:ext>
            </a:extLst>
          </p:cNvPr>
          <p:cNvSpPr txBox="1"/>
          <p:nvPr/>
        </p:nvSpPr>
        <p:spPr>
          <a:xfrm>
            <a:off x="4283902" y="355717"/>
            <a:ext cx="3317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❖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i/o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발생 했을 때만 처리하기 때문에 무동작 시 부하가 없다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6977699-0975-4330-A3EB-0D1085825149}"/>
              </a:ext>
            </a:extLst>
          </p:cNvPr>
          <p:cNvSpPr txBox="1"/>
          <p:nvPr/>
        </p:nvSpPr>
        <p:spPr>
          <a:xfrm>
            <a:off x="4413110" y="2771436"/>
            <a:ext cx="2885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➌ 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각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thread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에서 배분 받은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i/o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이벤트를 처리한다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DD43D03-9EE9-4E8E-8104-FDC59A1A6993}"/>
              </a:ext>
            </a:extLst>
          </p:cNvPr>
          <p:cNvSpPr txBox="1"/>
          <p:nvPr/>
        </p:nvSpPr>
        <p:spPr>
          <a:xfrm>
            <a:off x="345417" y="5542170"/>
            <a:ext cx="3721757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➊ 주기적으로 모든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event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를 돌며 실행할 시간이 되었는지 검사한다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➋ 실행할 시간이 된 이벤트를 실행한다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868549C9-D5B9-4B16-8BC8-A8D6BB4CCC09}"/>
              </a:ext>
            </a:extLst>
          </p:cNvPr>
          <p:cNvSpPr/>
          <p:nvPr/>
        </p:nvSpPr>
        <p:spPr>
          <a:xfrm>
            <a:off x="4944227" y="4790102"/>
            <a:ext cx="583772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eveent</a:t>
            </a:r>
            <a:endParaRPr lang="ko-KR" altLang="en-US" sz="800"/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52D1015F-64C0-4BED-BFAE-906EA7183077}"/>
              </a:ext>
            </a:extLst>
          </p:cNvPr>
          <p:cNvSpPr/>
          <p:nvPr/>
        </p:nvSpPr>
        <p:spPr>
          <a:xfrm>
            <a:off x="5661879" y="4790102"/>
            <a:ext cx="583772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eveent</a:t>
            </a:r>
            <a:endParaRPr lang="ko-KR" altLang="en-US" sz="800"/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F2A9F4D9-B8B0-46C3-897E-278D8A2AFE25}"/>
              </a:ext>
            </a:extLst>
          </p:cNvPr>
          <p:cNvSpPr/>
          <p:nvPr/>
        </p:nvSpPr>
        <p:spPr>
          <a:xfrm>
            <a:off x="6715238" y="4793919"/>
            <a:ext cx="583772" cy="2598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/>
              <a:t>eveent</a:t>
            </a:r>
            <a:endParaRPr lang="ko-KR" altLang="en-US" sz="800"/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EB170872-D3AB-4FD6-8AF8-40070C40A321}"/>
              </a:ext>
            </a:extLst>
          </p:cNvPr>
          <p:cNvCxnSpPr>
            <a:cxnSpLocks/>
            <a:stCxn id="137" idx="1"/>
            <a:endCxn id="136" idx="3"/>
          </p:cNvCxnSpPr>
          <p:nvPr/>
        </p:nvCxnSpPr>
        <p:spPr>
          <a:xfrm flipH="1">
            <a:off x="5527999" y="4920019"/>
            <a:ext cx="133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D748CC1E-CD19-4FEF-B19D-9C7CB076D8FF}"/>
              </a:ext>
            </a:extLst>
          </p:cNvPr>
          <p:cNvCxnSpPr>
            <a:cxnSpLocks/>
          </p:cNvCxnSpPr>
          <p:nvPr/>
        </p:nvCxnSpPr>
        <p:spPr>
          <a:xfrm flipH="1">
            <a:off x="4904460" y="4749605"/>
            <a:ext cx="252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5126D80-3005-4067-B361-66456A7999EE}"/>
              </a:ext>
            </a:extLst>
          </p:cNvPr>
          <p:cNvSpPr/>
          <p:nvPr/>
        </p:nvSpPr>
        <p:spPr>
          <a:xfrm>
            <a:off x="4838963" y="4496207"/>
            <a:ext cx="100860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priority queue</a:t>
            </a:r>
            <a:endParaRPr lang="ko-KR" altLang="en-US" sz="1050"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53484D7-ED15-439E-ADA8-45E2C62EC954}"/>
              </a:ext>
            </a:extLst>
          </p:cNvPr>
          <p:cNvSpPr txBox="1"/>
          <p:nvPr/>
        </p:nvSpPr>
        <p:spPr>
          <a:xfrm>
            <a:off x="1440049" y="4063509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…</a:t>
            </a:r>
            <a:endParaRPr lang="ko-KR" altLang="en-US" sz="2400"/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2B2AEBE0-A0C2-4B07-BFDA-21484BC877F3}"/>
              </a:ext>
            </a:extLst>
          </p:cNvPr>
          <p:cNvCxnSpPr>
            <a:cxnSpLocks/>
          </p:cNvCxnSpPr>
          <p:nvPr/>
        </p:nvCxnSpPr>
        <p:spPr>
          <a:xfrm flipH="1">
            <a:off x="4904460" y="5087539"/>
            <a:ext cx="2520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882BB6D9-048E-4DF2-BD85-BCFE49309223}"/>
              </a:ext>
            </a:extLst>
          </p:cNvPr>
          <p:cNvSpPr txBox="1"/>
          <p:nvPr/>
        </p:nvSpPr>
        <p:spPr>
          <a:xfrm>
            <a:off x="6217479" y="4596364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…</a:t>
            </a:r>
            <a:endParaRPr lang="ko-KR" altLang="en-US" sz="2400"/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886F8FD6-22C3-48E9-8DCE-1E9916631E80}"/>
              </a:ext>
            </a:extLst>
          </p:cNvPr>
          <p:cNvCxnSpPr>
            <a:cxnSpLocks/>
            <a:stCxn id="138" idx="1"/>
          </p:cNvCxnSpPr>
          <p:nvPr/>
        </p:nvCxnSpPr>
        <p:spPr>
          <a:xfrm flipH="1">
            <a:off x="6581358" y="4923836"/>
            <a:ext cx="133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A1B0C7EF-1B11-4A91-B8C8-89C02AC57CF7}"/>
              </a:ext>
            </a:extLst>
          </p:cNvPr>
          <p:cNvSpPr txBox="1"/>
          <p:nvPr/>
        </p:nvSpPr>
        <p:spPr>
          <a:xfrm>
            <a:off x="4293972" y="5280546"/>
            <a:ext cx="3468852" cy="89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➊ 제일 앞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event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의 실행시간까지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wait(sleep)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한다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➋ 실행 시간이 되면 깨어나 제일 앞 이벤트만 실행하고 다음    </a:t>
            </a:r>
            <a:endParaRPr lang="en-US" altLang="ko-KR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   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실행시간에 맞춰 재정렬한다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➌ 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다시 ➊번으로 무한 반복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2852C96-D1C6-448C-AD25-82B9B0C324BA}"/>
              </a:ext>
            </a:extLst>
          </p:cNvPr>
          <p:cNvSpPr txBox="1"/>
          <p:nvPr/>
        </p:nvSpPr>
        <p:spPr>
          <a:xfrm>
            <a:off x="4672134" y="3855733"/>
            <a:ext cx="30906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❖ 정확히 실행 시에만 동작하므로 무동작시 부하가 없다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❖ 딜레이가 없어 정시성이 뛰어나다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E46B9FA-31E7-42ED-AEC0-1750AD964712}"/>
              </a:ext>
            </a:extLst>
          </p:cNvPr>
          <p:cNvSpPr txBox="1"/>
          <p:nvPr/>
        </p:nvSpPr>
        <p:spPr>
          <a:xfrm>
            <a:off x="471183" y="3828353"/>
            <a:ext cx="3489516" cy="691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❖ 아무런 실행이 없어도 계속 폴링을 돌아야 하기 때문에</a:t>
            </a:r>
            <a:b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</a:b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    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무동작시에도 부하가 발생한다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❖ 폴링 간격 만큼의 딜레이가 있을 수 있어 정시성이 떨어진다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0D8DA51-53DC-4F32-8DBC-118D12828074}"/>
              </a:ext>
            </a:extLst>
          </p:cNvPr>
          <p:cNvSpPr txBox="1"/>
          <p:nvPr/>
        </p:nvSpPr>
        <p:spPr>
          <a:xfrm>
            <a:off x="1728742" y="4767956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…</a:t>
            </a:r>
            <a:endParaRPr lang="ko-KR" altLang="en-US" sz="2400"/>
          </a:p>
        </p:txBody>
      </p:sp>
      <p:cxnSp>
        <p:nvCxnSpPr>
          <p:cNvPr id="189" name="연결선: 꺾임 188">
            <a:extLst>
              <a:ext uri="{FF2B5EF4-FFF2-40B4-BE49-F238E27FC236}">
                <a16:creationId xmlns:a16="http://schemas.microsoft.com/office/drawing/2014/main" id="{2ED280BB-3430-41FC-941C-A4BEAB226C58}"/>
              </a:ext>
            </a:extLst>
          </p:cNvPr>
          <p:cNvCxnSpPr>
            <a:cxnSpLocks/>
            <a:stCxn id="136" idx="1"/>
          </p:cNvCxnSpPr>
          <p:nvPr/>
        </p:nvCxnSpPr>
        <p:spPr>
          <a:xfrm rot="10800000">
            <a:off x="4730033" y="4920019"/>
            <a:ext cx="214195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7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6200CB7E-6728-4EDA-B67D-B0AC5F0992DD}"/>
              </a:ext>
            </a:extLst>
          </p:cNvPr>
          <p:cNvSpPr/>
          <p:nvPr/>
        </p:nvSpPr>
        <p:spPr>
          <a:xfrm>
            <a:off x="1432115" y="1707705"/>
            <a:ext cx="1052947" cy="553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acceptor</a:t>
            </a:r>
            <a:endParaRPr lang="ko-KR" altLang="en-US" sz="1000" b="1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C7558BE-1BCA-473C-A8E0-96A971358383}"/>
              </a:ext>
            </a:extLst>
          </p:cNvPr>
          <p:cNvSpPr txBox="1"/>
          <p:nvPr/>
        </p:nvSpPr>
        <p:spPr>
          <a:xfrm>
            <a:off x="1061930" y="3198168"/>
            <a:ext cx="2115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➋ 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client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에서 접속 요청</a:t>
            </a: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D47601A-9459-4722-8EDE-10903A1A9B59}"/>
              </a:ext>
            </a:extLst>
          </p:cNvPr>
          <p:cNvCxnSpPr>
            <a:cxnSpLocks/>
            <a:stCxn id="78" idx="2"/>
          </p:cNvCxnSpPr>
          <p:nvPr/>
        </p:nvCxnSpPr>
        <p:spPr>
          <a:xfrm flipH="1">
            <a:off x="1956461" y="2261049"/>
            <a:ext cx="2128" cy="413753"/>
          </a:xfrm>
          <a:prstGeom prst="straightConnector1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5A3B9946-D17A-4310-96FA-70F20F9C0EE6}"/>
              </a:ext>
            </a:extLst>
          </p:cNvPr>
          <p:cNvSpPr txBox="1"/>
          <p:nvPr/>
        </p:nvSpPr>
        <p:spPr>
          <a:xfrm>
            <a:off x="1170211" y="462942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➌ 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새로운 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socket 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객체를 생성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6977699-0975-4330-A3EB-0D1085825149}"/>
              </a:ext>
            </a:extLst>
          </p:cNvPr>
          <p:cNvSpPr txBox="1"/>
          <p:nvPr/>
        </p:nvSpPr>
        <p:spPr>
          <a:xfrm>
            <a:off x="2767221" y="2644543"/>
            <a:ext cx="27311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i="0">
                <a:solidFill>
                  <a:srgbClr val="2F5597"/>
                </a:solidFill>
                <a:effectLst/>
                <a:latin typeface="Noto Sans" panose="020B0502040504020204" pitchFamily="34" charset="0"/>
              </a:rPr>
              <a:t>➍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client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와 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socket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접속을 성사</a:t>
            </a:r>
          </a:p>
        </p:txBody>
      </p: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7022CEAF-303B-4466-8387-0BC718F4BDDF}"/>
              </a:ext>
            </a:extLst>
          </p:cNvPr>
          <p:cNvCxnSpPr>
            <a:cxnSpLocks/>
            <a:stCxn id="69" idx="2"/>
            <a:endCxn id="20" idx="3"/>
          </p:cNvCxnSpPr>
          <p:nvPr/>
        </p:nvCxnSpPr>
        <p:spPr>
          <a:xfrm rot="5400000">
            <a:off x="2328050" y="2154984"/>
            <a:ext cx="511378" cy="844912"/>
          </a:xfrm>
          <a:prstGeom prst="curvedConnector2">
            <a:avLst/>
          </a:prstGeom>
          <a:ln>
            <a:prstDash val="dash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3015519-EEA8-4D53-B18E-13225771BC76}"/>
              </a:ext>
            </a:extLst>
          </p:cNvPr>
          <p:cNvSpPr txBox="1"/>
          <p:nvPr/>
        </p:nvSpPr>
        <p:spPr>
          <a:xfrm>
            <a:off x="9202885" y="3011814"/>
            <a:ext cx="23559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➌ socket 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객체로 접속 요청을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accep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한다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04C0D-D231-439E-8FFF-65786221557B}"/>
              </a:ext>
            </a:extLst>
          </p:cNvPr>
          <p:cNvSpPr txBox="1"/>
          <p:nvPr/>
        </p:nvSpPr>
        <p:spPr>
          <a:xfrm>
            <a:off x="9490492" y="641750"/>
            <a:ext cx="1302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나눔명조" panose="02020603020101020101" pitchFamily="18" charset="-127"/>
                <a:ea typeface="나눔명조" panose="02020603020101020101" pitchFamily="18" charset="-127"/>
              </a:rPr>
              <a:t>➌</a:t>
            </a:r>
            <a:r>
              <a:rPr lang="ko-KR" altLang="en-US" sz="800" b="0" i="0">
                <a:solidFill>
                  <a:srgbClr val="000000"/>
                </a:solidFill>
                <a:effectLst/>
                <a:latin typeface="Noto Sans" panose="020B0502040204020203" pitchFamily="34" charset="0"/>
              </a:rPr>
              <a:t> ❶❷❸❹❺❻❼❽❾❿⓫⓬⓭⓮⓯⓰⓱⓲⓳⓴</a:t>
            </a:r>
            <a:endParaRPr lang="en-US" altLang="ko-KR" sz="8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5E23D-C788-4A6C-8C14-110D2E1ED266}"/>
              </a:ext>
            </a:extLst>
          </p:cNvPr>
          <p:cNvSpPr txBox="1"/>
          <p:nvPr/>
        </p:nvSpPr>
        <p:spPr>
          <a:xfrm>
            <a:off x="8363269" y="4109754"/>
            <a:ext cx="21154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①②③④⑤⑥⑦⑧⑨⑩⑪⑫⑬⑭⑮⑯⑰⑱⑲⑳​㉑㉒㉓㉔㉕㉖㉗㉘㉙㉚㉛㉜㉝㉞㉟㊱㊲㊳㊴㊵​㊶㊷㊸㊹㊺㊻㊼㊽㊾㊿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8BB945-9143-45AD-8E35-F07038EB4046}"/>
              </a:ext>
            </a:extLst>
          </p:cNvPr>
          <p:cNvSpPr txBox="1"/>
          <p:nvPr/>
        </p:nvSpPr>
        <p:spPr>
          <a:xfrm>
            <a:off x="9090664" y="1294325"/>
            <a:ext cx="15476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0" i="0">
                <a:effectLst/>
                <a:latin typeface="Courier New" panose="02070309020205020404" pitchFamily="49" charset="0"/>
              </a:rPr>
              <a:t>⓿ ❶❷❸❹❺❻❼❽❾❿ ⓫⓬⓭⓮⓯⓰⓱⓲⓳⓴</a:t>
            </a:r>
            <a:endParaRPr lang="ko-KR" altLang="en-US" sz="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63B10-0E8F-4CF3-8789-03C68280DDEB}"/>
              </a:ext>
            </a:extLst>
          </p:cNvPr>
          <p:cNvSpPr txBox="1"/>
          <p:nvPr/>
        </p:nvSpPr>
        <p:spPr>
          <a:xfrm>
            <a:off x="8132360" y="1821540"/>
            <a:ext cx="3240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0" i="0">
                <a:solidFill>
                  <a:srgbClr val="2F5597"/>
                </a:solidFill>
                <a:effectLst/>
                <a:latin typeface="Noto Sans" panose="020B0502040504020204" pitchFamily="34" charset="0"/>
              </a:rPr>
              <a:t>❶❷❸❹❺❻❼❽❾❿⓫⓬⓭⓮⓯⓰⓱⓲⓳⓴</a:t>
            </a:r>
          </a:p>
          <a:p>
            <a:pPr algn="l"/>
            <a:r>
              <a:rPr lang="ko-KR" altLang="en-US" sz="900" b="0" i="0">
                <a:solidFill>
                  <a:srgbClr val="2F5597"/>
                </a:solidFill>
                <a:effectLst/>
                <a:latin typeface="Noto Sans" panose="020B0502040504020204" pitchFamily="34" charset="0"/>
              </a:rPr>
              <a:t>➊➋➌➍➎➏➐➑➒➓</a:t>
            </a:r>
          </a:p>
          <a:p>
            <a:br>
              <a:rPr lang="ko-KR" altLang="en-US" sz="900">
                <a:solidFill>
                  <a:srgbClr val="2F5597"/>
                </a:solidFill>
              </a:rPr>
            </a:br>
            <a:br>
              <a:rPr lang="ko-KR" altLang="en-US" sz="900">
                <a:solidFill>
                  <a:srgbClr val="2F5597"/>
                </a:solidFill>
              </a:rPr>
            </a:br>
            <a:endParaRPr lang="ko-KR" altLang="en-US" sz="900">
              <a:solidFill>
                <a:srgbClr val="2F5597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D751C6-9BF9-4BFF-9171-2D3926C16EED}"/>
              </a:ext>
            </a:extLst>
          </p:cNvPr>
          <p:cNvSpPr/>
          <p:nvPr/>
        </p:nvSpPr>
        <p:spPr>
          <a:xfrm>
            <a:off x="2005979" y="2717713"/>
            <a:ext cx="155304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9B625A-3924-4F6B-9485-BC8DD607FC38}"/>
              </a:ext>
            </a:extLst>
          </p:cNvPr>
          <p:cNvSpPr txBox="1"/>
          <p:nvPr/>
        </p:nvSpPr>
        <p:spPr>
          <a:xfrm>
            <a:off x="3648809" y="523874"/>
            <a:ext cx="27470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i="0">
                <a:solidFill>
                  <a:srgbClr val="2F5597"/>
                </a:solidFill>
                <a:effectLst/>
                <a:latin typeface="Noto Sans" panose="020B0502040504020204" pitchFamily="34" charset="0"/>
              </a:rPr>
              <a:t>➎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socket 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객체의 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on_connect()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함수 호출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1BDC958-4715-4DE5-9224-4972261345D8}"/>
              </a:ext>
            </a:extLst>
          </p:cNvPr>
          <p:cNvSpPr/>
          <p:nvPr/>
        </p:nvSpPr>
        <p:spPr>
          <a:xfrm>
            <a:off x="3096206" y="1414439"/>
            <a:ext cx="162411" cy="115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125F6EC5-872E-4CEB-A833-F474077BE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518" y="2683227"/>
            <a:ext cx="407885" cy="42671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E747123-D6A0-4CF2-9F06-D767021131A7}"/>
              </a:ext>
            </a:extLst>
          </p:cNvPr>
          <p:cNvSpPr txBox="1"/>
          <p:nvPr/>
        </p:nvSpPr>
        <p:spPr>
          <a:xfrm>
            <a:off x="1753718" y="3024771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client</a:t>
            </a:r>
            <a:endParaRPr lang="ko-KR" altLang="en-US" sz="8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A3ECEB-497C-4711-BCF8-3DD73E0B23F3}"/>
              </a:ext>
            </a:extLst>
          </p:cNvPr>
          <p:cNvSpPr txBox="1"/>
          <p:nvPr/>
        </p:nvSpPr>
        <p:spPr>
          <a:xfrm>
            <a:off x="354394" y="1465836"/>
            <a:ext cx="24128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➊ 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port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를 열어 접속 요청 대기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B74EF7-B88C-4C66-BFDD-EDC8C5C2EF79}"/>
              </a:ext>
            </a:extLst>
          </p:cNvPr>
          <p:cNvSpPr txBox="1"/>
          <p:nvPr/>
        </p:nvSpPr>
        <p:spPr>
          <a:xfrm>
            <a:off x="5128321" y="787325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접속되었을 때 호출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4A66FA5-F9FB-4E7B-9BFC-DF55C649C908}"/>
              </a:ext>
            </a:extLst>
          </p:cNvPr>
          <p:cNvSpPr/>
          <p:nvPr/>
        </p:nvSpPr>
        <p:spPr>
          <a:xfrm>
            <a:off x="2680625" y="747402"/>
            <a:ext cx="651140" cy="157434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socket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947DD7-E11C-4FCE-BAE1-D7E8273507AD}"/>
              </a:ext>
            </a:extLst>
          </p:cNvPr>
          <p:cNvSpPr txBox="1"/>
          <p:nvPr/>
        </p:nvSpPr>
        <p:spPr>
          <a:xfrm>
            <a:off x="3549606" y="787325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2F5597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on_connect(…)</a:t>
            </a:r>
            <a:endParaRPr lang="ko-KR" altLang="en-US" sz="1000">
              <a:solidFill>
                <a:srgbClr val="2F5597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2D3CC860-FB95-4A78-8A65-CBEB1530A855}"/>
              </a:ext>
            </a:extLst>
          </p:cNvPr>
          <p:cNvCxnSpPr>
            <a:cxnSpLocks/>
          </p:cNvCxnSpPr>
          <p:nvPr/>
        </p:nvCxnSpPr>
        <p:spPr>
          <a:xfrm>
            <a:off x="3328115" y="893299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7750F5F-CF57-430F-BF7C-9338576F1959}"/>
              </a:ext>
            </a:extLst>
          </p:cNvPr>
          <p:cNvSpPr/>
          <p:nvPr/>
        </p:nvSpPr>
        <p:spPr>
          <a:xfrm>
            <a:off x="3328115" y="878525"/>
            <a:ext cx="162411" cy="115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DD9C97D-9E60-4F35-A1CA-B858EC138973}"/>
              </a:ext>
            </a:extLst>
          </p:cNvPr>
          <p:cNvSpPr txBox="1"/>
          <p:nvPr/>
        </p:nvSpPr>
        <p:spPr>
          <a:xfrm>
            <a:off x="8076122" y="3473478"/>
            <a:ext cx="1676238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>
                <a:latin typeface="나눔명조" panose="02020603020101020101" pitchFamily="18" charset="-127"/>
                <a:ea typeface="나눔명조" panose="02020603020101020101" pitchFamily="18" charset="-127"/>
              </a:rPr>
              <a:t>기본 </a:t>
            </a:r>
            <a:r>
              <a:rPr lang="en-US" altLang="ko-KR" sz="1050" b="1">
                <a:latin typeface="나눔명조" panose="02020603020101020101" pitchFamily="18" charset="-127"/>
                <a:ea typeface="나눔명조" panose="02020603020101020101" pitchFamily="18" charset="-127"/>
              </a:rPr>
              <a:t>socket </a:t>
            </a:r>
            <a:r>
              <a:rPr lang="ko-KR" altLang="en-US" sz="1050" b="1">
                <a:latin typeface="나눔명조" panose="02020603020101020101" pitchFamily="18" charset="-127"/>
                <a:ea typeface="나눔명조" panose="02020603020101020101" pitchFamily="18" charset="-127"/>
              </a:rPr>
              <a:t>클래스</a:t>
            </a:r>
            <a:b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</a:b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 CGDK::net::socket::tcp&lt;T&gt;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092BEF-1C93-45A0-B394-9F254DBAB898}"/>
              </a:ext>
            </a:extLst>
          </p:cNvPr>
          <p:cNvSpPr txBox="1"/>
          <p:nvPr/>
        </p:nvSpPr>
        <p:spPr>
          <a:xfrm>
            <a:off x="3549606" y="1206593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on_disconnect(…)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7AFD1B0C-3964-4E1C-8A26-D0C11CDFBBDD}"/>
              </a:ext>
            </a:extLst>
          </p:cNvPr>
          <p:cNvCxnSpPr>
            <a:cxnSpLocks/>
          </p:cNvCxnSpPr>
          <p:nvPr/>
        </p:nvCxnSpPr>
        <p:spPr>
          <a:xfrm>
            <a:off x="3328115" y="1331449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8520A8A-05EF-4F5A-899C-E5077358B102}"/>
              </a:ext>
            </a:extLst>
          </p:cNvPr>
          <p:cNvSpPr txBox="1"/>
          <p:nvPr/>
        </p:nvSpPr>
        <p:spPr>
          <a:xfrm>
            <a:off x="3549606" y="996959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on_fail_connect 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77" name="연결선: 구부러짐 76">
            <a:extLst>
              <a:ext uri="{FF2B5EF4-FFF2-40B4-BE49-F238E27FC236}">
                <a16:creationId xmlns:a16="http://schemas.microsoft.com/office/drawing/2014/main" id="{1ED0C0C8-EB24-40C3-AB6D-9F253415F198}"/>
              </a:ext>
            </a:extLst>
          </p:cNvPr>
          <p:cNvCxnSpPr>
            <a:cxnSpLocks/>
          </p:cNvCxnSpPr>
          <p:nvPr/>
        </p:nvCxnSpPr>
        <p:spPr>
          <a:xfrm>
            <a:off x="3328115" y="1112374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D5066FE-FEEA-4E05-A4BA-E2522ADA81D3}"/>
              </a:ext>
            </a:extLst>
          </p:cNvPr>
          <p:cNvSpPr txBox="1"/>
          <p:nvPr/>
        </p:nvSpPr>
        <p:spPr>
          <a:xfrm>
            <a:off x="3549606" y="1416227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on_message(…)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681F6352-D94B-476E-9E89-F03B77BCC65D}"/>
              </a:ext>
            </a:extLst>
          </p:cNvPr>
          <p:cNvCxnSpPr>
            <a:cxnSpLocks/>
          </p:cNvCxnSpPr>
          <p:nvPr/>
        </p:nvCxnSpPr>
        <p:spPr>
          <a:xfrm>
            <a:off x="3328115" y="1531474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45F931D-AA04-4FF8-B30A-B5AB1DDE7254}"/>
              </a:ext>
            </a:extLst>
          </p:cNvPr>
          <p:cNvSpPr txBox="1"/>
          <p:nvPr/>
        </p:nvSpPr>
        <p:spPr>
          <a:xfrm>
            <a:off x="5128321" y="999524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실패했을 때 호출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D92503-7AA9-4785-B3CF-241B5625FFF2}"/>
              </a:ext>
            </a:extLst>
          </p:cNvPr>
          <p:cNvSpPr txBox="1"/>
          <p:nvPr/>
        </p:nvSpPr>
        <p:spPr>
          <a:xfrm>
            <a:off x="5128321" y="1211723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종료되었을 때 호출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7AE762-4039-4CD6-AD8B-843FAEA13A0C}"/>
              </a:ext>
            </a:extLst>
          </p:cNvPr>
          <p:cNvSpPr txBox="1"/>
          <p:nvPr/>
        </p:nvSpPr>
        <p:spPr>
          <a:xfrm>
            <a:off x="5128321" y="1423922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메시지 수신했을 때 호출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41776A-9F48-4F95-BC42-446F115ADED5}"/>
              </a:ext>
            </a:extLst>
          </p:cNvPr>
          <p:cNvSpPr txBox="1"/>
          <p:nvPr/>
        </p:nvSpPr>
        <p:spPr>
          <a:xfrm>
            <a:off x="3549606" y="1625861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disconnect(…)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BF2408-A38E-445E-87DF-FC75E0B5B3A5}"/>
              </a:ext>
            </a:extLst>
          </p:cNvPr>
          <p:cNvSpPr txBox="1"/>
          <p:nvPr/>
        </p:nvSpPr>
        <p:spPr>
          <a:xfrm>
            <a:off x="5128321" y="1636121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종료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 (graceful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close)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C6B5D1B-3554-4BD6-81F5-D25C162F5590}"/>
              </a:ext>
            </a:extLst>
          </p:cNvPr>
          <p:cNvSpPr txBox="1"/>
          <p:nvPr/>
        </p:nvSpPr>
        <p:spPr>
          <a:xfrm>
            <a:off x="5128321" y="1848320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강제 종료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 (abortive close)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97D3A40B-B7C5-4536-9299-41D63B389DA6}"/>
              </a:ext>
            </a:extLst>
          </p:cNvPr>
          <p:cNvCxnSpPr>
            <a:cxnSpLocks/>
          </p:cNvCxnSpPr>
          <p:nvPr/>
        </p:nvCxnSpPr>
        <p:spPr>
          <a:xfrm>
            <a:off x="3328115" y="1786124"/>
            <a:ext cx="192430" cy="0"/>
          </a:xfrm>
          <a:prstGeom prst="straightConnector1">
            <a:avLst/>
          </a:prstGeom>
          <a:ln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1DEB06B-7987-46E5-9599-3CDEDE1BC4A9}"/>
              </a:ext>
            </a:extLst>
          </p:cNvPr>
          <p:cNvSpPr txBox="1"/>
          <p:nvPr/>
        </p:nvSpPr>
        <p:spPr>
          <a:xfrm>
            <a:off x="3549606" y="1835495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closesocket(…)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87A13DB1-DE11-4AA5-A80A-659DD46E21B6}"/>
              </a:ext>
            </a:extLst>
          </p:cNvPr>
          <p:cNvCxnSpPr>
            <a:cxnSpLocks/>
          </p:cNvCxnSpPr>
          <p:nvPr/>
        </p:nvCxnSpPr>
        <p:spPr>
          <a:xfrm>
            <a:off x="3328115" y="1986149"/>
            <a:ext cx="192430" cy="0"/>
          </a:xfrm>
          <a:prstGeom prst="straightConnector1">
            <a:avLst/>
          </a:prstGeom>
          <a:ln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E58A788-0D6C-4C4D-8E50-8F5725441B2C}"/>
              </a:ext>
            </a:extLst>
          </p:cNvPr>
          <p:cNvSpPr txBox="1"/>
          <p:nvPr/>
        </p:nvSpPr>
        <p:spPr>
          <a:xfrm>
            <a:off x="5128321" y="2060519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데이터 전송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7A721F3-B04A-49A5-A2AD-906F4C1E3A71}"/>
              </a:ext>
            </a:extLst>
          </p:cNvPr>
          <p:cNvSpPr txBox="1"/>
          <p:nvPr/>
        </p:nvSpPr>
        <p:spPr>
          <a:xfrm>
            <a:off x="3549606" y="2045130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send(…)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74ABE84F-9318-4776-987E-D9B6E701220A}"/>
              </a:ext>
            </a:extLst>
          </p:cNvPr>
          <p:cNvCxnSpPr>
            <a:cxnSpLocks/>
          </p:cNvCxnSpPr>
          <p:nvPr/>
        </p:nvCxnSpPr>
        <p:spPr>
          <a:xfrm>
            <a:off x="3328115" y="2186174"/>
            <a:ext cx="192430" cy="0"/>
          </a:xfrm>
          <a:prstGeom prst="straightConnector1">
            <a:avLst/>
          </a:prstGeom>
          <a:ln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91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5A3B9946-D17A-4310-96FA-70F20F9C0EE6}"/>
              </a:ext>
            </a:extLst>
          </p:cNvPr>
          <p:cNvSpPr txBox="1"/>
          <p:nvPr/>
        </p:nvSpPr>
        <p:spPr>
          <a:xfrm>
            <a:off x="3489640" y="1173627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되었을 때 호출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6977699-0975-4330-A3EB-0D1085825149}"/>
              </a:ext>
            </a:extLst>
          </p:cNvPr>
          <p:cNvSpPr txBox="1"/>
          <p:nvPr/>
        </p:nvSpPr>
        <p:spPr>
          <a:xfrm>
            <a:off x="9113176" y="3821117"/>
            <a:ext cx="27311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0" i="0">
                <a:solidFill>
                  <a:srgbClr val="2F5597"/>
                </a:solidFill>
                <a:effectLst/>
                <a:latin typeface="Noto Sans" panose="020B0502040504020204" pitchFamily="34" charset="0"/>
              </a:rPr>
              <a:t>➍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client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와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socket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과 접속을 성사시킵니다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079B77A-CA9A-412D-891D-E72C53A8FD14}"/>
              </a:ext>
            </a:extLst>
          </p:cNvPr>
          <p:cNvSpPr/>
          <p:nvPr/>
        </p:nvSpPr>
        <p:spPr>
          <a:xfrm>
            <a:off x="1041944" y="1133704"/>
            <a:ext cx="651140" cy="157434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socket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015519-EEA8-4D53-B18E-13225771BC76}"/>
              </a:ext>
            </a:extLst>
          </p:cNvPr>
          <p:cNvSpPr txBox="1"/>
          <p:nvPr/>
        </p:nvSpPr>
        <p:spPr>
          <a:xfrm>
            <a:off x="9202885" y="3011814"/>
            <a:ext cx="23559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➌ socket 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객체로 접속 요청을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accep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한다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04C0D-D231-439E-8FFF-65786221557B}"/>
              </a:ext>
            </a:extLst>
          </p:cNvPr>
          <p:cNvSpPr txBox="1"/>
          <p:nvPr/>
        </p:nvSpPr>
        <p:spPr>
          <a:xfrm>
            <a:off x="9490492" y="641750"/>
            <a:ext cx="1302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나눔명조" panose="02020603020101020101" pitchFamily="18" charset="-127"/>
                <a:ea typeface="나눔명조" panose="02020603020101020101" pitchFamily="18" charset="-127"/>
              </a:rPr>
              <a:t>➌</a:t>
            </a:r>
            <a:r>
              <a:rPr lang="ko-KR" altLang="en-US" sz="800" b="0" i="0">
                <a:solidFill>
                  <a:srgbClr val="000000"/>
                </a:solidFill>
                <a:effectLst/>
                <a:latin typeface="Noto Sans" panose="020B0502040204020203" pitchFamily="34" charset="0"/>
              </a:rPr>
              <a:t> ❶❷❸❹❺❻❼❽❾❿⓫⓬⓭⓮⓯⓰⓱⓲⓳⓴</a:t>
            </a:r>
            <a:endParaRPr lang="en-US" altLang="ko-KR" sz="8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5E23D-C788-4A6C-8C14-110D2E1ED266}"/>
              </a:ext>
            </a:extLst>
          </p:cNvPr>
          <p:cNvSpPr txBox="1"/>
          <p:nvPr/>
        </p:nvSpPr>
        <p:spPr>
          <a:xfrm>
            <a:off x="8363269" y="4109754"/>
            <a:ext cx="21154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①②③④⑤⑥⑦⑧⑨⑩⑪⑫⑬⑭⑮⑯⑰⑱⑲⑳​㉑㉒㉓㉔㉕㉖㉗㉘㉙㉚㉛㉜㉝㉞㉟㊱㊲㊳㊴㊵​㊶㊷㊸㊹㊺㊻㊼㊽㊾㊿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8BB945-9143-45AD-8E35-F07038EB4046}"/>
              </a:ext>
            </a:extLst>
          </p:cNvPr>
          <p:cNvSpPr txBox="1"/>
          <p:nvPr/>
        </p:nvSpPr>
        <p:spPr>
          <a:xfrm>
            <a:off x="9090664" y="1294325"/>
            <a:ext cx="15476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0" i="0">
                <a:effectLst/>
                <a:latin typeface="Courier New" panose="02070309020205020404" pitchFamily="49" charset="0"/>
              </a:rPr>
              <a:t>⓿ ❶❷❸❹❺❻❼❽❾❿ ⓫⓬⓭⓮⓯⓰⓱⓲⓳⓴</a:t>
            </a:r>
            <a:endParaRPr lang="ko-KR" altLang="en-US" sz="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63B10-0E8F-4CF3-8789-03C68280DDEB}"/>
              </a:ext>
            </a:extLst>
          </p:cNvPr>
          <p:cNvSpPr txBox="1"/>
          <p:nvPr/>
        </p:nvSpPr>
        <p:spPr>
          <a:xfrm>
            <a:off x="8132360" y="1821540"/>
            <a:ext cx="3240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0" i="0">
                <a:solidFill>
                  <a:srgbClr val="2F5597"/>
                </a:solidFill>
                <a:effectLst/>
                <a:latin typeface="Noto Sans" panose="020B0502040504020204" pitchFamily="34" charset="0"/>
              </a:rPr>
              <a:t>❶❷❸❹❺❻❼❽❾❿⓫⓬⓭⓮⓯⓰⓱⓲⓳⓴</a:t>
            </a:r>
          </a:p>
          <a:p>
            <a:pPr algn="l"/>
            <a:r>
              <a:rPr lang="ko-KR" altLang="en-US" sz="900" b="0" i="0">
                <a:solidFill>
                  <a:srgbClr val="2F5597"/>
                </a:solidFill>
                <a:effectLst/>
                <a:latin typeface="Noto Sans" panose="020B0502040504020204" pitchFamily="34" charset="0"/>
              </a:rPr>
              <a:t>➊➋➌➍➎➏➐➑➒➓</a:t>
            </a:r>
          </a:p>
          <a:p>
            <a:br>
              <a:rPr lang="ko-KR" altLang="en-US" sz="900">
                <a:solidFill>
                  <a:srgbClr val="2F5597"/>
                </a:solidFill>
              </a:rPr>
            </a:br>
            <a:br>
              <a:rPr lang="ko-KR" altLang="en-US" sz="900">
                <a:solidFill>
                  <a:srgbClr val="2F5597"/>
                </a:solidFill>
              </a:rPr>
            </a:br>
            <a:endParaRPr lang="ko-KR" altLang="en-US" sz="900">
              <a:solidFill>
                <a:srgbClr val="2F5597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9B625A-3924-4F6B-9485-BC8DD607FC38}"/>
              </a:ext>
            </a:extLst>
          </p:cNvPr>
          <p:cNvSpPr txBox="1"/>
          <p:nvPr/>
        </p:nvSpPr>
        <p:spPr>
          <a:xfrm>
            <a:off x="8808355" y="3214421"/>
            <a:ext cx="27470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0" i="0">
                <a:solidFill>
                  <a:srgbClr val="2F5597"/>
                </a:solidFill>
                <a:effectLst/>
                <a:latin typeface="Noto Sans" panose="020B0502040504020204" pitchFamily="34" charset="0"/>
              </a:rPr>
              <a:t>➎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socket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과 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on_connect()</a:t>
            </a:r>
            <a:r>
              <a:rPr lang="ko-KR" altLang="en-US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함수를 호출합니다</a:t>
            </a: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4B5138-AF8D-48C8-9CEB-5EA3EBC7EE91}"/>
              </a:ext>
            </a:extLst>
          </p:cNvPr>
          <p:cNvSpPr txBox="1"/>
          <p:nvPr/>
        </p:nvSpPr>
        <p:spPr>
          <a:xfrm>
            <a:off x="1910925" y="1173627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on_connect(…)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ECC6C33A-CF27-4100-86EA-6D6CA6D97260}"/>
              </a:ext>
            </a:extLst>
          </p:cNvPr>
          <p:cNvCxnSpPr>
            <a:cxnSpLocks/>
          </p:cNvCxnSpPr>
          <p:nvPr/>
        </p:nvCxnSpPr>
        <p:spPr>
          <a:xfrm>
            <a:off x="1689434" y="1279601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1BDC958-4715-4DE5-9224-4972261345D8}"/>
              </a:ext>
            </a:extLst>
          </p:cNvPr>
          <p:cNvSpPr/>
          <p:nvPr/>
        </p:nvSpPr>
        <p:spPr>
          <a:xfrm>
            <a:off x="1689434" y="1264827"/>
            <a:ext cx="162411" cy="115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A3ECEB-497C-4711-BCF8-3DD73E0B23F3}"/>
              </a:ext>
            </a:extLst>
          </p:cNvPr>
          <p:cNvSpPr txBox="1"/>
          <p:nvPr/>
        </p:nvSpPr>
        <p:spPr>
          <a:xfrm>
            <a:off x="1184190" y="712142"/>
            <a:ext cx="241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➊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기본 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socket 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클래스</a:t>
            </a:r>
            <a:b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</a:b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   CGDK::net::socket::tcp&lt;T&gt;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5E0433-B8FD-4063-BB08-EA0FBF807CA3}"/>
              </a:ext>
            </a:extLst>
          </p:cNvPr>
          <p:cNvSpPr txBox="1"/>
          <p:nvPr/>
        </p:nvSpPr>
        <p:spPr>
          <a:xfrm>
            <a:off x="1910925" y="1592895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on_disconnect(…)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B96A5E84-5B8D-4B14-8B94-A6E4ECA88693}"/>
              </a:ext>
            </a:extLst>
          </p:cNvPr>
          <p:cNvCxnSpPr>
            <a:cxnSpLocks/>
          </p:cNvCxnSpPr>
          <p:nvPr/>
        </p:nvCxnSpPr>
        <p:spPr>
          <a:xfrm>
            <a:off x="1689434" y="1717751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7AC249C-8E7A-4058-8BB6-7DEB91E27A59}"/>
              </a:ext>
            </a:extLst>
          </p:cNvPr>
          <p:cNvSpPr txBox="1"/>
          <p:nvPr/>
        </p:nvSpPr>
        <p:spPr>
          <a:xfrm>
            <a:off x="1910925" y="1383261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on_fail_connect 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C1D33D23-980C-44A6-B4BB-60259FA50FB8}"/>
              </a:ext>
            </a:extLst>
          </p:cNvPr>
          <p:cNvCxnSpPr>
            <a:cxnSpLocks/>
          </p:cNvCxnSpPr>
          <p:nvPr/>
        </p:nvCxnSpPr>
        <p:spPr>
          <a:xfrm>
            <a:off x="1689434" y="1498676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E272B40-A450-4BB8-A3ED-7750BA6CEFBD}"/>
              </a:ext>
            </a:extLst>
          </p:cNvPr>
          <p:cNvSpPr txBox="1"/>
          <p:nvPr/>
        </p:nvSpPr>
        <p:spPr>
          <a:xfrm>
            <a:off x="1910925" y="1802529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on_message(…)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82EBA804-9F75-4AC5-9FA4-F9FA92ED35A2}"/>
              </a:ext>
            </a:extLst>
          </p:cNvPr>
          <p:cNvCxnSpPr>
            <a:cxnSpLocks/>
          </p:cNvCxnSpPr>
          <p:nvPr/>
        </p:nvCxnSpPr>
        <p:spPr>
          <a:xfrm>
            <a:off x="1689434" y="1917776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5076710-CB7D-49F8-9778-4F3385BA35B3}"/>
              </a:ext>
            </a:extLst>
          </p:cNvPr>
          <p:cNvSpPr txBox="1"/>
          <p:nvPr/>
        </p:nvSpPr>
        <p:spPr>
          <a:xfrm>
            <a:off x="3489640" y="1385826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실패했을 때 호출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5846AC-0AFC-497D-8BB8-A363A3EA0908}"/>
              </a:ext>
            </a:extLst>
          </p:cNvPr>
          <p:cNvSpPr txBox="1"/>
          <p:nvPr/>
        </p:nvSpPr>
        <p:spPr>
          <a:xfrm>
            <a:off x="3489640" y="1598025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종료되었을 때 호출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8B5A96-C952-436D-8461-3F9301B08BCA}"/>
              </a:ext>
            </a:extLst>
          </p:cNvPr>
          <p:cNvSpPr txBox="1"/>
          <p:nvPr/>
        </p:nvSpPr>
        <p:spPr>
          <a:xfrm>
            <a:off x="3489640" y="1810224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메시지 수신했을 때 호출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CD00362-49C5-479A-B2A7-0DFB311A3106}"/>
              </a:ext>
            </a:extLst>
          </p:cNvPr>
          <p:cNvSpPr/>
          <p:nvPr/>
        </p:nvSpPr>
        <p:spPr>
          <a:xfrm>
            <a:off x="1041944" y="3042550"/>
            <a:ext cx="651140" cy="550310"/>
          </a:xfrm>
          <a:prstGeom prst="roundRec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</a:rPr>
              <a:t>connect_requestable</a:t>
            </a:r>
            <a:endParaRPr lang="ko-KR" altLang="en-US" sz="80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B30E65-312E-421E-A978-E5869455244A}"/>
              </a:ext>
            </a:extLst>
          </p:cNvPr>
          <p:cNvSpPr txBox="1"/>
          <p:nvPr/>
        </p:nvSpPr>
        <p:spPr>
          <a:xfrm>
            <a:off x="1910925" y="2012163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disconnect(…)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0729A7-E6AB-4189-86BF-23717F30701D}"/>
              </a:ext>
            </a:extLst>
          </p:cNvPr>
          <p:cNvSpPr txBox="1"/>
          <p:nvPr/>
        </p:nvSpPr>
        <p:spPr>
          <a:xfrm>
            <a:off x="3489640" y="2022423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종료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 (graceful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close)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89136E-7519-44EF-97EA-D6F8F60876D3}"/>
              </a:ext>
            </a:extLst>
          </p:cNvPr>
          <p:cNvSpPr txBox="1"/>
          <p:nvPr/>
        </p:nvSpPr>
        <p:spPr>
          <a:xfrm>
            <a:off x="3489640" y="2234622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강제 종료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 (abortive close)</a:t>
            </a:r>
            <a:endParaRPr lang="ko-KR" altLang="en-US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2735EBB-3D97-4A78-966D-066E50F4196A}"/>
              </a:ext>
            </a:extLst>
          </p:cNvPr>
          <p:cNvCxnSpPr>
            <a:cxnSpLocks/>
          </p:cNvCxnSpPr>
          <p:nvPr/>
        </p:nvCxnSpPr>
        <p:spPr>
          <a:xfrm>
            <a:off x="1689434" y="2172426"/>
            <a:ext cx="192430" cy="0"/>
          </a:xfrm>
          <a:prstGeom prst="straightConnector1">
            <a:avLst/>
          </a:prstGeom>
          <a:ln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ECBA1AE-6A28-4C0E-9159-0A91FD8B321D}"/>
              </a:ext>
            </a:extLst>
          </p:cNvPr>
          <p:cNvSpPr txBox="1"/>
          <p:nvPr/>
        </p:nvSpPr>
        <p:spPr>
          <a:xfrm>
            <a:off x="1910925" y="2221797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closesocket(…)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0B0FB20-45CC-450E-84D9-2D7FE1FF6F90}"/>
              </a:ext>
            </a:extLst>
          </p:cNvPr>
          <p:cNvCxnSpPr>
            <a:cxnSpLocks/>
          </p:cNvCxnSpPr>
          <p:nvPr/>
        </p:nvCxnSpPr>
        <p:spPr>
          <a:xfrm>
            <a:off x="1689434" y="2372451"/>
            <a:ext cx="192430" cy="0"/>
          </a:xfrm>
          <a:prstGeom prst="straightConnector1">
            <a:avLst/>
          </a:prstGeom>
          <a:ln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95CA6BE-4009-4A33-BBA9-BEB2C441BD35}"/>
              </a:ext>
            </a:extLst>
          </p:cNvPr>
          <p:cNvSpPr txBox="1"/>
          <p:nvPr/>
        </p:nvSpPr>
        <p:spPr>
          <a:xfrm>
            <a:off x="3489640" y="2446821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데이터 전송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76E36E-D1C5-4E49-BDEE-0709AA2DEFDD}"/>
              </a:ext>
            </a:extLst>
          </p:cNvPr>
          <p:cNvSpPr txBox="1"/>
          <p:nvPr/>
        </p:nvSpPr>
        <p:spPr>
          <a:xfrm>
            <a:off x="1910925" y="2431432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send(…)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F464800-9E11-4964-AD06-597D549A3EDD}"/>
              </a:ext>
            </a:extLst>
          </p:cNvPr>
          <p:cNvCxnSpPr>
            <a:cxnSpLocks/>
          </p:cNvCxnSpPr>
          <p:nvPr/>
        </p:nvCxnSpPr>
        <p:spPr>
          <a:xfrm>
            <a:off x="1689434" y="2572476"/>
            <a:ext cx="192430" cy="0"/>
          </a:xfrm>
          <a:prstGeom prst="straightConnector1">
            <a:avLst/>
          </a:prstGeom>
          <a:ln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869354E-5594-450B-96FC-1D572D1FB07D}"/>
              </a:ext>
            </a:extLst>
          </p:cNvPr>
          <p:cNvSpPr txBox="1"/>
          <p:nvPr/>
        </p:nvSpPr>
        <p:spPr>
          <a:xfrm>
            <a:off x="3489640" y="3097677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요청할 때 호출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6AF583-A3D0-4BC1-851E-DFE8FCE69C4A}"/>
              </a:ext>
            </a:extLst>
          </p:cNvPr>
          <p:cNvSpPr txBox="1"/>
          <p:nvPr/>
        </p:nvSpPr>
        <p:spPr>
          <a:xfrm>
            <a:off x="1910925" y="3097677"/>
            <a:ext cx="16860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on_request_connect(…)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2DB39B3C-B51F-4B05-A1A6-BB93ADC92D37}"/>
              </a:ext>
            </a:extLst>
          </p:cNvPr>
          <p:cNvCxnSpPr>
            <a:cxnSpLocks/>
          </p:cNvCxnSpPr>
          <p:nvPr/>
        </p:nvCxnSpPr>
        <p:spPr>
          <a:xfrm>
            <a:off x="1689434" y="3203651"/>
            <a:ext cx="15886" cy="73214"/>
          </a:xfrm>
          <a:prstGeom prst="curvedConnector3">
            <a:avLst>
              <a:gd name="adj1" fmla="val 15390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C14D3EF-D593-4204-8C89-48C29DE4A091}"/>
              </a:ext>
            </a:extLst>
          </p:cNvPr>
          <p:cNvSpPr txBox="1"/>
          <p:nvPr/>
        </p:nvSpPr>
        <p:spPr>
          <a:xfrm>
            <a:off x="1910925" y="3298207"/>
            <a:ext cx="1472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request_connect(…)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EE3D8FA-5203-4E3B-8E02-89EB1871E3F0}"/>
              </a:ext>
            </a:extLst>
          </p:cNvPr>
          <p:cNvCxnSpPr>
            <a:cxnSpLocks/>
          </p:cNvCxnSpPr>
          <p:nvPr/>
        </p:nvCxnSpPr>
        <p:spPr>
          <a:xfrm>
            <a:off x="1689434" y="3439251"/>
            <a:ext cx="192430" cy="0"/>
          </a:xfrm>
          <a:prstGeom prst="straightConnector1">
            <a:avLst/>
          </a:prstGeom>
          <a:ln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D1D48A2-E0BC-4090-AB5D-BC4162476A10}"/>
              </a:ext>
            </a:extLst>
          </p:cNvPr>
          <p:cNvSpPr txBox="1"/>
          <p:nvPr/>
        </p:nvSpPr>
        <p:spPr>
          <a:xfrm>
            <a:off x="3489640" y="3323835"/>
            <a:ext cx="2235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접속 요청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FBBB45-ABF3-4035-B558-3FB5FDF67F48}"/>
              </a:ext>
            </a:extLst>
          </p:cNvPr>
          <p:cNvSpPr txBox="1"/>
          <p:nvPr/>
        </p:nvSpPr>
        <p:spPr>
          <a:xfrm>
            <a:off x="1216830" y="2709200"/>
            <a:ext cx="428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나눔명조" panose="02020603020101020101" pitchFamily="18" charset="-127"/>
              </a:rPr>
              <a:t>+</a:t>
            </a:r>
            <a:endParaRPr lang="ko-KR" altLang="en-US" b="1">
              <a:latin typeface="Arial Black" panose="020B0A040201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F5D1DD-4293-4787-8FB7-5F79BEF80178}"/>
              </a:ext>
            </a:extLst>
          </p:cNvPr>
          <p:cNvSpPr txBox="1"/>
          <p:nvPr/>
        </p:nvSpPr>
        <p:spPr>
          <a:xfrm>
            <a:off x="1268166" y="3659534"/>
            <a:ext cx="2735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➋</a:t>
            </a:r>
            <a:r>
              <a:rPr lang="en-US" altLang="ko-KR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ko-KR" altLang="en-US" sz="90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접속요청 기능 컴포넌트</a:t>
            </a:r>
            <a:br>
              <a:rPr lang="en-US" altLang="ko-KR" sz="1050" b="1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</a:br>
            <a:r>
              <a:rPr lang="en-US" altLang="ko-KR" sz="900">
                <a:solidFill>
                  <a:schemeClr val="accent1">
                    <a:lumMod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    (CGDK::net::io::connect_requestable::Ntcp)</a:t>
            </a:r>
            <a:endParaRPr lang="ko-KR" altLang="en-US" sz="900">
              <a:solidFill>
                <a:schemeClr val="accent1">
                  <a:lumMod val="7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31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072B21E-9198-41B6-966C-199F6D68A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90" y="641719"/>
            <a:ext cx="400828" cy="39534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1E89699-60BE-41F5-8061-623126987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35" y="553582"/>
            <a:ext cx="492352" cy="49066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D5253D9-C76F-415A-AFFA-D92951CBD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766" y="651256"/>
            <a:ext cx="402587" cy="40326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C5FE049-BB92-4E1A-80C2-E276E29257AF}"/>
              </a:ext>
            </a:extLst>
          </p:cNvPr>
          <p:cNvSpPr txBox="1"/>
          <p:nvPr/>
        </p:nvSpPr>
        <p:spPr>
          <a:xfrm>
            <a:off x="3771489" y="1074310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기술지원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2378C1-BBC6-4DDC-9B89-86E054C5037A}"/>
              </a:ext>
            </a:extLst>
          </p:cNvPr>
          <p:cNvSpPr txBox="1"/>
          <p:nvPr/>
        </p:nvSpPr>
        <p:spPr>
          <a:xfrm>
            <a:off x="2489193" y="1074310"/>
            <a:ext cx="8018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실시간 서버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B894D2-7CE3-4079-B6F8-D22D6A7D800F}"/>
              </a:ext>
            </a:extLst>
          </p:cNvPr>
          <p:cNvSpPr txBox="1"/>
          <p:nvPr/>
        </p:nvSpPr>
        <p:spPr>
          <a:xfrm>
            <a:off x="26120" y="1074310"/>
            <a:ext cx="8018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압도적 성능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99E2C0-8B5D-4CF5-8609-8C77406713D2}"/>
              </a:ext>
            </a:extLst>
          </p:cNvPr>
          <p:cNvSpPr txBox="1"/>
          <p:nvPr/>
        </p:nvSpPr>
        <p:spPr>
          <a:xfrm>
            <a:off x="3191902" y="107431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빠른 개발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4612EED-CB15-44B5-94FF-4EBBD094D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315" y="580429"/>
            <a:ext cx="477418" cy="52993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7EF40E06-B69A-4D66-8721-F719E7A4D0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302" y="546948"/>
            <a:ext cx="528207" cy="50393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E535BEE-960C-4F23-B2B8-FB5CEF5925A1}"/>
              </a:ext>
            </a:extLst>
          </p:cNvPr>
          <p:cNvSpPr txBox="1"/>
          <p:nvPr/>
        </p:nvSpPr>
        <p:spPr>
          <a:xfrm>
            <a:off x="755985" y="1074310"/>
            <a:ext cx="918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압도적 안정성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524A9E2C-CED4-4620-86D5-CA1DF719D5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92994" y="632710"/>
            <a:ext cx="364941" cy="42636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116D07E-967C-4111-BAD8-03921B4600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791" y="592525"/>
            <a:ext cx="472440" cy="49497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9E4E819-7ACE-48EA-AE9A-FA56D94D5148}"/>
              </a:ext>
            </a:extLst>
          </p:cNvPr>
          <p:cNvSpPr txBox="1"/>
          <p:nvPr/>
        </p:nvSpPr>
        <p:spPr>
          <a:xfrm>
            <a:off x="1546218" y="1074310"/>
            <a:ext cx="10679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다양한 외부 연결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89A588-9F23-401C-81C6-25DBCFCB5355}"/>
              </a:ext>
            </a:extLst>
          </p:cNvPr>
          <p:cNvSpPr txBox="1"/>
          <p:nvPr/>
        </p:nvSpPr>
        <p:spPr>
          <a:xfrm>
            <a:off x="4371855" y="1074310"/>
            <a:ext cx="8018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스케일 아웃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577B65A-0B45-4096-9CF1-AAC57B9A81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519" y="683965"/>
            <a:ext cx="400050" cy="40005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04F65912-AD9A-4D5E-99BB-A4BAE2A332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231" y="604334"/>
            <a:ext cx="559313" cy="55931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425DF75-7556-4363-9CA4-E7F4A94D5E80}"/>
              </a:ext>
            </a:extLst>
          </p:cNvPr>
          <p:cNvSpPr txBox="1"/>
          <p:nvPr/>
        </p:nvSpPr>
        <p:spPr>
          <a:xfrm>
            <a:off x="5094108" y="1074310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다양한 서버 플랫폼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067487AE-D135-4248-9CB4-EB55141244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868" y="714212"/>
            <a:ext cx="422099" cy="33908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0ABF62EE-C609-4231-9742-B869F01063E0}"/>
              </a:ext>
            </a:extLst>
          </p:cNvPr>
          <p:cNvSpPr txBox="1"/>
          <p:nvPr/>
        </p:nvSpPr>
        <p:spPr>
          <a:xfrm>
            <a:off x="7500383" y="1074310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튜터리얼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4F7EC752-D1A5-4B96-A9EA-070C596386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718" y="666496"/>
            <a:ext cx="400680" cy="40734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8402553-5A80-48AA-90EE-2DAD677708D2}"/>
              </a:ext>
            </a:extLst>
          </p:cNvPr>
          <p:cNvSpPr txBox="1"/>
          <p:nvPr/>
        </p:nvSpPr>
        <p:spPr>
          <a:xfrm>
            <a:off x="8142224" y="1074310"/>
            <a:ext cx="10679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실시간 서버 정보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E26CEEF8-5606-467E-A6AF-B903FF5739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927" y="670452"/>
            <a:ext cx="400680" cy="40427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469CD9A-3D65-4AC3-BF34-BAA692FC9E28}"/>
              </a:ext>
            </a:extLst>
          </p:cNvPr>
          <p:cNvSpPr txBox="1"/>
          <p:nvPr/>
        </p:nvSpPr>
        <p:spPr>
          <a:xfrm>
            <a:off x="9141188" y="107431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 지원</a:t>
            </a: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4989C318-BD10-47CA-B83D-BC3159E385B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5551" y="721274"/>
            <a:ext cx="286905" cy="294953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57E0A6CE-A091-4337-BF77-0B406BC71A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6561" y="695059"/>
            <a:ext cx="356290" cy="34738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7BC3D45F-AF38-4358-BBA7-442DD7B61AB1}"/>
              </a:ext>
            </a:extLst>
          </p:cNvPr>
          <p:cNvSpPr txBox="1"/>
          <p:nvPr/>
        </p:nvSpPr>
        <p:spPr>
          <a:xfrm>
            <a:off x="6183362" y="1074310"/>
            <a:ext cx="1418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다양한 클라이언트 지원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570B5726-D461-4A67-ACC0-7D4903A67E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353" y="679027"/>
            <a:ext cx="419511" cy="419511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0EAB22C5-C1CE-4191-B3B7-058EB31F411B}"/>
              </a:ext>
            </a:extLst>
          </p:cNvPr>
          <p:cNvSpPr txBox="1"/>
          <p:nvPr/>
        </p:nvSpPr>
        <p:spPr>
          <a:xfrm>
            <a:off x="9833246" y="1074310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웹서버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C02F20A4-C0C7-4A3B-B890-023E31F6616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9504" y="666496"/>
            <a:ext cx="370876" cy="36845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7F2544D-0828-4361-B02D-B2DC4B3C95A6}"/>
              </a:ext>
            </a:extLst>
          </p:cNvPr>
          <p:cNvSpPr txBox="1"/>
          <p:nvPr/>
        </p:nvSpPr>
        <p:spPr>
          <a:xfrm>
            <a:off x="10331525" y="1074310"/>
            <a:ext cx="918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어드민 시스템</a:t>
            </a: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802C3CBD-A386-4014-B2E6-883A6D0A0E8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674" y="705274"/>
            <a:ext cx="370876" cy="316416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D2DDC2A-BE70-4A21-93D3-C2079BAE9DF5}"/>
              </a:ext>
            </a:extLst>
          </p:cNvPr>
          <p:cNvSpPr txBox="1"/>
          <p:nvPr/>
        </p:nvSpPr>
        <p:spPr>
          <a:xfrm>
            <a:off x="11219651" y="1074310"/>
            <a:ext cx="8018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검증된 엔진</a:t>
            </a:r>
          </a:p>
        </p:txBody>
      </p:sp>
    </p:spTree>
    <p:extLst>
      <p:ext uri="{BB962C8B-B14F-4D97-AF65-F5344CB8AC3E}">
        <p14:creationId xmlns:p14="http://schemas.microsoft.com/office/powerpoint/2010/main" val="567918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1A14085-AB39-46EF-99A6-2ABF3D98E427}"/>
              </a:ext>
            </a:extLst>
          </p:cNvPr>
          <p:cNvSpPr/>
          <p:nvPr/>
        </p:nvSpPr>
        <p:spPr>
          <a:xfrm>
            <a:off x="5429250" y="3149687"/>
            <a:ext cx="1589167" cy="2433551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>
            <a:solidFill>
              <a:schemeClr val="accent1">
                <a:shade val="50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C7558BE-1BCA-473C-A8E0-96A971358383}"/>
              </a:ext>
            </a:extLst>
          </p:cNvPr>
          <p:cNvSpPr txBox="1"/>
          <p:nvPr/>
        </p:nvSpPr>
        <p:spPr>
          <a:xfrm>
            <a:off x="1438371" y="926676"/>
            <a:ext cx="3835615" cy="8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NATIVEE API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특정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OS/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플랫폼 전용 함수들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(api) 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플랫폼 고유 기능을 사용하여 </a:t>
            </a:r>
            <a:r>
              <a:rPr lang="ko-KR" altLang="en-US" sz="900" b="1">
                <a:latin typeface="나눔명조" panose="02020603020101020101" pitchFamily="18" charset="-127"/>
                <a:ea typeface="나눔명조" panose="02020603020101020101" pitchFamily="18" charset="-127"/>
              </a:rPr>
              <a:t>최적화된 구현이 가능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하지만 플래폼마다 다른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에 맞춰 직접 구현해야하는 어려움이 있음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B32FAE8D-746F-49F4-9B6D-83651B267C2B}"/>
              </a:ext>
            </a:extLst>
          </p:cNvPr>
          <p:cNvSpPr/>
          <p:nvPr/>
        </p:nvSpPr>
        <p:spPr>
          <a:xfrm>
            <a:off x="5587362" y="1197410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socket api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52400C94-E2B0-46A2-8BF0-DB8BD42FBFD7}"/>
              </a:ext>
            </a:extLst>
          </p:cNvPr>
          <p:cNvSpPr/>
          <p:nvPr/>
        </p:nvSpPr>
        <p:spPr>
          <a:xfrm>
            <a:off x="5593983" y="2014271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boost:asio</a:t>
            </a:r>
            <a:endParaRPr lang="ko-KR" altLang="en-US" sz="800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FE2BA66-EF1B-40D7-8F56-458F3E009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552" y="5078416"/>
            <a:ext cx="415031" cy="875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2AE6839-8A89-44B6-89AD-8B3B566E0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089" y="4978308"/>
            <a:ext cx="473776" cy="236888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01A6E4E9-34C4-4106-9415-E063C2662F07}"/>
              </a:ext>
            </a:extLst>
          </p:cNvPr>
          <p:cNvSpPr txBox="1"/>
          <p:nvPr/>
        </p:nvSpPr>
        <p:spPr>
          <a:xfrm>
            <a:off x="1438371" y="1719475"/>
            <a:ext cx="2979862" cy="8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STANDARD API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저수준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socket api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를 표준화한 레벨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서버 플랫폼에 관계없이 동일한 구현 가능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최적화는 일부 희생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CFFCF65-3FF8-4024-B65B-5431C5FAED1D}"/>
              </a:ext>
            </a:extLst>
          </p:cNvPr>
          <p:cNvSpPr txBox="1"/>
          <p:nvPr/>
        </p:nvSpPr>
        <p:spPr>
          <a:xfrm>
            <a:off x="1438371" y="3133400"/>
            <a:ext cx="2979862" cy="63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ENGINE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핵심 기능을 구현해 놓은 모듈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자동차의 엔진과 같은 개념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D478108-42FB-4F5D-AA2B-DB52AEC049B8}"/>
              </a:ext>
            </a:extLst>
          </p:cNvPr>
          <p:cNvSpPr txBox="1"/>
          <p:nvPr/>
        </p:nvSpPr>
        <p:spPr>
          <a:xfrm>
            <a:off x="1475413" y="5818054"/>
            <a:ext cx="2979862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SERVICE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실제 서비스되는 서버를 구현하는 레벨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A07B11A8-2F7F-44A4-BBBB-ED8FFC6DB20F}"/>
              </a:ext>
            </a:extLst>
          </p:cNvPr>
          <p:cNvSpPr/>
          <p:nvPr/>
        </p:nvSpPr>
        <p:spPr>
          <a:xfrm>
            <a:off x="6606106" y="2012649"/>
            <a:ext cx="1088931" cy="230466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C++ Network.TS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52AF0302-E7AA-41F2-BA60-7FCE46C247FB}"/>
              </a:ext>
            </a:extLst>
          </p:cNvPr>
          <p:cNvSpPr/>
          <p:nvPr/>
        </p:nvSpPr>
        <p:spPr>
          <a:xfrm>
            <a:off x="7545305" y="5873321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Web Service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8A071230-7B6F-48C2-A52D-7BDC972E388F}"/>
              </a:ext>
            </a:extLst>
          </p:cNvPr>
          <p:cNvSpPr/>
          <p:nvPr/>
        </p:nvSpPr>
        <p:spPr>
          <a:xfrm>
            <a:off x="5543308" y="5892370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Game server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78EFA9CD-7708-4687-BFC7-E9414F78854A}"/>
              </a:ext>
            </a:extLst>
          </p:cNvPr>
          <p:cNvSpPr/>
          <p:nvPr/>
        </p:nvSpPr>
        <p:spPr>
          <a:xfrm>
            <a:off x="6548352" y="5883614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Game server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4C820F8-254E-48FA-8A5D-4C3725595DCD}"/>
              </a:ext>
            </a:extLst>
          </p:cNvPr>
          <p:cNvCxnSpPr>
            <a:cxnSpLocks/>
          </p:cNvCxnSpPr>
          <p:nvPr/>
        </p:nvCxnSpPr>
        <p:spPr>
          <a:xfrm>
            <a:off x="1310307" y="3044135"/>
            <a:ext cx="762056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8181F4EF-D189-4E6C-ABBF-E88E49AD4415}"/>
              </a:ext>
            </a:extLst>
          </p:cNvPr>
          <p:cNvCxnSpPr>
            <a:cxnSpLocks/>
          </p:cNvCxnSpPr>
          <p:nvPr/>
        </p:nvCxnSpPr>
        <p:spPr>
          <a:xfrm flipH="1" flipV="1">
            <a:off x="1310307" y="1729366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232CD8-EFBC-433C-8B32-7B55041A99BA}"/>
              </a:ext>
            </a:extLst>
          </p:cNvPr>
          <p:cNvSpPr/>
          <p:nvPr/>
        </p:nvSpPr>
        <p:spPr>
          <a:xfrm>
            <a:off x="7872233" y="4875168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EB8B63-9958-4D53-8F44-58DE3307AC12}"/>
              </a:ext>
            </a:extLst>
          </p:cNvPr>
          <p:cNvSpPr txBox="1"/>
          <p:nvPr/>
        </p:nvSpPr>
        <p:spPr>
          <a:xfrm>
            <a:off x="1438371" y="4627392"/>
            <a:ext cx="2979862" cy="995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SOLUTION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특정 서비스에 특화해 필요한 기능들을 통합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/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구현해 간단한 구현만으로 서비스를 구성할 수 있도록 한 것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대상 서비스가 구체적으고 특화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주식거래 시스템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웹솔루션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채팅 시스템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3F2ED31-9498-43B7-97B4-339E949A31B1}"/>
              </a:ext>
            </a:extLst>
          </p:cNvPr>
          <p:cNvCxnSpPr>
            <a:cxnSpLocks/>
          </p:cNvCxnSpPr>
          <p:nvPr/>
        </p:nvCxnSpPr>
        <p:spPr>
          <a:xfrm>
            <a:off x="1310307" y="5728280"/>
            <a:ext cx="762056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6EDB5BB-09C4-4437-BB8C-7D1968287A12}"/>
              </a:ext>
            </a:extLst>
          </p:cNvPr>
          <p:cNvSpPr/>
          <p:nvPr/>
        </p:nvSpPr>
        <p:spPr>
          <a:xfrm>
            <a:off x="7677869" y="1874157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478A8AF-7A1B-41F5-BA7E-C4ECCCB0DC7E}"/>
              </a:ext>
            </a:extLst>
          </p:cNvPr>
          <p:cNvSpPr/>
          <p:nvPr/>
        </p:nvSpPr>
        <p:spPr>
          <a:xfrm>
            <a:off x="8587140" y="5556289"/>
            <a:ext cx="666333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paas</a:t>
            </a:r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162C5F1-8A56-47B5-8AC0-C540F21778E8}"/>
              </a:ext>
            </a:extLst>
          </p:cNvPr>
          <p:cNvCxnSpPr>
            <a:cxnSpLocks/>
          </p:cNvCxnSpPr>
          <p:nvPr/>
        </p:nvCxnSpPr>
        <p:spPr>
          <a:xfrm flipH="1" flipV="1">
            <a:off x="1310307" y="4597652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983A5E3-9EA3-487A-8FDB-B2AEC7478B4C}"/>
              </a:ext>
            </a:extLst>
          </p:cNvPr>
          <p:cNvCxnSpPr>
            <a:cxnSpLocks/>
          </p:cNvCxnSpPr>
          <p:nvPr/>
        </p:nvCxnSpPr>
        <p:spPr>
          <a:xfrm flipH="1" flipV="1">
            <a:off x="1310307" y="3892802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7D19AD2-94CD-46C1-98BA-B9FE92FAF2AE}"/>
              </a:ext>
            </a:extLst>
          </p:cNvPr>
          <p:cNvSpPr txBox="1"/>
          <p:nvPr/>
        </p:nvSpPr>
        <p:spPr>
          <a:xfrm>
            <a:off x="1438371" y="3896502"/>
            <a:ext cx="2979862" cy="63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FRAMEWORK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구조까지 제공해 일부만 제정의 혹은 설정하여 서비스 제작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DE5F3-6837-4A5A-B395-B2A5046AA830}"/>
              </a:ext>
            </a:extLst>
          </p:cNvPr>
          <p:cNvSpPr txBox="1"/>
          <p:nvPr/>
        </p:nvSpPr>
        <p:spPr>
          <a:xfrm>
            <a:off x="5436110" y="3134163"/>
            <a:ext cx="90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CGC.II.</a:t>
            </a:r>
            <a:endParaRPr lang="ko-KR" altLang="en-US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6C5280-0704-45A0-BF15-B99D6459AC2B}"/>
              </a:ext>
            </a:extLst>
          </p:cNvPr>
          <p:cNvSpPr txBox="1"/>
          <p:nvPr/>
        </p:nvSpPr>
        <p:spPr>
          <a:xfrm>
            <a:off x="1438371" y="2542850"/>
            <a:ext cx="2979862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Library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여러 함수들을 단순히 모아 놓은 것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2239117-D09C-4B0C-81E4-D27BD8CB96E3}"/>
              </a:ext>
            </a:extLst>
          </p:cNvPr>
          <p:cNvCxnSpPr>
            <a:cxnSpLocks/>
          </p:cNvCxnSpPr>
          <p:nvPr/>
        </p:nvCxnSpPr>
        <p:spPr>
          <a:xfrm flipH="1" flipV="1">
            <a:off x="1310307" y="2549777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A77F65B-24DA-4EDA-ABB8-680D77A0EBEA}"/>
              </a:ext>
            </a:extLst>
          </p:cNvPr>
          <p:cNvSpPr/>
          <p:nvPr/>
        </p:nvSpPr>
        <p:spPr>
          <a:xfrm>
            <a:off x="6662323" y="1197410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winsock api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7DEA77-4575-4072-BAC1-0FFEE4B53F3B}"/>
              </a:ext>
            </a:extLst>
          </p:cNvPr>
          <p:cNvSpPr/>
          <p:nvPr/>
        </p:nvSpPr>
        <p:spPr>
          <a:xfrm>
            <a:off x="5502866" y="3448050"/>
            <a:ext cx="1058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CGDK.system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CGDK.net.socket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CGDK.server.log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64C7BDB-67E5-4E90-8711-3CE84FFE4DC0}"/>
              </a:ext>
            </a:extLst>
          </p:cNvPr>
          <p:cNvSpPr/>
          <p:nvPr/>
        </p:nvSpPr>
        <p:spPr>
          <a:xfrm>
            <a:off x="5502866" y="3965076"/>
            <a:ext cx="1197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CGDK.net.p2p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CGDK.server.group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CGDK.server.service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CF28BB4-27B7-4333-A11B-3377EB577B0D}"/>
              </a:ext>
            </a:extLst>
          </p:cNvPr>
          <p:cNvSpPr/>
          <p:nvPr/>
        </p:nvSpPr>
        <p:spPr>
          <a:xfrm>
            <a:off x="5502866" y="4682937"/>
            <a:ext cx="1377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CGDK.server.doss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CGDK.server.time_event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CGDK.server.admin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336D155-96C3-4939-82C1-52A574089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129" y="2732031"/>
            <a:ext cx="502225" cy="1136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277A15-4A67-4FFC-9AAA-92DAFB716B3E}"/>
              </a:ext>
            </a:extLst>
          </p:cNvPr>
          <p:cNvSpPr txBox="1"/>
          <p:nvPr/>
        </p:nvSpPr>
        <p:spPr>
          <a:xfrm>
            <a:off x="5703016" y="2615923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zlib</a:t>
            </a:r>
            <a:endParaRPr lang="ko-KR" altLang="en-US" sz="14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9D4ED57-046A-40C8-ACD1-F722BE590FB4}"/>
              </a:ext>
            </a:extLst>
          </p:cNvPr>
          <p:cNvSpPr/>
          <p:nvPr/>
        </p:nvSpPr>
        <p:spPr>
          <a:xfrm>
            <a:off x="6862802" y="251449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75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9C073-3CDB-4A83-A15C-CFF01F8A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703A7-EF3A-4BEE-866D-7AF9D3B96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0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11604</TotalTime>
  <Words>855</Words>
  <Application>Microsoft Office PowerPoint</Application>
  <PresentationFormat>와이드스크린</PresentationFormat>
  <Paragraphs>239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HY신명조</vt:lpstr>
      <vt:lpstr>나눔명조</vt:lpstr>
      <vt:lpstr>나눔명조 ExtraBold</vt:lpstr>
      <vt:lpstr>나눔스퀘어 ExtraBold</vt:lpstr>
      <vt:lpstr>맑은 고딕</vt:lpstr>
      <vt:lpstr>Arial</vt:lpstr>
      <vt:lpstr>Arial Black</vt:lpstr>
      <vt:lpstr>Courier New</vt:lpstr>
      <vt:lpstr>Noto Sans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 상현</dc:creator>
  <cp:lastModifiedBy>조 상현</cp:lastModifiedBy>
  <cp:revision>223</cp:revision>
  <dcterms:created xsi:type="dcterms:W3CDTF">2021-05-28T09:45:52Z</dcterms:created>
  <dcterms:modified xsi:type="dcterms:W3CDTF">2021-12-21T13:03:51Z</dcterms:modified>
</cp:coreProperties>
</file>